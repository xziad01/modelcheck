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b5c3b9101b434f" /><Relationship Type="http://schemas.openxmlformats.org/officeDocument/2006/relationships/extended-properties" Target="/docProps/app.xml" Id="Re91b21dd5a9946e4" /><Relationship Type="http://schemas.openxmlformats.org/officeDocument/2006/relationships/officeDocument" Target="/ppt/presentation.xml" Id="R19aa4630b2c54e57" /></Relationships>
</file>

<file path=ppt/presentation.xml><?xml version="1.0" encoding="utf-8"?>
<p:presentation xmlns:p="http://schemas.openxmlformats.org/presentationml/2006/main">
  <p:sldMasterIdLst>
    <p:sldMasterId xmlns:r="http://schemas.openxmlformats.org/officeDocument/2006/relationships" id="2147483648" r:id="Rd69dcd68864043ed"/>
  </p:sldMasterIdLst>
  <p:notesMasterIdLst>
    <p:notesMasterId xmlns:r="http://schemas.openxmlformats.org/officeDocument/2006/relationships" r:id="Rebb0250554af4e7c"/>
  </p:notesMasterIdLst>
  <p:sldIdLst>
    <p:sldId xmlns:r="http://schemas.openxmlformats.org/officeDocument/2006/relationships" id="256" r:id="R21434e7db8774d6a"/>
    <p:sldId xmlns:r="http://schemas.openxmlformats.org/officeDocument/2006/relationships" id="257" r:id="R2d7575e5e3784c92"/>
    <p:sldId xmlns:r="http://schemas.openxmlformats.org/officeDocument/2006/relationships" id="258" r:id="Ref84d8c4d394428b"/>
    <p:sldId xmlns:r="http://schemas.openxmlformats.org/officeDocument/2006/relationships" id="259" r:id="R3c7d2a73cff14538"/>
    <p:sldId xmlns:r="http://schemas.openxmlformats.org/officeDocument/2006/relationships" id="260" r:id="R4b520b4317464359"/>
    <p:sldId xmlns:r="http://schemas.openxmlformats.org/officeDocument/2006/relationships" id="261" r:id="Rde3540d602ad42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82d8fbf1ba40f1" /><Relationship Type="http://schemas.openxmlformats.org/officeDocument/2006/relationships/slideMaster" Target="/ppt/slideMasters/slideMaster1.xml" Id="Rd69dcd68864043ed" /><Relationship Type="http://schemas.openxmlformats.org/officeDocument/2006/relationships/notesMaster" Target="/ppt/notesMasters/notesMaster1.xml" Id="Rebb0250554af4e7c" /><Relationship Type="http://schemas.openxmlformats.org/officeDocument/2006/relationships/presProps" Target="/ppt/presProps.xml" Id="R85a6be93f0894bd6" /><Relationship Type="http://schemas.openxmlformats.org/officeDocument/2006/relationships/tableStyles" Target="/ppt/tableStyles.xml" Id="R9f34c7cd6fab403e" /><Relationship Type="http://schemas.openxmlformats.org/officeDocument/2006/relationships/slide" Target="/ppt/slides/slide1.xml" Id="R21434e7db8774d6a" /><Relationship Type="http://schemas.openxmlformats.org/officeDocument/2006/relationships/slide" Target="/ppt/slides/slide2.xml" Id="R2d7575e5e3784c92" /><Relationship Type="http://schemas.openxmlformats.org/officeDocument/2006/relationships/slide" Target="/ppt/slides/slide3.xml" Id="Ref84d8c4d394428b" /><Relationship Type="http://schemas.openxmlformats.org/officeDocument/2006/relationships/slide" Target="/ppt/slides/slide4.xml" Id="R3c7d2a73cff14538" /><Relationship Type="http://schemas.openxmlformats.org/officeDocument/2006/relationships/slide" Target="/ppt/slides/slide5.xml" Id="R4b520b4317464359" /><Relationship Type="http://schemas.openxmlformats.org/officeDocument/2006/relationships/slide" Target="/ppt/slides/slide6.xml" Id="Rde3540d602ad42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d9f852391646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b899feb77c436f" /><Relationship Type="http://schemas.openxmlformats.org/officeDocument/2006/relationships/notesMaster" Target="/ppt/notesMasters/notesMaster1.xml" Id="R11d142ccb3a04c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6c868248594fba" /><Relationship Type="http://schemas.openxmlformats.org/officeDocument/2006/relationships/notesMaster" Target="/ppt/notesMasters/notesMaster1.xml" Id="R3165f229644941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40637d02804ec3" /><Relationship Type="http://schemas.openxmlformats.org/officeDocument/2006/relationships/notesMaster" Target="/ppt/notesMasters/notesMaster1.xml" Id="R71a12ffc29334e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ccbeec22fb46b4" /><Relationship Type="http://schemas.openxmlformats.org/officeDocument/2006/relationships/notesMaster" Target="/ppt/notesMasters/notesMaster1.xml" Id="Rc744ebdbf9dd4b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9631c10d9f4797" /><Relationship Type="http://schemas.openxmlformats.org/officeDocument/2006/relationships/notesMaster" Target="/ppt/notesMasters/notesMaster1.xml" Id="Rb75cd40a7c5e40a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eb4d4af8ba4947" /><Relationship Type="http://schemas.openxmlformats.org/officeDocument/2006/relationships/notesMaster" Target="/ppt/notesMasters/notesMaster1.xml" Id="R85554915a2dc4b2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ModelCheck reviews classification experiment exports for aggregate and source-specific errors, coverage and provenance. Sources: README.md; SDAIA capstone requirements at https://github.com/SDAIAAcademy/agentic-ai/tree/main/labs/capstone.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synthetic fixture contains 40 test examples. Baseline counts: tn 18, fp 2, fn 2, tp 18. Candidate counts: tn 19, fp 1, fn 5, tp 15. The demo supports sample inspection, recorded or live review and an approved validation-only follow-up specification. Source: samples.py and data.py. Differences are descriptive; the fixture provides no causal or statistical-significance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requests pass through the local FastAPI session boundary. Four read tools use stdio MCP. SQLite stores evidence and pending actions; the approval handler controls the exact file save. Live inference sends questions and bounded tool results to OpenRouter. Sources: app.py, bridge.py, mcp_server.py and 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V2 reads the packaged protocol before inference, records its version and SHA-256 as a host event and retains it in system context during compaction. The preload counts toward the 16-execution budget. The original v1 reviewer remains unchanged for resumption of its pending tasks. Request, token, time and approval controls remain in place. Sources: agent.py, legacy_v1.py, evaluation.py and tests/test_completion.py.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V1 has 18 tasks and 36 scheduled A/B reviews, with 12 executed and 24 pending. A passed 6/6 and B passed 5/6. B returned the correct accuracy delta but omitted compare_runs. Original traces and source are preserved in the initial snapshot. New runtime fingerprints are recovered metadata for those historical executions. V2 has no live evaluation results and cannot consume evaluation quota until v1 finishes. The latest allowance check reported zero requests remaining, so resumption sent no inference requests. The reserve policy requires at least 13 requests before an evaluation review starts: eight maximum plus five for the demo. A captioned browser recording in submission/demo demonstrates the original v1 replay and a fresh manual approval workflow. Sources: submission/summary.json, submission/COVERAGE.md, submission/evaluations/v1/initial and submission/evaluations/v2.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v1 injection demonstration used two model requests and inspect_manifest, then completed without an action or file. V2 has controlled-provider protocol and execution tests, plus the unchanged application approval guards. Controlled tests are separate from live evaluations. The 56-test suite covers checksums, resumption, interrupted progress writes, version isolation, protocol failure and approval controls. Screen-reader speech remains unverified. Sources: submission/security/live-attack.json, submission/SECURITY.md, tests/test_completion.py and submission/REPRODUCIBILITY.json.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663f34f46ec4c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6985772cb3641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f0da9859bae4b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5670b7e6ab3437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4fc110d8bf446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c01192534274d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AF05B3-FD25-43CA-9487-7D7D4740C7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4A1F26-03ED-431C-8E39-3540CB5F548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A0B0784-4245-4264-8BFE-944FED781C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2B8807-C4CA-4D85-AD67-2546F59D91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550346C-8B6C-4ED6-AF3F-3B137F90D16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B116AC6-E19A-4D91-99F5-2FB3D6F67A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3DF8A5-7E22-4D30-92E9-AC8950F5D3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CCE6DE1-A56D-4A25-80F7-627B5E67D3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2144FF-B775-43F6-BA1B-4FFB4BDD8A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445C89-D363-4D20-A433-D5F9994C5E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3dd81a2c714850" /><Relationship Type="http://schemas.openxmlformats.org/officeDocument/2006/relationships/slideLayout" Target="/ppt/slideLayouts/slideLayout1.xml" Id="R409455274ade4fc0" /><Relationship Type="http://schemas.openxmlformats.org/officeDocument/2006/relationships/slideLayout" Target="/ppt/slideLayouts/slideLayout2.xml" Id="Raba63174104f4e17" /><Relationship Type="http://schemas.openxmlformats.org/officeDocument/2006/relationships/slideLayout" Target="/ppt/slideLayouts/slideLayout3.xml" Id="R6600c6dd15d44895" /><Relationship Type="http://schemas.openxmlformats.org/officeDocument/2006/relationships/slideLayout" Target="/ppt/slideLayouts/slideLayout4.xml" Id="R54f11945edc04844" /><Relationship Type="http://schemas.openxmlformats.org/officeDocument/2006/relationships/slideLayout" Target="/ppt/slideLayouts/slideLayout5.xml" Id="R9f752371489741fe" /><Relationship Type="http://schemas.openxmlformats.org/officeDocument/2006/relationships/slideLayout" Target="/ppt/slideLayouts/slideLayout6.xml" Id="Rd74df71dc72d40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9455274ade4fc0"/>
    <p:sldLayoutId xmlns:r="http://schemas.openxmlformats.org/officeDocument/2006/relationships" id="2147483650" r:id="Raba63174104f4e17"/>
    <p:sldLayoutId xmlns:r="http://schemas.openxmlformats.org/officeDocument/2006/relationships" id="2147483651" r:id="R6600c6dd15d44895"/>
    <p:sldLayoutId xmlns:r="http://schemas.openxmlformats.org/officeDocument/2006/relationships" id="2147483652" r:id="R54f11945edc04844"/>
    <p:sldLayoutId xmlns:r="http://schemas.openxmlformats.org/officeDocument/2006/relationships" id="2147483653" r:id="R9f752371489741fe"/>
    <p:sldLayoutId xmlns:r="http://schemas.openxmlformats.org/officeDocument/2006/relationships" id="2147483654" r:id="Rd74df71dc72d40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88c6019900a4b31" /><Relationship Type="http://schemas.openxmlformats.org/officeDocument/2006/relationships/notesSlide" Target="/ppt/notesSlides/notesSlide1.xml" Id="R9657f42762b14d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7f198eab2dd46d3" /><Relationship Type="http://schemas.openxmlformats.org/officeDocument/2006/relationships/notesSlide" Target="/ppt/notesSlides/notesSlide2.xml" Id="Ra322155e6ef044c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e5d1db9aeac40f6" /><Relationship Type="http://schemas.openxmlformats.org/officeDocument/2006/relationships/notesSlide" Target="/ppt/notesSlides/notesSlide3.xml" Id="Rfda0354d15ed46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fdab80ba7174892" /><Relationship Type="http://schemas.openxmlformats.org/officeDocument/2006/relationships/notesSlide" Target="/ppt/notesSlides/notesSlide4.xml" Id="R791579581a9a47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1eeb8ba7e6f4c98" /><Relationship Type="http://schemas.openxmlformats.org/officeDocument/2006/relationships/notesSlide" Target="/ppt/notesSlides/notesSlide5.xml" Id="Ra20f5651eadc48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6a55c6efc34858" /><Relationship Type="http://schemas.openxmlformats.org/officeDocument/2006/relationships/notesSlide" Target="/ppt/notesSlides/notesSlide6.xml" Id="R1a2087c7b57a4762" /></Relationships>
</file>

<file path=ppt/slides/slide1.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2BC544D-88D0-400D-B236-66C815D36531}"/>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buNone/>
              <a:defRPr sz="1125" b="1">
                <a:solidFill>
                  <a:srgbClr val="146B5F"/>
                </a:solidFill>
                <a:latin typeface="Helvetica Neue"/>
                <a:ea typeface="Helvetica Neue"/>
                <a:cs typeface="Helvetica Neue"/>
              </a:defRPr>
            </a:lvl1pPr>
            <a:lvl2pPr>
              <a:buNone/>
              <a:defRPr sz="1125" b="1">
                <a:solidFill>
                  <a:srgbClr val="146B5F"/>
                </a:solidFill>
                <a:latin typeface="Helvetica Neue"/>
                <a:ea typeface="Helvetica Neue"/>
                <a:cs typeface="Helvetica Neue"/>
              </a:defRPr>
            </a:lvl2pPr>
            <a:lvl3pPr>
              <a:buNone/>
              <a:defRPr sz="1125" b="1">
                <a:solidFill>
                  <a:srgbClr val="146B5F"/>
                </a:solidFill>
                <a:latin typeface="Helvetica Neue"/>
                <a:ea typeface="Helvetica Neue"/>
                <a:cs typeface="Helvetica Neue"/>
              </a:defRPr>
            </a:lvl3pPr>
            <a:lvl4pPr>
              <a:buNone/>
              <a:defRPr sz="1125" b="1">
                <a:solidFill>
                  <a:srgbClr val="146B5F"/>
                </a:solidFill>
                <a:latin typeface="Helvetica Neue"/>
                <a:ea typeface="Helvetica Neue"/>
                <a:cs typeface="Helvetica Neue"/>
              </a:defRPr>
            </a:lvl4pPr>
            <a:lvl5pPr>
              <a:buNone/>
              <a:defRPr sz="1125" b="1">
                <a:solidFill>
                  <a:srgbClr val="146B5F"/>
                </a:solidFill>
                <a:latin typeface="Helvetica Neue"/>
                <a:ea typeface="Helvetica Neue"/>
                <a:cs typeface="Helvetica Neue"/>
              </a:defRPr>
            </a:lvl5pPr>
            <a:lvl6pPr>
              <a:buNone/>
              <a:defRPr sz="1125" b="1">
                <a:solidFill>
                  <a:srgbClr val="146B5F"/>
                </a:solidFill>
                <a:latin typeface="Helvetica Neue"/>
                <a:ea typeface="Helvetica Neue"/>
                <a:cs typeface="Helvetica Neue"/>
              </a:defRPr>
            </a:lvl6pPr>
            <a:lvl7pPr>
              <a:buNone/>
              <a:defRPr sz="1125" b="1">
                <a:solidFill>
                  <a:srgbClr val="146B5F"/>
                </a:solidFill>
                <a:latin typeface="Helvetica Neue"/>
                <a:ea typeface="Helvetica Neue"/>
                <a:cs typeface="Helvetica Neue"/>
              </a:defRPr>
            </a:lvl7pPr>
            <a:lvl8pPr>
              <a:buNone/>
              <a:defRPr sz="1125" b="1">
                <a:solidFill>
                  <a:srgbClr val="146B5F"/>
                </a:solidFill>
                <a:latin typeface="Helvetica Neue"/>
                <a:ea typeface="Helvetica Neue"/>
                <a:cs typeface="Helvetica Neue"/>
              </a:defRPr>
            </a:lvl8pPr>
            <a:lvl9pPr>
              <a:buNone/>
              <a:defRPr sz="1125" b="1">
                <a:solidFill>
                  <a:srgbClr val="146B5F"/>
                </a:solidFill>
                <a:latin typeface="Helvetica Neue"/>
                <a:ea typeface="Helvetica Neue"/>
                <a:cs typeface="Helvetica Neue"/>
              </a:defRPr>
            </a:lvl9pPr>
          </a:lstStyle>
          <a:p xmlns:a="http://schemas.openxmlformats.org/drawingml/2006/main">
            <a:pPr>
              <a:buNone/>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B5FEB4C0-644A-4B72-BFD3-BE2636A2439A}"/>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buNone/>
              <a:defRPr sz="3825" b="0">
                <a:solidFill>
                  <a:srgbClr val="172E32"/>
                </a:solidFill>
                <a:latin typeface="Helvetica Neue"/>
                <a:ea typeface="Helvetica Neue"/>
                <a:cs typeface="Helvetica Neue"/>
              </a:defRPr>
            </a:lvl1pPr>
            <a:lvl2pPr>
              <a:buNone/>
              <a:defRPr sz="3825" b="0">
                <a:solidFill>
                  <a:srgbClr val="172E32"/>
                </a:solidFill>
                <a:latin typeface="Helvetica Neue"/>
                <a:ea typeface="Helvetica Neue"/>
                <a:cs typeface="Helvetica Neue"/>
              </a:defRPr>
            </a:lvl2pPr>
            <a:lvl3pPr>
              <a:buNone/>
              <a:defRPr sz="3825" b="0">
                <a:solidFill>
                  <a:srgbClr val="172E32"/>
                </a:solidFill>
                <a:latin typeface="Helvetica Neue"/>
                <a:ea typeface="Helvetica Neue"/>
                <a:cs typeface="Helvetica Neue"/>
              </a:defRPr>
            </a:lvl3pPr>
            <a:lvl4pPr>
              <a:buNone/>
              <a:defRPr sz="3825" b="0">
                <a:solidFill>
                  <a:srgbClr val="172E32"/>
                </a:solidFill>
                <a:latin typeface="Helvetica Neue"/>
                <a:ea typeface="Helvetica Neue"/>
                <a:cs typeface="Helvetica Neue"/>
              </a:defRPr>
            </a:lvl4pPr>
            <a:lvl5pPr>
              <a:buNone/>
              <a:defRPr sz="3825" b="0">
                <a:solidFill>
                  <a:srgbClr val="172E32"/>
                </a:solidFill>
                <a:latin typeface="Helvetica Neue"/>
                <a:ea typeface="Helvetica Neue"/>
                <a:cs typeface="Helvetica Neue"/>
              </a:defRPr>
            </a:lvl5pPr>
            <a:lvl6pPr>
              <a:buNone/>
              <a:defRPr sz="3825" b="0">
                <a:solidFill>
                  <a:srgbClr val="172E32"/>
                </a:solidFill>
                <a:latin typeface="Helvetica Neue"/>
                <a:ea typeface="Helvetica Neue"/>
                <a:cs typeface="Helvetica Neue"/>
              </a:defRPr>
            </a:lvl6pPr>
            <a:lvl7pPr>
              <a:buNone/>
              <a:defRPr sz="3825" b="0">
                <a:solidFill>
                  <a:srgbClr val="172E32"/>
                </a:solidFill>
                <a:latin typeface="Helvetica Neue"/>
                <a:ea typeface="Helvetica Neue"/>
                <a:cs typeface="Helvetica Neue"/>
              </a:defRPr>
            </a:lvl7pPr>
            <a:lvl8pPr>
              <a:buNone/>
              <a:defRPr sz="3825" b="0">
                <a:solidFill>
                  <a:srgbClr val="172E32"/>
                </a:solidFill>
                <a:latin typeface="Helvetica Neue"/>
                <a:ea typeface="Helvetica Neue"/>
                <a:cs typeface="Helvetica Neue"/>
              </a:defRPr>
            </a:lvl8pPr>
            <a:lvl9pPr>
              <a:buNone/>
              <a:defRPr sz="3825" b="0">
                <a:solidFill>
                  <a:srgbClr val="172E32"/>
                </a:solidFill>
                <a:latin typeface="Helvetica Neue"/>
                <a:ea typeface="Helvetica Neue"/>
                <a:cs typeface="Helvetica Neue"/>
              </a:defRPr>
            </a:lvl9pPr>
          </a:lstStyle>
          <a:p xmlns:a="http://schemas.openxmlformats.org/drawingml/2006/main">
            <a:pPr>
              <a:buNone/>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ModelCheck</a:t>
            </a:r>
          </a:p>
        </p:txBody>
      </p:sp>
      <p:sp>
        <p:nvSpPr>
          <p:cNvPr id="3" name="">
            <a:extLst xmlns:a="http://schemas.openxmlformats.org/drawingml/2006/main">
              <a:ext uri="{FF2B5EF4-FFF2-40B4-BE49-F238E27FC236}">
                <a16:creationId xmlns:a16="http://schemas.microsoft.com/office/drawing/2014/main" id="{899D92C5-68A2-4283-90DB-51BFA9292D9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buNone/>
              <a:defRPr sz="1050" b="0">
                <a:solidFill>
                  <a:srgbClr val="657574"/>
                </a:solidFill>
                <a:latin typeface="Helvetica Neue"/>
                <a:ea typeface="Helvetica Neue"/>
                <a:cs typeface="Helvetica Neue"/>
              </a:defRPr>
            </a:lvl1pPr>
            <a:lvl2pPr>
              <a:buNone/>
              <a:defRPr sz="1050" b="0">
                <a:solidFill>
                  <a:srgbClr val="657574"/>
                </a:solidFill>
                <a:latin typeface="Helvetica Neue"/>
                <a:ea typeface="Helvetica Neue"/>
                <a:cs typeface="Helvetica Neue"/>
              </a:defRPr>
            </a:lvl2pPr>
            <a:lvl3pPr>
              <a:buNone/>
              <a:defRPr sz="1050" b="0">
                <a:solidFill>
                  <a:srgbClr val="657574"/>
                </a:solidFill>
                <a:latin typeface="Helvetica Neue"/>
                <a:ea typeface="Helvetica Neue"/>
                <a:cs typeface="Helvetica Neue"/>
              </a:defRPr>
            </a:lvl3pPr>
            <a:lvl4pPr>
              <a:buNone/>
              <a:defRPr sz="1050" b="0">
                <a:solidFill>
                  <a:srgbClr val="657574"/>
                </a:solidFill>
                <a:latin typeface="Helvetica Neue"/>
                <a:ea typeface="Helvetica Neue"/>
                <a:cs typeface="Helvetica Neue"/>
              </a:defRPr>
            </a:lvl4pPr>
            <a:lvl5pPr>
              <a:buNone/>
              <a:defRPr sz="1050" b="0">
                <a:solidFill>
                  <a:srgbClr val="657574"/>
                </a:solidFill>
                <a:latin typeface="Helvetica Neue"/>
                <a:ea typeface="Helvetica Neue"/>
                <a:cs typeface="Helvetica Neue"/>
              </a:defRPr>
            </a:lvl5pPr>
            <a:lvl6pPr>
              <a:buNone/>
              <a:defRPr sz="1050" b="0">
                <a:solidFill>
                  <a:srgbClr val="657574"/>
                </a:solidFill>
                <a:latin typeface="Helvetica Neue"/>
                <a:ea typeface="Helvetica Neue"/>
                <a:cs typeface="Helvetica Neue"/>
              </a:defRPr>
            </a:lvl6pPr>
            <a:lvl7pPr>
              <a:buNone/>
              <a:defRPr sz="1050" b="0">
                <a:solidFill>
                  <a:srgbClr val="657574"/>
                </a:solidFill>
                <a:latin typeface="Helvetica Neue"/>
                <a:ea typeface="Helvetica Neue"/>
                <a:cs typeface="Helvetica Neue"/>
              </a:defRPr>
            </a:lvl7pPr>
            <a:lvl8pPr>
              <a:buNone/>
              <a:defRPr sz="1050" b="0">
                <a:solidFill>
                  <a:srgbClr val="657574"/>
                </a:solidFill>
                <a:latin typeface="Helvetica Neue"/>
                <a:ea typeface="Helvetica Neue"/>
                <a:cs typeface="Helvetica Neue"/>
              </a:defRPr>
            </a:lvl8pPr>
            <a:lvl9pPr>
              <a:buNone/>
              <a:defRPr sz="1050" b="0">
                <a:solidFill>
                  <a:srgbClr val="657574"/>
                </a:solidFill>
                <a:latin typeface="Helvetica Neue"/>
                <a:ea typeface="Helvetica Neue"/>
                <a:cs typeface="Helvetica Neue"/>
              </a:defRPr>
            </a:lvl9pPr>
          </a:lstStyle>
          <a:p xmlns:a="http://schemas.openxmlformats.org/drawingml/2006/main">
            <a:pPr>
              <a:buNone/>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5ECE3725-817D-418F-B129-AB9F49F4FE61}"/>
              </a:ext>
            </a:extLst>
          </p:cNvPr>
          <p:cNvSpPr>
            <a:spLocks xmlns:a="http://schemas.openxmlformats.org/drawingml/2006/main" noGrp="1"/>
          </p:cNvSpPr>
          <p:nvPr/>
        </p:nvSpPr>
        <p:spPr>
          <a:xfrm xmlns:a="http://schemas.openxmlformats.org/drawingml/2006/main">
            <a:off x="723900" y="2286000"/>
            <a:ext cx="952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0">
                <a:solidFill>
                  <a:srgbClr val="146B5F"/>
                </a:solidFill>
                <a:latin typeface="Helvetica Neue"/>
                <a:ea typeface="Helvetica Neue"/>
                <a:cs typeface="Helvetica Neue"/>
              </a:defRPr>
            </a:defPPr>
            <a:lvl1pPr>
              <a:buNone/>
              <a:defRPr sz="3675" b="0">
                <a:solidFill>
                  <a:srgbClr val="146B5F"/>
                </a:solidFill>
                <a:latin typeface="Helvetica Neue"/>
                <a:ea typeface="Helvetica Neue"/>
                <a:cs typeface="Helvetica Neue"/>
              </a:defRPr>
            </a:lvl1pPr>
            <a:lvl2pPr>
              <a:buNone/>
              <a:defRPr sz="3675" b="0">
                <a:solidFill>
                  <a:srgbClr val="146B5F"/>
                </a:solidFill>
                <a:latin typeface="Helvetica Neue"/>
                <a:ea typeface="Helvetica Neue"/>
                <a:cs typeface="Helvetica Neue"/>
              </a:defRPr>
            </a:lvl2pPr>
            <a:lvl3pPr>
              <a:buNone/>
              <a:defRPr sz="3675" b="0">
                <a:solidFill>
                  <a:srgbClr val="146B5F"/>
                </a:solidFill>
                <a:latin typeface="Helvetica Neue"/>
                <a:ea typeface="Helvetica Neue"/>
                <a:cs typeface="Helvetica Neue"/>
              </a:defRPr>
            </a:lvl3pPr>
            <a:lvl4pPr>
              <a:buNone/>
              <a:defRPr sz="3675" b="0">
                <a:solidFill>
                  <a:srgbClr val="146B5F"/>
                </a:solidFill>
                <a:latin typeface="Helvetica Neue"/>
                <a:ea typeface="Helvetica Neue"/>
                <a:cs typeface="Helvetica Neue"/>
              </a:defRPr>
            </a:lvl4pPr>
            <a:lvl5pPr>
              <a:buNone/>
              <a:defRPr sz="3675" b="0">
                <a:solidFill>
                  <a:srgbClr val="146B5F"/>
                </a:solidFill>
                <a:latin typeface="Helvetica Neue"/>
                <a:ea typeface="Helvetica Neue"/>
                <a:cs typeface="Helvetica Neue"/>
              </a:defRPr>
            </a:lvl5pPr>
            <a:lvl6pPr>
              <a:buNone/>
              <a:defRPr sz="3675" b="0">
                <a:solidFill>
                  <a:srgbClr val="146B5F"/>
                </a:solidFill>
                <a:latin typeface="Helvetica Neue"/>
                <a:ea typeface="Helvetica Neue"/>
                <a:cs typeface="Helvetica Neue"/>
              </a:defRPr>
            </a:lvl6pPr>
            <a:lvl7pPr>
              <a:buNone/>
              <a:defRPr sz="3675" b="0">
                <a:solidFill>
                  <a:srgbClr val="146B5F"/>
                </a:solidFill>
                <a:latin typeface="Helvetica Neue"/>
                <a:ea typeface="Helvetica Neue"/>
                <a:cs typeface="Helvetica Neue"/>
              </a:defRPr>
            </a:lvl7pPr>
            <a:lvl8pPr>
              <a:buNone/>
              <a:defRPr sz="3675" b="0">
                <a:solidFill>
                  <a:srgbClr val="146B5F"/>
                </a:solidFill>
                <a:latin typeface="Helvetica Neue"/>
                <a:ea typeface="Helvetica Neue"/>
                <a:cs typeface="Helvetica Neue"/>
              </a:defRPr>
            </a:lvl8pPr>
            <a:lvl9pPr>
              <a:buNone/>
              <a:defRPr sz="3675" b="0">
                <a:solidFill>
                  <a:srgbClr val="146B5F"/>
                </a:solidFill>
                <a:latin typeface="Helvetica Neue"/>
                <a:ea typeface="Helvetica Neue"/>
                <a:cs typeface="Helvetica Neue"/>
              </a:defRPr>
            </a:lvl9pPr>
          </a:lstStyle>
          <a:p xmlns:a="http://schemas.openxmlformats.org/drawingml/2006/main">
            <a:pPr>
              <a:buNone/>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An agent for reviewing</a:t>
            </a:r>
          </a:p>
          <a:p xmlns:a="http://schemas.openxmlformats.org/drawingml/2006/main">
            <a:pPr>
              <a:buNone/>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classification experiments</a:t>
            </a:r>
          </a:p>
        </p:txBody>
      </p:sp>
      <p:sp>
        <p:nvSpPr>
          <p:cNvPr id="5" name="">
            <a:extLst xmlns:a="http://schemas.openxmlformats.org/drawingml/2006/main">
              <a:ext uri="{FF2B5EF4-FFF2-40B4-BE49-F238E27FC236}">
                <a16:creationId xmlns:a16="http://schemas.microsoft.com/office/drawing/2014/main" id="{BF1992BF-7AA1-4B92-8489-923277D39AF3}"/>
              </a:ext>
            </a:extLst>
          </p:cNvPr>
          <p:cNvSpPr>
            <a:spLocks xmlns:a="http://schemas.openxmlformats.org/drawingml/2006/main" noGrp="1"/>
          </p:cNvSpPr>
          <p:nvPr/>
        </p:nvSpPr>
        <p:spPr>
          <a:xfrm xmlns:a="http://schemas.openxmlformats.org/drawingml/2006/main">
            <a:off x="723900" y="4648200"/>
            <a:ext cx="9048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buNone/>
              <a:defRPr sz="2025" b="0">
                <a:solidFill>
                  <a:srgbClr val="657574"/>
                </a:solidFill>
                <a:latin typeface="Helvetica Neue"/>
                <a:ea typeface="Helvetica Neue"/>
                <a:cs typeface="Helvetica Neue"/>
              </a:defRPr>
            </a:lvl1pPr>
            <a:lvl2pPr>
              <a:buNone/>
              <a:defRPr sz="2025" b="0">
                <a:solidFill>
                  <a:srgbClr val="657574"/>
                </a:solidFill>
                <a:latin typeface="Helvetica Neue"/>
                <a:ea typeface="Helvetica Neue"/>
                <a:cs typeface="Helvetica Neue"/>
              </a:defRPr>
            </a:lvl2pPr>
            <a:lvl3pPr>
              <a:buNone/>
              <a:defRPr sz="2025" b="0">
                <a:solidFill>
                  <a:srgbClr val="657574"/>
                </a:solidFill>
                <a:latin typeface="Helvetica Neue"/>
                <a:ea typeface="Helvetica Neue"/>
                <a:cs typeface="Helvetica Neue"/>
              </a:defRPr>
            </a:lvl3pPr>
            <a:lvl4pPr>
              <a:buNone/>
              <a:defRPr sz="2025" b="0">
                <a:solidFill>
                  <a:srgbClr val="657574"/>
                </a:solidFill>
                <a:latin typeface="Helvetica Neue"/>
                <a:ea typeface="Helvetica Neue"/>
                <a:cs typeface="Helvetica Neue"/>
              </a:defRPr>
            </a:lvl4pPr>
            <a:lvl5pPr>
              <a:buNone/>
              <a:defRPr sz="2025" b="0">
                <a:solidFill>
                  <a:srgbClr val="657574"/>
                </a:solidFill>
                <a:latin typeface="Helvetica Neue"/>
                <a:ea typeface="Helvetica Neue"/>
                <a:cs typeface="Helvetica Neue"/>
              </a:defRPr>
            </a:lvl5pPr>
            <a:lvl6pPr>
              <a:buNone/>
              <a:defRPr sz="2025" b="0">
                <a:solidFill>
                  <a:srgbClr val="657574"/>
                </a:solidFill>
                <a:latin typeface="Helvetica Neue"/>
                <a:ea typeface="Helvetica Neue"/>
                <a:cs typeface="Helvetica Neue"/>
              </a:defRPr>
            </a:lvl6pPr>
            <a:lvl7pPr>
              <a:buNone/>
              <a:defRPr sz="2025" b="0">
                <a:solidFill>
                  <a:srgbClr val="657574"/>
                </a:solidFill>
                <a:latin typeface="Helvetica Neue"/>
                <a:ea typeface="Helvetica Neue"/>
                <a:cs typeface="Helvetica Neue"/>
              </a:defRPr>
            </a:lvl7pPr>
            <a:lvl8pPr>
              <a:buNone/>
              <a:defRPr sz="2025" b="0">
                <a:solidFill>
                  <a:srgbClr val="657574"/>
                </a:solidFill>
                <a:latin typeface="Helvetica Neue"/>
                <a:ea typeface="Helvetica Neue"/>
                <a:cs typeface="Helvetica Neue"/>
              </a:defRPr>
            </a:lvl8pPr>
            <a:lvl9pPr>
              <a:buNone/>
              <a:defRPr sz="2025" b="0">
                <a:solidFill>
                  <a:srgbClr val="657574"/>
                </a:solidFill>
                <a:latin typeface="Helvetica Neue"/>
                <a:ea typeface="Helvetica Neue"/>
                <a:cs typeface="Helvetica Neue"/>
              </a:defRPr>
            </a:lvl9pPr>
          </a:lstStyle>
          <a:p xmlns:a="http://schemas.openxmlformats.org/drawingml/2006/main">
            <a:pPr>
              <a:buNone/>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Zeyad Alghamdi</a:t>
            </a:r>
          </a:p>
          <a:p xmlns:a="http://schemas.openxmlformats.org/drawingml/2006/main">
            <a:pPr>
              <a:buNone/>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Track 2: domain harness</a:t>
            </a:r>
          </a:p>
        </p:txBody>
      </p:sp>
    </p:spTree>
    <p:extLst>
      <p:ext uri="{BB962C8B-B14F-4D97-AF65-F5344CB8AC3E}">
        <p14:creationId xmlns:p14="http://schemas.microsoft.com/office/powerpoint/2010/main" val="2003658697"/>
      </p:ext>
    </p:extLst>
  </p:cSld>
</p:sld>
</file>

<file path=ppt/slides/slide2.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2C5154-B0F5-48C7-BA42-3F5478021EC3}"/>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buNone/>
              <a:defRPr sz="1125" b="1">
                <a:solidFill>
                  <a:srgbClr val="146B5F"/>
                </a:solidFill>
                <a:latin typeface="Helvetica Neue"/>
                <a:ea typeface="Helvetica Neue"/>
                <a:cs typeface="Helvetica Neue"/>
              </a:defRPr>
            </a:lvl1pPr>
            <a:lvl2pPr>
              <a:buNone/>
              <a:defRPr sz="1125" b="1">
                <a:solidFill>
                  <a:srgbClr val="146B5F"/>
                </a:solidFill>
                <a:latin typeface="Helvetica Neue"/>
                <a:ea typeface="Helvetica Neue"/>
                <a:cs typeface="Helvetica Neue"/>
              </a:defRPr>
            </a:lvl2pPr>
            <a:lvl3pPr>
              <a:buNone/>
              <a:defRPr sz="1125" b="1">
                <a:solidFill>
                  <a:srgbClr val="146B5F"/>
                </a:solidFill>
                <a:latin typeface="Helvetica Neue"/>
                <a:ea typeface="Helvetica Neue"/>
                <a:cs typeface="Helvetica Neue"/>
              </a:defRPr>
            </a:lvl3pPr>
            <a:lvl4pPr>
              <a:buNone/>
              <a:defRPr sz="1125" b="1">
                <a:solidFill>
                  <a:srgbClr val="146B5F"/>
                </a:solidFill>
                <a:latin typeface="Helvetica Neue"/>
                <a:ea typeface="Helvetica Neue"/>
                <a:cs typeface="Helvetica Neue"/>
              </a:defRPr>
            </a:lvl4pPr>
            <a:lvl5pPr>
              <a:buNone/>
              <a:defRPr sz="1125" b="1">
                <a:solidFill>
                  <a:srgbClr val="146B5F"/>
                </a:solidFill>
                <a:latin typeface="Helvetica Neue"/>
                <a:ea typeface="Helvetica Neue"/>
                <a:cs typeface="Helvetica Neue"/>
              </a:defRPr>
            </a:lvl5pPr>
            <a:lvl6pPr>
              <a:buNone/>
              <a:defRPr sz="1125" b="1">
                <a:solidFill>
                  <a:srgbClr val="146B5F"/>
                </a:solidFill>
                <a:latin typeface="Helvetica Neue"/>
                <a:ea typeface="Helvetica Neue"/>
                <a:cs typeface="Helvetica Neue"/>
              </a:defRPr>
            </a:lvl6pPr>
            <a:lvl7pPr>
              <a:buNone/>
              <a:defRPr sz="1125" b="1">
                <a:solidFill>
                  <a:srgbClr val="146B5F"/>
                </a:solidFill>
                <a:latin typeface="Helvetica Neue"/>
                <a:ea typeface="Helvetica Neue"/>
                <a:cs typeface="Helvetica Neue"/>
              </a:defRPr>
            </a:lvl7pPr>
            <a:lvl8pPr>
              <a:buNone/>
              <a:defRPr sz="1125" b="1">
                <a:solidFill>
                  <a:srgbClr val="146B5F"/>
                </a:solidFill>
                <a:latin typeface="Helvetica Neue"/>
                <a:ea typeface="Helvetica Neue"/>
                <a:cs typeface="Helvetica Neue"/>
              </a:defRPr>
            </a:lvl8pPr>
            <a:lvl9pPr>
              <a:buNone/>
              <a:defRPr sz="1125" b="1">
                <a:solidFill>
                  <a:srgbClr val="146B5F"/>
                </a:solidFill>
                <a:latin typeface="Helvetica Neue"/>
                <a:ea typeface="Helvetica Neue"/>
                <a:cs typeface="Helvetica Neue"/>
              </a:defRPr>
            </a:lvl9pPr>
          </a:lstStyle>
          <a:p xmlns:a="http://schemas.openxmlformats.org/drawingml/2006/main">
            <a:pPr>
              <a:buNone/>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576C1B7F-4D95-4392-A864-99F29D175E21}"/>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buNone/>
              <a:defRPr sz="3825" b="0">
                <a:solidFill>
                  <a:srgbClr val="172E32"/>
                </a:solidFill>
                <a:latin typeface="Helvetica Neue"/>
                <a:ea typeface="Helvetica Neue"/>
                <a:cs typeface="Helvetica Neue"/>
              </a:defRPr>
            </a:lvl1pPr>
            <a:lvl2pPr>
              <a:buNone/>
              <a:defRPr sz="3825" b="0">
                <a:solidFill>
                  <a:srgbClr val="172E32"/>
                </a:solidFill>
                <a:latin typeface="Helvetica Neue"/>
                <a:ea typeface="Helvetica Neue"/>
                <a:cs typeface="Helvetica Neue"/>
              </a:defRPr>
            </a:lvl2pPr>
            <a:lvl3pPr>
              <a:buNone/>
              <a:defRPr sz="3825" b="0">
                <a:solidFill>
                  <a:srgbClr val="172E32"/>
                </a:solidFill>
                <a:latin typeface="Helvetica Neue"/>
                <a:ea typeface="Helvetica Neue"/>
                <a:cs typeface="Helvetica Neue"/>
              </a:defRPr>
            </a:lvl3pPr>
            <a:lvl4pPr>
              <a:buNone/>
              <a:defRPr sz="3825" b="0">
                <a:solidFill>
                  <a:srgbClr val="172E32"/>
                </a:solidFill>
                <a:latin typeface="Helvetica Neue"/>
                <a:ea typeface="Helvetica Neue"/>
                <a:cs typeface="Helvetica Neue"/>
              </a:defRPr>
            </a:lvl4pPr>
            <a:lvl5pPr>
              <a:buNone/>
              <a:defRPr sz="3825" b="0">
                <a:solidFill>
                  <a:srgbClr val="172E32"/>
                </a:solidFill>
                <a:latin typeface="Helvetica Neue"/>
                <a:ea typeface="Helvetica Neue"/>
                <a:cs typeface="Helvetica Neue"/>
              </a:defRPr>
            </a:lvl5pPr>
            <a:lvl6pPr>
              <a:buNone/>
              <a:defRPr sz="3825" b="0">
                <a:solidFill>
                  <a:srgbClr val="172E32"/>
                </a:solidFill>
                <a:latin typeface="Helvetica Neue"/>
                <a:ea typeface="Helvetica Neue"/>
                <a:cs typeface="Helvetica Neue"/>
              </a:defRPr>
            </a:lvl6pPr>
            <a:lvl7pPr>
              <a:buNone/>
              <a:defRPr sz="3825" b="0">
                <a:solidFill>
                  <a:srgbClr val="172E32"/>
                </a:solidFill>
                <a:latin typeface="Helvetica Neue"/>
                <a:ea typeface="Helvetica Neue"/>
                <a:cs typeface="Helvetica Neue"/>
              </a:defRPr>
            </a:lvl7pPr>
            <a:lvl8pPr>
              <a:buNone/>
              <a:defRPr sz="3825" b="0">
                <a:solidFill>
                  <a:srgbClr val="172E32"/>
                </a:solidFill>
                <a:latin typeface="Helvetica Neue"/>
                <a:ea typeface="Helvetica Neue"/>
                <a:cs typeface="Helvetica Neue"/>
              </a:defRPr>
            </a:lvl8pPr>
            <a:lvl9pPr>
              <a:buNone/>
              <a:defRPr sz="3825" b="0">
                <a:solidFill>
                  <a:srgbClr val="172E32"/>
                </a:solidFill>
                <a:latin typeface="Helvetica Neue"/>
                <a:ea typeface="Helvetica Neue"/>
                <a:cs typeface="Helvetica Neue"/>
              </a:defRPr>
            </a:lvl9pPr>
          </a:lstStyle>
          <a:p xmlns:a="http://schemas.openxmlformats.org/drawingml/2006/main">
            <a:pPr>
              <a:buNone/>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The source slice changes the conclusion</a:t>
            </a:r>
          </a:p>
        </p:txBody>
      </p:sp>
      <p:sp>
        <p:nvSpPr>
          <p:cNvPr id="3" name="">
            <a:extLst xmlns:a="http://schemas.openxmlformats.org/drawingml/2006/main">
              <a:ext uri="{FF2B5EF4-FFF2-40B4-BE49-F238E27FC236}">
                <a16:creationId xmlns:a16="http://schemas.microsoft.com/office/drawing/2014/main" id="{5ACDABED-CE7F-4702-9BF6-4831C411B249}"/>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buNone/>
              <a:defRPr sz="1050" b="0">
                <a:solidFill>
                  <a:srgbClr val="657574"/>
                </a:solidFill>
                <a:latin typeface="Helvetica Neue"/>
                <a:ea typeface="Helvetica Neue"/>
                <a:cs typeface="Helvetica Neue"/>
              </a:defRPr>
            </a:lvl1pPr>
            <a:lvl2pPr>
              <a:buNone/>
              <a:defRPr sz="1050" b="0">
                <a:solidFill>
                  <a:srgbClr val="657574"/>
                </a:solidFill>
                <a:latin typeface="Helvetica Neue"/>
                <a:ea typeface="Helvetica Neue"/>
                <a:cs typeface="Helvetica Neue"/>
              </a:defRPr>
            </a:lvl2pPr>
            <a:lvl3pPr>
              <a:buNone/>
              <a:defRPr sz="1050" b="0">
                <a:solidFill>
                  <a:srgbClr val="657574"/>
                </a:solidFill>
                <a:latin typeface="Helvetica Neue"/>
                <a:ea typeface="Helvetica Neue"/>
                <a:cs typeface="Helvetica Neue"/>
              </a:defRPr>
            </a:lvl3pPr>
            <a:lvl4pPr>
              <a:buNone/>
              <a:defRPr sz="1050" b="0">
                <a:solidFill>
                  <a:srgbClr val="657574"/>
                </a:solidFill>
                <a:latin typeface="Helvetica Neue"/>
                <a:ea typeface="Helvetica Neue"/>
                <a:cs typeface="Helvetica Neue"/>
              </a:defRPr>
            </a:lvl4pPr>
            <a:lvl5pPr>
              <a:buNone/>
              <a:defRPr sz="1050" b="0">
                <a:solidFill>
                  <a:srgbClr val="657574"/>
                </a:solidFill>
                <a:latin typeface="Helvetica Neue"/>
                <a:ea typeface="Helvetica Neue"/>
                <a:cs typeface="Helvetica Neue"/>
              </a:defRPr>
            </a:lvl5pPr>
            <a:lvl6pPr>
              <a:buNone/>
              <a:defRPr sz="1050" b="0">
                <a:solidFill>
                  <a:srgbClr val="657574"/>
                </a:solidFill>
                <a:latin typeface="Helvetica Neue"/>
                <a:ea typeface="Helvetica Neue"/>
                <a:cs typeface="Helvetica Neue"/>
              </a:defRPr>
            </a:lvl6pPr>
            <a:lvl7pPr>
              <a:buNone/>
              <a:defRPr sz="1050" b="0">
                <a:solidFill>
                  <a:srgbClr val="657574"/>
                </a:solidFill>
                <a:latin typeface="Helvetica Neue"/>
                <a:ea typeface="Helvetica Neue"/>
                <a:cs typeface="Helvetica Neue"/>
              </a:defRPr>
            </a:lvl7pPr>
            <a:lvl8pPr>
              <a:buNone/>
              <a:defRPr sz="1050" b="0">
                <a:solidFill>
                  <a:srgbClr val="657574"/>
                </a:solidFill>
                <a:latin typeface="Helvetica Neue"/>
                <a:ea typeface="Helvetica Neue"/>
                <a:cs typeface="Helvetica Neue"/>
              </a:defRPr>
            </a:lvl8pPr>
            <a:lvl9pPr>
              <a:buNone/>
              <a:defRPr sz="1050" b="0">
                <a:solidFill>
                  <a:srgbClr val="657574"/>
                </a:solidFill>
                <a:latin typeface="Helvetica Neue"/>
                <a:ea typeface="Helvetica Neue"/>
                <a:cs typeface="Helvetica Neue"/>
              </a:defRPr>
            </a:lvl9pPr>
          </a:lstStyle>
          <a:p xmlns:a="http://schemas.openxmlformats.org/drawingml/2006/main">
            <a:pPr>
              <a:buNone/>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F3ACAC91-14DD-476A-BB95-064847F8AD92}"/>
              </a:ext>
            </a:extLst>
          </p:cNvPr>
          <p:cNvSpPr>
            <a:spLocks xmlns:a="http://schemas.openxmlformats.org/drawingml/2006/main" noGrp="1"/>
          </p:cNvSpPr>
          <p:nvPr/>
        </p:nvSpPr>
        <p:spPr>
          <a:xfrm xmlns:a="http://schemas.openxmlformats.org/drawingml/2006/main">
            <a:off x="723900" y="204787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46B5F"/>
                </a:solidFill>
                <a:latin typeface="Helvetica Neue"/>
                <a:ea typeface="Helvetica Neue"/>
                <a:cs typeface="Helvetica Neue"/>
              </a:defRPr>
            </a:defPPr>
            <a:lvl1pPr>
              <a:buNone/>
              <a:defRPr sz="2025" b="1">
                <a:solidFill>
                  <a:srgbClr val="146B5F"/>
                </a:solidFill>
                <a:latin typeface="Helvetica Neue"/>
                <a:ea typeface="Helvetica Neue"/>
                <a:cs typeface="Helvetica Neue"/>
              </a:defRPr>
            </a:lvl1pPr>
            <a:lvl2pPr>
              <a:buNone/>
              <a:defRPr sz="2025" b="1">
                <a:solidFill>
                  <a:srgbClr val="146B5F"/>
                </a:solidFill>
                <a:latin typeface="Helvetica Neue"/>
                <a:ea typeface="Helvetica Neue"/>
                <a:cs typeface="Helvetica Neue"/>
              </a:defRPr>
            </a:lvl2pPr>
            <a:lvl3pPr>
              <a:buNone/>
              <a:defRPr sz="2025" b="1">
                <a:solidFill>
                  <a:srgbClr val="146B5F"/>
                </a:solidFill>
                <a:latin typeface="Helvetica Neue"/>
                <a:ea typeface="Helvetica Neue"/>
                <a:cs typeface="Helvetica Neue"/>
              </a:defRPr>
            </a:lvl3pPr>
            <a:lvl4pPr>
              <a:buNone/>
              <a:defRPr sz="2025" b="1">
                <a:solidFill>
                  <a:srgbClr val="146B5F"/>
                </a:solidFill>
                <a:latin typeface="Helvetica Neue"/>
                <a:ea typeface="Helvetica Neue"/>
                <a:cs typeface="Helvetica Neue"/>
              </a:defRPr>
            </a:lvl4pPr>
            <a:lvl5pPr>
              <a:buNone/>
              <a:defRPr sz="2025" b="1">
                <a:solidFill>
                  <a:srgbClr val="146B5F"/>
                </a:solidFill>
                <a:latin typeface="Helvetica Neue"/>
                <a:ea typeface="Helvetica Neue"/>
                <a:cs typeface="Helvetica Neue"/>
              </a:defRPr>
            </a:lvl5pPr>
            <a:lvl6pPr>
              <a:buNone/>
              <a:defRPr sz="2025" b="1">
                <a:solidFill>
                  <a:srgbClr val="146B5F"/>
                </a:solidFill>
                <a:latin typeface="Helvetica Neue"/>
                <a:ea typeface="Helvetica Neue"/>
                <a:cs typeface="Helvetica Neue"/>
              </a:defRPr>
            </a:lvl6pPr>
            <a:lvl7pPr>
              <a:buNone/>
              <a:defRPr sz="2025" b="1">
                <a:solidFill>
                  <a:srgbClr val="146B5F"/>
                </a:solidFill>
                <a:latin typeface="Helvetica Neue"/>
                <a:ea typeface="Helvetica Neue"/>
                <a:cs typeface="Helvetica Neue"/>
              </a:defRPr>
            </a:lvl7pPr>
            <a:lvl8pPr>
              <a:buNone/>
              <a:defRPr sz="2025" b="1">
                <a:solidFill>
                  <a:srgbClr val="146B5F"/>
                </a:solidFill>
                <a:latin typeface="Helvetica Neue"/>
                <a:ea typeface="Helvetica Neue"/>
                <a:cs typeface="Helvetica Neue"/>
              </a:defRPr>
            </a:lvl8pPr>
            <a:lvl9pPr>
              <a:buNone/>
              <a:defRPr sz="2025" b="1">
                <a:solidFill>
                  <a:srgbClr val="146B5F"/>
                </a:solidFill>
                <a:latin typeface="Helvetica Neue"/>
                <a:ea typeface="Helvetica Neue"/>
                <a:cs typeface="Helvetica Neue"/>
              </a:defRPr>
            </a:lvl9pPr>
          </a:lstStyle>
          <a:p xmlns:a="http://schemas.openxmlformats.org/drawingml/2006/main">
            <a:pPr>
              <a:buNone/>
              <a:defRPr sz="2025" b="1">
                <a:solidFill>
                  <a:srgbClr val="146B5F"/>
                </a:solidFill>
                <a:latin typeface="Helvetica Neue"/>
                <a:ea typeface="Helvetica Neue"/>
                <a:cs typeface="Helvetica Neue"/>
              </a:defRPr>
            </a:pPr>
            <a:r>
              <a:rPr sz="2025" b="1">
                <a:solidFill>
                  <a:srgbClr val="146B5F"/>
                </a:solidFill>
                <a:latin typeface="Helvetica Neue"/>
                <a:ea typeface="Helvetica Neue"/>
                <a:cs typeface="Helvetica Neue"/>
              </a:rPr>
              <a:t>Synthetic detector comparison</a:t>
            </a:r>
          </a:p>
        </p:txBody>
      </p:sp>
      <p:graphicFrame>
        <p:nvGraphicFramePr>
          <p:cNvPr id="5" name="">
            <a:extLst xmlns:a="http://schemas.openxmlformats.org/drawingml/2006/main">
              <a:ext uri="{FF2B5EF4-FFF2-40B4-BE49-F238E27FC236}">
                <a16:creationId xmlns:a16="http://schemas.microsoft.com/office/drawing/2014/main" id="{06BBE981-DDCF-473F-874D-0FFFF5E08D52}"/>
              </a:ext>
            </a:extLst>
          </p:cNvPr>
          <p:cNvGraphicFramePr/>
          <p:nvPr/>
        </p:nvGraphicFramePr>
        <p:xfrm>
          <a:off xmlns:a="http://schemas.openxmlformats.org/drawingml/2006/main" x="723900" y="2762250"/>
          <a:ext xmlns:a="http://schemas.openxmlformats.org/drawingml/2006/main" cx="10744200" cy="2762250"/>
        </p:xfrm>
        <a:graphic xmlns:a="http://schemas.openxmlformats.org/drawingml/2006/main">
          <a:graphicData uri="http://schemas.openxmlformats.org/drawingml/2006/table">
            <a:tbl>
              <a:tblPr/>
              <a:tblGrid>
                <a:gridCol w="5334000"/>
                <a:gridCol w="2705100"/>
                <a:gridCol w="2705100"/>
              </a:tblGrid>
              <a:tr h="690563">
                <a:tc>
                  <a:txBody>
                    <a:bodyPr/>
                    <a:lstStyle/>
                    <a:p>
                      <a:r>
                        <a:rPr sz="1875" b="1">
                          <a:solidFill>
                            <a:srgbClr val="FFFFFF"/>
                          </a:solidFill>
                          <a:latin typeface="Helvetica Neue"/>
                          <a:ea typeface="Helvetica Neue"/>
                          <a:cs typeface="Helvetica Neue"/>
                        </a:rPr>
                        <a:t>Positive recall</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Baseline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Candidate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0563">
                <a:tc>
                  <a:txBody>
                    <a:bodyPr/>
                    <a:lstStyle/>
                    <a:p>
                      <a:r>
                        <a:rPr sz="1875" b="0">
                          <a:solidFill>
                            <a:srgbClr val="172E32"/>
                          </a:solidFill>
                          <a:latin typeface="Helvetica Neue"/>
                          <a:ea typeface="Helvetica Neue"/>
                          <a:cs typeface="Helvetica Neue"/>
                        </a:rPr>
                        <a:t>All 40 examples</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75%</a:t>
                      </a:r>
                    </a:p>
                  </a:txBody>
                  <a:tcPr marL="91440" marR="91440" marT="45720" marB="45720">
                    <a:lnR w="9525">
                      <a:solidFill>
                        <a:srgbClr val="DFE5DF"/>
                      </a:solidFill>
                      <a:prstDash val="solid"/>
                    </a:lnR>
                    <a:lnB w="9525">
                      <a:solidFill>
                        <a:srgbClr val="DFE5DF"/>
                      </a:solidFill>
                      <a:prstDash val="solid"/>
                    </a:lnB>
                    <a:solidFill>
                      <a:srgbClr val="FFFFFF"/>
                    </a:solidFill>
                  </a:tcPr>
                </a:tc>
              </a:tr>
              <a:tr h="690563">
                <a:tc>
                  <a:txBody>
                    <a:bodyPr/>
                    <a:lstStyle/>
                    <a:p>
                      <a:r>
                        <a:rPr sz="1875" b="0">
                          <a:solidFill>
                            <a:srgbClr val="172E32"/>
                          </a:solidFill>
                          <a:latin typeface="Helvetica Neue"/>
                          <a:ea typeface="Helvetica Neue"/>
                          <a:cs typeface="Helvetica Neue"/>
                        </a:rPr>
                        <a:t>Studio,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100%</a:t>
                      </a:r>
                    </a:p>
                  </a:txBody>
                  <a:tcPr marL="91440" marR="91440" marT="45720" marB="45720">
                    <a:lnR w="9525">
                      <a:solidFill>
                        <a:srgbClr val="DFE5DF"/>
                      </a:solidFill>
                      <a:prstDash val="solid"/>
                    </a:lnR>
                    <a:lnB w="9525">
                      <a:solidFill>
                        <a:srgbClr val="DFE5DF"/>
                      </a:solidFill>
                      <a:prstDash val="solid"/>
                    </a:lnB>
                    <a:solidFill>
                      <a:srgbClr val="F5F6F2"/>
                    </a:solidFill>
                  </a:tcPr>
                </a:tc>
              </a:tr>
              <a:tr h="690563">
                <a:tc>
                  <a:txBody>
                    <a:bodyPr/>
                    <a:lstStyle/>
                    <a:p>
                      <a:r>
                        <a:rPr sz="1875" b="0">
                          <a:solidFill>
                            <a:srgbClr val="172E32"/>
                          </a:solidFill>
                          <a:latin typeface="Helvetica Neue"/>
                          <a:ea typeface="Helvetica Neue"/>
                          <a:cs typeface="Helvetica Neue"/>
                        </a:rPr>
                        <a:t>Web,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50%</a:t>
                      </a:r>
                    </a:p>
                  </a:txBody>
                  <a:tcPr marL="91440" marR="91440" marT="45720" marB="45720">
                    <a:lnR w="9525">
                      <a:solidFill>
                        <a:srgbClr val="DFE5DF"/>
                      </a:solidFill>
                      <a:prstDash val="solid"/>
                    </a:lnR>
                    <a:lnB w="9525">
                      <a:solidFill>
                        <a:srgbClr val="DFE5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009466B-279B-4D2D-8378-2413EE6B376F}"/>
              </a:ext>
            </a:extLst>
          </p:cNvPr>
          <p:cNvSpPr>
            <a:spLocks xmlns:a="http://schemas.openxmlformats.org/drawingml/2006/main" noGrp="1"/>
          </p:cNvSpPr>
          <p:nvPr/>
        </p:nvSpPr>
        <p:spPr>
          <a:xfrm xmlns:a="http://schemas.openxmlformats.org/drawingml/2006/main">
            <a:off x="723900" y="5819775"/>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buNone/>
              <a:defRPr sz="1725" b="0">
                <a:solidFill>
                  <a:srgbClr val="657574"/>
                </a:solidFill>
                <a:latin typeface="Helvetica Neue"/>
                <a:ea typeface="Helvetica Neue"/>
                <a:cs typeface="Helvetica Neue"/>
              </a:defRPr>
            </a:lvl1pPr>
            <a:lvl2pPr>
              <a:buNone/>
              <a:defRPr sz="1725" b="0">
                <a:solidFill>
                  <a:srgbClr val="657574"/>
                </a:solidFill>
                <a:latin typeface="Helvetica Neue"/>
                <a:ea typeface="Helvetica Neue"/>
                <a:cs typeface="Helvetica Neue"/>
              </a:defRPr>
            </a:lvl2pPr>
            <a:lvl3pPr>
              <a:buNone/>
              <a:defRPr sz="1725" b="0">
                <a:solidFill>
                  <a:srgbClr val="657574"/>
                </a:solidFill>
                <a:latin typeface="Helvetica Neue"/>
                <a:ea typeface="Helvetica Neue"/>
                <a:cs typeface="Helvetica Neue"/>
              </a:defRPr>
            </a:lvl3pPr>
            <a:lvl4pPr>
              <a:buNone/>
              <a:defRPr sz="1725" b="0">
                <a:solidFill>
                  <a:srgbClr val="657574"/>
                </a:solidFill>
                <a:latin typeface="Helvetica Neue"/>
                <a:ea typeface="Helvetica Neue"/>
                <a:cs typeface="Helvetica Neue"/>
              </a:defRPr>
            </a:lvl4pPr>
            <a:lvl5pPr>
              <a:buNone/>
              <a:defRPr sz="1725" b="0">
                <a:solidFill>
                  <a:srgbClr val="657574"/>
                </a:solidFill>
                <a:latin typeface="Helvetica Neue"/>
                <a:ea typeface="Helvetica Neue"/>
                <a:cs typeface="Helvetica Neue"/>
              </a:defRPr>
            </a:lvl5pPr>
            <a:lvl6pPr>
              <a:buNone/>
              <a:defRPr sz="1725" b="0">
                <a:solidFill>
                  <a:srgbClr val="657574"/>
                </a:solidFill>
                <a:latin typeface="Helvetica Neue"/>
                <a:ea typeface="Helvetica Neue"/>
                <a:cs typeface="Helvetica Neue"/>
              </a:defRPr>
            </a:lvl6pPr>
            <a:lvl7pPr>
              <a:buNone/>
              <a:defRPr sz="1725" b="0">
                <a:solidFill>
                  <a:srgbClr val="657574"/>
                </a:solidFill>
                <a:latin typeface="Helvetica Neue"/>
                <a:ea typeface="Helvetica Neue"/>
                <a:cs typeface="Helvetica Neue"/>
              </a:defRPr>
            </a:lvl7pPr>
            <a:lvl8pPr>
              <a:buNone/>
              <a:defRPr sz="1725" b="0">
                <a:solidFill>
                  <a:srgbClr val="657574"/>
                </a:solidFill>
                <a:latin typeface="Helvetica Neue"/>
                <a:ea typeface="Helvetica Neue"/>
                <a:cs typeface="Helvetica Neue"/>
              </a:defRPr>
            </a:lvl8pPr>
            <a:lvl9pPr>
              <a:buNone/>
              <a:defRPr sz="1725" b="0">
                <a:solidFill>
                  <a:srgbClr val="657574"/>
                </a:solidFill>
                <a:latin typeface="Helvetica Neue"/>
                <a:ea typeface="Helvetica Neue"/>
                <a:cs typeface="Helvetica Neue"/>
              </a:defRPr>
            </a:lvl9pPr>
          </a:lstStyle>
          <a:p xmlns:a="http://schemas.openxmlformats.org/drawingml/2006/main">
            <a:pPr>
              <a:buNone/>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 web slice loses 40 percentage points of recall.</a:t>
            </a:r>
          </a:p>
          <a:p xmlns:a="http://schemas.openxmlformats.org/drawingml/2006/main">
            <a:pPr>
              <a:buNone/>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These values describe a synthetic fixture.</a:t>
            </a:r>
          </a:p>
        </p:txBody>
      </p:sp>
    </p:spTree>
    <p:extLst>
      <p:ext uri="{BB962C8B-B14F-4D97-AF65-F5344CB8AC3E}">
        <p14:creationId xmlns:p14="http://schemas.microsoft.com/office/powerpoint/2010/main" val="571809844"/>
      </p:ext>
    </p:extLst>
  </p:cSld>
</p:sld>
</file>

<file path=ppt/slides/slide3.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0AECDA-6C3E-4F56-8500-CB4892C4131C}"/>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buNone/>
              <a:defRPr sz="1125" b="1">
                <a:solidFill>
                  <a:srgbClr val="146B5F"/>
                </a:solidFill>
                <a:latin typeface="Helvetica Neue"/>
                <a:ea typeface="Helvetica Neue"/>
                <a:cs typeface="Helvetica Neue"/>
              </a:defRPr>
            </a:lvl1pPr>
            <a:lvl2pPr>
              <a:buNone/>
              <a:defRPr sz="1125" b="1">
                <a:solidFill>
                  <a:srgbClr val="146B5F"/>
                </a:solidFill>
                <a:latin typeface="Helvetica Neue"/>
                <a:ea typeface="Helvetica Neue"/>
                <a:cs typeface="Helvetica Neue"/>
              </a:defRPr>
            </a:lvl2pPr>
            <a:lvl3pPr>
              <a:buNone/>
              <a:defRPr sz="1125" b="1">
                <a:solidFill>
                  <a:srgbClr val="146B5F"/>
                </a:solidFill>
                <a:latin typeface="Helvetica Neue"/>
                <a:ea typeface="Helvetica Neue"/>
                <a:cs typeface="Helvetica Neue"/>
              </a:defRPr>
            </a:lvl3pPr>
            <a:lvl4pPr>
              <a:buNone/>
              <a:defRPr sz="1125" b="1">
                <a:solidFill>
                  <a:srgbClr val="146B5F"/>
                </a:solidFill>
                <a:latin typeface="Helvetica Neue"/>
                <a:ea typeface="Helvetica Neue"/>
                <a:cs typeface="Helvetica Neue"/>
              </a:defRPr>
            </a:lvl4pPr>
            <a:lvl5pPr>
              <a:buNone/>
              <a:defRPr sz="1125" b="1">
                <a:solidFill>
                  <a:srgbClr val="146B5F"/>
                </a:solidFill>
                <a:latin typeface="Helvetica Neue"/>
                <a:ea typeface="Helvetica Neue"/>
                <a:cs typeface="Helvetica Neue"/>
              </a:defRPr>
            </a:lvl5pPr>
            <a:lvl6pPr>
              <a:buNone/>
              <a:defRPr sz="1125" b="1">
                <a:solidFill>
                  <a:srgbClr val="146B5F"/>
                </a:solidFill>
                <a:latin typeface="Helvetica Neue"/>
                <a:ea typeface="Helvetica Neue"/>
                <a:cs typeface="Helvetica Neue"/>
              </a:defRPr>
            </a:lvl6pPr>
            <a:lvl7pPr>
              <a:buNone/>
              <a:defRPr sz="1125" b="1">
                <a:solidFill>
                  <a:srgbClr val="146B5F"/>
                </a:solidFill>
                <a:latin typeface="Helvetica Neue"/>
                <a:ea typeface="Helvetica Neue"/>
                <a:cs typeface="Helvetica Neue"/>
              </a:defRPr>
            </a:lvl7pPr>
            <a:lvl8pPr>
              <a:buNone/>
              <a:defRPr sz="1125" b="1">
                <a:solidFill>
                  <a:srgbClr val="146B5F"/>
                </a:solidFill>
                <a:latin typeface="Helvetica Neue"/>
                <a:ea typeface="Helvetica Neue"/>
                <a:cs typeface="Helvetica Neue"/>
              </a:defRPr>
            </a:lvl8pPr>
            <a:lvl9pPr>
              <a:buNone/>
              <a:defRPr sz="1125" b="1">
                <a:solidFill>
                  <a:srgbClr val="146B5F"/>
                </a:solidFill>
                <a:latin typeface="Helvetica Neue"/>
                <a:ea typeface="Helvetica Neue"/>
                <a:cs typeface="Helvetica Neue"/>
              </a:defRPr>
            </a:lvl9pPr>
          </a:lstStyle>
          <a:p xmlns:a="http://schemas.openxmlformats.org/drawingml/2006/main">
            <a:pPr>
              <a:buNone/>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E47D1EC3-4D1C-4066-AED4-76AF042AD8B9}"/>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buNone/>
              <a:defRPr sz="3825" b="0">
                <a:solidFill>
                  <a:srgbClr val="172E32"/>
                </a:solidFill>
                <a:latin typeface="Helvetica Neue"/>
                <a:ea typeface="Helvetica Neue"/>
                <a:cs typeface="Helvetica Neue"/>
              </a:defRPr>
            </a:lvl1pPr>
            <a:lvl2pPr>
              <a:buNone/>
              <a:defRPr sz="3825" b="0">
                <a:solidFill>
                  <a:srgbClr val="172E32"/>
                </a:solidFill>
                <a:latin typeface="Helvetica Neue"/>
                <a:ea typeface="Helvetica Neue"/>
                <a:cs typeface="Helvetica Neue"/>
              </a:defRPr>
            </a:lvl2pPr>
            <a:lvl3pPr>
              <a:buNone/>
              <a:defRPr sz="3825" b="0">
                <a:solidFill>
                  <a:srgbClr val="172E32"/>
                </a:solidFill>
                <a:latin typeface="Helvetica Neue"/>
                <a:ea typeface="Helvetica Neue"/>
                <a:cs typeface="Helvetica Neue"/>
              </a:defRPr>
            </a:lvl3pPr>
            <a:lvl4pPr>
              <a:buNone/>
              <a:defRPr sz="3825" b="0">
                <a:solidFill>
                  <a:srgbClr val="172E32"/>
                </a:solidFill>
                <a:latin typeface="Helvetica Neue"/>
                <a:ea typeface="Helvetica Neue"/>
                <a:cs typeface="Helvetica Neue"/>
              </a:defRPr>
            </a:lvl4pPr>
            <a:lvl5pPr>
              <a:buNone/>
              <a:defRPr sz="3825" b="0">
                <a:solidFill>
                  <a:srgbClr val="172E32"/>
                </a:solidFill>
                <a:latin typeface="Helvetica Neue"/>
                <a:ea typeface="Helvetica Neue"/>
                <a:cs typeface="Helvetica Neue"/>
              </a:defRPr>
            </a:lvl5pPr>
            <a:lvl6pPr>
              <a:buNone/>
              <a:defRPr sz="3825" b="0">
                <a:solidFill>
                  <a:srgbClr val="172E32"/>
                </a:solidFill>
                <a:latin typeface="Helvetica Neue"/>
                <a:ea typeface="Helvetica Neue"/>
                <a:cs typeface="Helvetica Neue"/>
              </a:defRPr>
            </a:lvl6pPr>
            <a:lvl7pPr>
              <a:buNone/>
              <a:defRPr sz="3825" b="0">
                <a:solidFill>
                  <a:srgbClr val="172E32"/>
                </a:solidFill>
                <a:latin typeface="Helvetica Neue"/>
                <a:ea typeface="Helvetica Neue"/>
                <a:cs typeface="Helvetica Neue"/>
              </a:defRPr>
            </a:lvl7pPr>
            <a:lvl8pPr>
              <a:buNone/>
              <a:defRPr sz="3825" b="0">
                <a:solidFill>
                  <a:srgbClr val="172E32"/>
                </a:solidFill>
                <a:latin typeface="Helvetica Neue"/>
                <a:ea typeface="Helvetica Neue"/>
                <a:cs typeface="Helvetica Neue"/>
              </a:defRPr>
            </a:lvl8pPr>
            <a:lvl9pPr>
              <a:buNone/>
              <a:defRPr sz="3825" b="0">
                <a:solidFill>
                  <a:srgbClr val="172E32"/>
                </a:solidFill>
                <a:latin typeface="Helvetica Neue"/>
                <a:ea typeface="Helvetica Neue"/>
                <a:cs typeface="Helvetica Neue"/>
              </a:defRPr>
            </a:lvl9pPr>
          </a:lstStyle>
          <a:p xmlns:a="http://schemas.openxmlformats.org/drawingml/2006/main">
            <a:pPr>
              <a:buNone/>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 small local service with a controlled write</a:t>
            </a:r>
          </a:p>
        </p:txBody>
      </p:sp>
      <p:sp>
        <p:nvSpPr>
          <p:cNvPr id="3" name="">
            <a:extLst xmlns:a="http://schemas.openxmlformats.org/drawingml/2006/main">
              <a:ext uri="{FF2B5EF4-FFF2-40B4-BE49-F238E27FC236}">
                <a16:creationId xmlns:a16="http://schemas.microsoft.com/office/drawing/2014/main" id="{68199EC2-4DEB-469C-8AB4-108105DCB61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buNone/>
              <a:defRPr sz="1050" b="0">
                <a:solidFill>
                  <a:srgbClr val="657574"/>
                </a:solidFill>
                <a:latin typeface="Helvetica Neue"/>
                <a:ea typeface="Helvetica Neue"/>
                <a:cs typeface="Helvetica Neue"/>
              </a:defRPr>
            </a:lvl1pPr>
            <a:lvl2pPr>
              <a:buNone/>
              <a:defRPr sz="1050" b="0">
                <a:solidFill>
                  <a:srgbClr val="657574"/>
                </a:solidFill>
                <a:latin typeface="Helvetica Neue"/>
                <a:ea typeface="Helvetica Neue"/>
                <a:cs typeface="Helvetica Neue"/>
              </a:defRPr>
            </a:lvl2pPr>
            <a:lvl3pPr>
              <a:buNone/>
              <a:defRPr sz="1050" b="0">
                <a:solidFill>
                  <a:srgbClr val="657574"/>
                </a:solidFill>
                <a:latin typeface="Helvetica Neue"/>
                <a:ea typeface="Helvetica Neue"/>
                <a:cs typeface="Helvetica Neue"/>
              </a:defRPr>
            </a:lvl3pPr>
            <a:lvl4pPr>
              <a:buNone/>
              <a:defRPr sz="1050" b="0">
                <a:solidFill>
                  <a:srgbClr val="657574"/>
                </a:solidFill>
                <a:latin typeface="Helvetica Neue"/>
                <a:ea typeface="Helvetica Neue"/>
                <a:cs typeface="Helvetica Neue"/>
              </a:defRPr>
            </a:lvl4pPr>
            <a:lvl5pPr>
              <a:buNone/>
              <a:defRPr sz="1050" b="0">
                <a:solidFill>
                  <a:srgbClr val="657574"/>
                </a:solidFill>
                <a:latin typeface="Helvetica Neue"/>
                <a:ea typeface="Helvetica Neue"/>
                <a:cs typeface="Helvetica Neue"/>
              </a:defRPr>
            </a:lvl5pPr>
            <a:lvl6pPr>
              <a:buNone/>
              <a:defRPr sz="1050" b="0">
                <a:solidFill>
                  <a:srgbClr val="657574"/>
                </a:solidFill>
                <a:latin typeface="Helvetica Neue"/>
                <a:ea typeface="Helvetica Neue"/>
                <a:cs typeface="Helvetica Neue"/>
              </a:defRPr>
            </a:lvl6pPr>
            <a:lvl7pPr>
              <a:buNone/>
              <a:defRPr sz="1050" b="0">
                <a:solidFill>
                  <a:srgbClr val="657574"/>
                </a:solidFill>
                <a:latin typeface="Helvetica Neue"/>
                <a:ea typeface="Helvetica Neue"/>
                <a:cs typeface="Helvetica Neue"/>
              </a:defRPr>
            </a:lvl7pPr>
            <a:lvl8pPr>
              <a:buNone/>
              <a:defRPr sz="1050" b="0">
                <a:solidFill>
                  <a:srgbClr val="657574"/>
                </a:solidFill>
                <a:latin typeface="Helvetica Neue"/>
                <a:ea typeface="Helvetica Neue"/>
                <a:cs typeface="Helvetica Neue"/>
              </a:defRPr>
            </a:lvl8pPr>
            <a:lvl9pPr>
              <a:buNone/>
              <a:defRPr sz="1050" b="0">
                <a:solidFill>
                  <a:srgbClr val="657574"/>
                </a:solidFill>
                <a:latin typeface="Helvetica Neue"/>
                <a:ea typeface="Helvetica Neue"/>
                <a:cs typeface="Helvetica Neue"/>
              </a:defRPr>
            </a:lvl9pPr>
          </a:lstStyle>
          <a:p xmlns:a="http://schemas.openxmlformats.org/drawingml/2006/main">
            <a:pPr>
              <a:buNone/>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8E8C8529-4061-4F7C-9E54-0004BDB940CB}"/>
              </a:ext>
            </a:extLst>
          </p:cNvPr>
          <p:cNvGraphicFramePr/>
          <p:nvPr/>
        </p:nvGraphicFramePr>
        <p:xfrm>
          <a:off xmlns:a="http://schemas.openxmlformats.org/drawingml/2006/main" x="723900" y="2076450"/>
          <a:ext xmlns:a="http://schemas.openxmlformats.org/drawingml/2006/main" cx="10744200" cy="3476625"/>
        </p:xfrm>
        <a:graphic xmlns:a="http://schemas.openxmlformats.org/drawingml/2006/main">
          <a:graphicData uri="http://schemas.openxmlformats.org/drawingml/2006/table">
            <a:tbl>
              <a:tblPr/>
              <a:tblGrid>
                <a:gridCol w="2381250"/>
                <a:gridCol w="4457700"/>
                <a:gridCol w="3905250"/>
              </a:tblGrid>
              <a:tr h="695325">
                <a:tc>
                  <a:txBody>
                    <a:bodyPr/>
                    <a:lstStyle/>
                    <a:p>
                      <a:r>
                        <a:rPr sz="1875" b="1">
                          <a:solidFill>
                            <a:srgbClr val="FFFFFF"/>
                          </a:solidFill>
                          <a:latin typeface="Helvetica Neue"/>
                          <a:ea typeface="Helvetica Neue"/>
                          <a:cs typeface="Helvetica Neue"/>
                        </a:rPr>
                        <a:t>Layer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Responsibility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Boundary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5325">
                <a:tc>
                  <a:txBody>
                    <a:bodyPr/>
                    <a:lstStyle/>
                    <a:p>
                      <a:r>
                        <a:rPr sz="1875" b="0">
                          <a:solidFill>
                            <a:srgbClr val="172E32"/>
                          </a:solidFill>
                          <a:latin typeface="Helvetica Neue"/>
                          <a:ea typeface="Helvetica Neue"/>
                          <a:cs typeface="Helvetica Neue"/>
                        </a:rPr>
                        <a:t>Browser + FastAPI</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Upload, inspect, review</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Local origin and session</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Single agent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Choose investigation tools</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Bounded calls and context</a:t>
                      </a:r>
                    </a:p>
                  </a:txBody>
                  <a:tcPr marL="91440" marR="91440" marT="45720" marB="45720">
                    <a:lnR w="9525">
                      <a:solidFill>
                        <a:srgbClr val="DFE5DF"/>
                      </a:solidFill>
                      <a:prstDash val="solid"/>
                    </a:lnR>
                    <a:lnB w="9525">
                      <a:solidFill>
                        <a:srgbClr val="DFE5DF"/>
                      </a:solidFill>
                      <a:prstDash val="solid"/>
                    </a:lnB>
                    <a:solidFill>
                      <a:srgbClr val="F5F6F2"/>
                    </a:solidFill>
                  </a:tcPr>
                </a:tc>
              </a:tr>
              <a:tr h="695325">
                <a:tc>
                  <a:txBody>
                    <a:bodyPr/>
                    <a:lstStyle/>
                    <a:p>
                      <a:r>
                        <a:rPr sz="1875" b="0">
                          <a:solidFill>
                            <a:srgbClr val="172E32"/>
                          </a:solidFill>
                          <a:latin typeface="Helvetica Neue"/>
                          <a:ea typeface="Helvetica Neue"/>
                          <a:cs typeface="Helvetica Neue"/>
                        </a:rPr>
                        <a:t>MCP server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Calculate and inspect</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Read-only tools</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Approval handler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Save reviewed specification</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Exact digest, one file</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48B37A41-9598-4611-8DC4-71C5216F4FCF}"/>
              </a:ext>
            </a:extLst>
          </p:cNvPr>
          <p:cNvSpPr>
            <a:spLocks xmlns:a="http://schemas.openxmlformats.org/drawingml/2006/main" noGrp="1"/>
          </p:cNvSpPr>
          <p:nvPr/>
        </p:nvSpPr>
        <p:spPr>
          <a:xfrm xmlns:a="http://schemas.openxmlformats.org/drawingml/2006/main">
            <a:off x="723900" y="58578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57574"/>
                </a:solidFill>
                <a:latin typeface="Helvetica Neue"/>
                <a:ea typeface="Helvetica Neue"/>
                <a:cs typeface="Helvetica Neue"/>
              </a:defRPr>
            </a:defPPr>
            <a:lvl1pPr>
              <a:buNone/>
              <a:defRPr sz="1800" b="0">
                <a:solidFill>
                  <a:srgbClr val="657574"/>
                </a:solidFill>
                <a:latin typeface="Helvetica Neue"/>
                <a:ea typeface="Helvetica Neue"/>
                <a:cs typeface="Helvetica Neue"/>
              </a:defRPr>
            </a:lvl1pPr>
            <a:lvl2pPr>
              <a:buNone/>
              <a:defRPr sz="1800" b="0">
                <a:solidFill>
                  <a:srgbClr val="657574"/>
                </a:solidFill>
                <a:latin typeface="Helvetica Neue"/>
                <a:ea typeface="Helvetica Neue"/>
                <a:cs typeface="Helvetica Neue"/>
              </a:defRPr>
            </a:lvl2pPr>
            <a:lvl3pPr>
              <a:buNone/>
              <a:defRPr sz="1800" b="0">
                <a:solidFill>
                  <a:srgbClr val="657574"/>
                </a:solidFill>
                <a:latin typeface="Helvetica Neue"/>
                <a:ea typeface="Helvetica Neue"/>
                <a:cs typeface="Helvetica Neue"/>
              </a:defRPr>
            </a:lvl3pPr>
            <a:lvl4pPr>
              <a:buNone/>
              <a:defRPr sz="1800" b="0">
                <a:solidFill>
                  <a:srgbClr val="657574"/>
                </a:solidFill>
                <a:latin typeface="Helvetica Neue"/>
                <a:ea typeface="Helvetica Neue"/>
                <a:cs typeface="Helvetica Neue"/>
              </a:defRPr>
            </a:lvl4pPr>
            <a:lvl5pPr>
              <a:buNone/>
              <a:defRPr sz="1800" b="0">
                <a:solidFill>
                  <a:srgbClr val="657574"/>
                </a:solidFill>
                <a:latin typeface="Helvetica Neue"/>
                <a:ea typeface="Helvetica Neue"/>
                <a:cs typeface="Helvetica Neue"/>
              </a:defRPr>
            </a:lvl5pPr>
            <a:lvl6pPr>
              <a:buNone/>
              <a:defRPr sz="1800" b="0">
                <a:solidFill>
                  <a:srgbClr val="657574"/>
                </a:solidFill>
                <a:latin typeface="Helvetica Neue"/>
                <a:ea typeface="Helvetica Neue"/>
                <a:cs typeface="Helvetica Neue"/>
              </a:defRPr>
            </a:lvl6pPr>
            <a:lvl7pPr>
              <a:buNone/>
              <a:defRPr sz="1800" b="0">
                <a:solidFill>
                  <a:srgbClr val="657574"/>
                </a:solidFill>
                <a:latin typeface="Helvetica Neue"/>
                <a:ea typeface="Helvetica Neue"/>
                <a:cs typeface="Helvetica Neue"/>
              </a:defRPr>
            </a:lvl7pPr>
            <a:lvl8pPr>
              <a:buNone/>
              <a:defRPr sz="1800" b="0">
                <a:solidFill>
                  <a:srgbClr val="657574"/>
                </a:solidFill>
                <a:latin typeface="Helvetica Neue"/>
                <a:ea typeface="Helvetica Neue"/>
                <a:cs typeface="Helvetica Neue"/>
              </a:defRPr>
            </a:lvl8pPr>
            <a:lvl9pPr>
              <a:buNone/>
              <a:defRPr sz="1800" b="0">
                <a:solidFill>
                  <a:srgbClr val="657574"/>
                </a:solidFill>
                <a:latin typeface="Helvetica Neue"/>
                <a:ea typeface="Helvetica Neue"/>
                <a:cs typeface="Helvetica Neue"/>
              </a:defRPr>
            </a:lvl9pPr>
          </a:lstStyle>
          <a:p xmlns:a="http://schemas.openxmlformats.org/drawingml/2006/main">
            <a:pPr>
              <a:buNone/>
              <a:defRPr sz="1800" b="0">
                <a:solidFill>
                  <a:srgbClr val="657574"/>
                </a:solidFill>
                <a:latin typeface="Helvetica Neue"/>
                <a:ea typeface="Helvetica Neue"/>
                <a:cs typeface="Helvetica Neue"/>
              </a:defRPr>
            </a:pPr>
            <a:r>
              <a:rPr sz="1800" b="0">
                <a:solidFill>
                  <a:srgbClr val="657574"/>
                </a:solidFill>
                <a:latin typeface="Helvetica Neue"/>
                <a:ea typeface="Helvetica Neue"/>
                <a:cs typeface="Helvetica Neue"/>
              </a:rPr>
              <a:t>SQLite retains evidence and pending actions. The model API runs externally.</a:t>
            </a:r>
          </a:p>
        </p:txBody>
      </p:sp>
    </p:spTree>
    <p:extLst>
      <p:ext uri="{BB962C8B-B14F-4D97-AF65-F5344CB8AC3E}">
        <p14:creationId xmlns:p14="http://schemas.microsoft.com/office/powerpoint/2010/main" val="1660574062"/>
      </p:ext>
    </p:extLst>
  </p:cSld>
</p:sld>
</file>

<file path=ppt/slides/slide4.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EB0710-4B5F-4877-A589-DC0A9C468666}"/>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buNone/>
              <a:defRPr sz="1125" b="1">
                <a:solidFill>
                  <a:srgbClr val="146B5F"/>
                </a:solidFill>
                <a:latin typeface="Helvetica Neue"/>
                <a:ea typeface="Helvetica Neue"/>
                <a:cs typeface="Helvetica Neue"/>
              </a:defRPr>
            </a:lvl1pPr>
            <a:lvl2pPr>
              <a:buNone/>
              <a:defRPr sz="1125" b="1">
                <a:solidFill>
                  <a:srgbClr val="146B5F"/>
                </a:solidFill>
                <a:latin typeface="Helvetica Neue"/>
                <a:ea typeface="Helvetica Neue"/>
                <a:cs typeface="Helvetica Neue"/>
              </a:defRPr>
            </a:lvl2pPr>
            <a:lvl3pPr>
              <a:buNone/>
              <a:defRPr sz="1125" b="1">
                <a:solidFill>
                  <a:srgbClr val="146B5F"/>
                </a:solidFill>
                <a:latin typeface="Helvetica Neue"/>
                <a:ea typeface="Helvetica Neue"/>
                <a:cs typeface="Helvetica Neue"/>
              </a:defRPr>
            </a:lvl3pPr>
            <a:lvl4pPr>
              <a:buNone/>
              <a:defRPr sz="1125" b="1">
                <a:solidFill>
                  <a:srgbClr val="146B5F"/>
                </a:solidFill>
                <a:latin typeface="Helvetica Neue"/>
                <a:ea typeface="Helvetica Neue"/>
                <a:cs typeface="Helvetica Neue"/>
              </a:defRPr>
            </a:lvl4pPr>
            <a:lvl5pPr>
              <a:buNone/>
              <a:defRPr sz="1125" b="1">
                <a:solidFill>
                  <a:srgbClr val="146B5F"/>
                </a:solidFill>
                <a:latin typeface="Helvetica Neue"/>
                <a:ea typeface="Helvetica Neue"/>
                <a:cs typeface="Helvetica Neue"/>
              </a:defRPr>
            </a:lvl5pPr>
            <a:lvl6pPr>
              <a:buNone/>
              <a:defRPr sz="1125" b="1">
                <a:solidFill>
                  <a:srgbClr val="146B5F"/>
                </a:solidFill>
                <a:latin typeface="Helvetica Neue"/>
                <a:ea typeface="Helvetica Neue"/>
                <a:cs typeface="Helvetica Neue"/>
              </a:defRPr>
            </a:lvl6pPr>
            <a:lvl7pPr>
              <a:buNone/>
              <a:defRPr sz="1125" b="1">
                <a:solidFill>
                  <a:srgbClr val="146B5F"/>
                </a:solidFill>
                <a:latin typeface="Helvetica Neue"/>
                <a:ea typeface="Helvetica Neue"/>
                <a:cs typeface="Helvetica Neue"/>
              </a:defRPr>
            </a:lvl7pPr>
            <a:lvl8pPr>
              <a:buNone/>
              <a:defRPr sz="1125" b="1">
                <a:solidFill>
                  <a:srgbClr val="146B5F"/>
                </a:solidFill>
                <a:latin typeface="Helvetica Neue"/>
                <a:ea typeface="Helvetica Neue"/>
                <a:cs typeface="Helvetica Neue"/>
              </a:defRPr>
            </a:lvl8pPr>
            <a:lvl9pPr>
              <a:buNone/>
              <a:defRPr sz="1125" b="1">
                <a:solidFill>
                  <a:srgbClr val="146B5F"/>
                </a:solidFill>
                <a:latin typeface="Helvetica Neue"/>
                <a:ea typeface="Helvetica Neue"/>
                <a:cs typeface="Helvetica Neue"/>
              </a:defRPr>
            </a:lvl9pPr>
          </a:lstStyle>
          <a:p xmlns:a="http://schemas.openxmlformats.org/drawingml/2006/main">
            <a:pPr>
              <a:buNone/>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437CC711-641E-41D8-B554-6296CD07657F}"/>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buNone/>
              <a:defRPr sz="3825" b="0">
                <a:solidFill>
                  <a:srgbClr val="172E32"/>
                </a:solidFill>
                <a:latin typeface="Helvetica Neue"/>
                <a:ea typeface="Helvetica Neue"/>
                <a:cs typeface="Helvetica Neue"/>
              </a:defRPr>
            </a:lvl1pPr>
            <a:lvl2pPr>
              <a:buNone/>
              <a:defRPr sz="3825" b="0">
                <a:solidFill>
                  <a:srgbClr val="172E32"/>
                </a:solidFill>
                <a:latin typeface="Helvetica Neue"/>
                <a:ea typeface="Helvetica Neue"/>
                <a:cs typeface="Helvetica Neue"/>
              </a:defRPr>
            </a:lvl2pPr>
            <a:lvl3pPr>
              <a:buNone/>
              <a:defRPr sz="3825" b="0">
                <a:solidFill>
                  <a:srgbClr val="172E32"/>
                </a:solidFill>
                <a:latin typeface="Helvetica Neue"/>
                <a:ea typeface="Helvetica Neue"/>
                <a:cs typeface="Helvetica Neue"/>
              </a:defRPr>
            </a:lvl3pPr>
            <a:lvl4pPr>
              <a:buNone/>
              <a:defRPr sz="3825" b="0">
                <a:solidFill>
                  <a:srgbClr val="172E32"/>
                </a:solidFill>
                <a:latin typeface="Helvetica Neue"/>
                <a:ea typeface="Helvetica Neue"/>
                <a:cs typeface="Helvetica Neue"/>
              </a:defRPr>
            </a:lvl4pPr>
            <a:lvl5pPr>
              <a:buNone/>
              <a:defRPr sz="3825" b="0">
                <a:solidFill>
                  <a:srgbClr val="172E32"/>
                </a:solidFill>
                <a:latin typeface="Helvetica Neue"/>
                <a:ea typeface="Helvetica Neue"/>
                <a:cs typeface="Helvetica Neue"/>
              </a:defRPr>
            </a:lvl5pPr>
            <a:lvl6pPr>
              <a:buNone/>
              <a:defRPr sz="3825" b="0">
                <a:solidFill>
                  <a:srgbClr val="172E32"/>
                </a:solidFill>
                <a:latin typeface="Helvetica Neue"/>
                <a:ea typeface="Helvetica Neue"/>
                <a:cs typeface="Helvetica Neue"/>
              </a:defRPr>
            </a:lvl6pPr>
            <a:lvl7pPr>
              <a:buNone/>
              <a:defRPr sz="3825" b="0">
                <a:solidFill>
                  <a:srgbClr val="172E32"/>
                </a:solidFill>
                <a:latin typeface="Helvetica Neue"/>
                <a:ea typeface="Helvetica Neue"/>
                <a:cs typeface="Helvetica Neue"/>
              </a:defRPr>
            </a:lvl7pPr>
            <a:lvl8pPr>
              <a:buNone/>
              <a:defRPr sz="3825" b="0">
                <a:solidFill>
                  <a:srgbClr val="172E32"/>
                </a:solidFill>
                <a:latin typeface="Helvetica Neue"/>
                <a:ea typeface="Helvetica Neue"/>
                <a:cs typeface="Helvetica Neue"/>
              </a:defRPr>
            </a:lvl8pPr>
            <a:lvl9pPr>
              <a:buNone/>
              <a:defRPr sz="3825" b="0">
                <a:solidFill>
                  <a:srgbClr val="172E32"/>
                </a:solidFill>
                <a:latin typeface="Helvetica Neue"/>
                <a:ea typeface="Helvetica Neue"/>
                <a:cs typeface="Helvetica Neue"/>
              </a:defRPr>
            </a:lvl9pPr>
          </a:lstStyle>
          <a:p xmlns:a="http://schemas.openxmlformats.org/drawingml/2006/main">
            <a:pPr>
              <a:buNone/>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Context and harness decisions</a:t>
            </a:r>
          </a:p>
        </p:txBody>
      </p:sp>
      <p:sp>
        <p:nvSpPr>
          <p:cNvPr id="3" name="">
            <a:extLst xmlns:a="http://schemas.openxmlformats.org/drawingml/2006/main">
              <a:ext uri="{FF2B5EF4-FFF2-40B4-BE49-F238E27FC236}">
                <a16:creationId xmlns:a16="http://schemas.microsoft.com/office/drawing/2014/main" id="{F9AAE78E-CAFD-46D9-B2FC-A254D23C317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buNone/>
              <a:defRPr sz="1050" b="0">
                <a:solidFill>
                  <a:srgbClr val="657574"/>
                </a:solidFill>
                <a:latin typeface="Helvetica Neue"/>
                <a:ea typeface="Helvetica Neue"/>
                <a:cs typeface="Helvetica Neue"/>
              </a:defRPr>
            </a:lvl1pPr>
            <a:lvl2pPr>
              <a:buNone/>
              <a:defRPr sz="1050" b="0">
                <a:solidFill>
                  <a:srgbClr val="657574"/>
                </a:solidFill>
                <a:latin typeface="Helvetica Neue"/>
                <a:ea typeface="Helvetica Neue"/>
                <a:cs typeface="Helvetica Neue"/>
              </a:defRPr>
            </a:lvl2pPr>
            <a:lvl3pPr>
              <a:buNone/>
              <a:defRPr sz="1050" b="0">
                <a:solidFill>
                  <a:srgbClr val="657574"/>
                </a:solidFill>
                <a:latin typeface="Helvetica Neue"/>
                <a:ea typeface="Helvetica Neue"/>
                <a:cs typeface="Helvetica Neue"/>
              </a:defRPr>
            </a:lvl3pPr>
            <a:lvl4pPr>
              <a:buNone/>
              <a:defRPr sz="1050" b="0">
                <a:solidFill>
                  <a:srgbClr val="657574"/>
                </a:solidFill>
                <a:latin typeface="Helvetica Neue"/>
                <a:ea typeface="Helvetica Neue"/>
                <a:cs typeface="Helvetica Neue"/>
              </a:defRPr>
            </a:lvl4pPr>
            <a:lvl5pPr>
              <a:buNone/>
              <a:defRPr sz="1050" b="0">
                <a:solidFill>
                  <a:srgbClr val="657574"/>
                </a:solidFill>
                <a:latin typeface="Helvetica Neue"/>
                <a:ea typeface="Helvetica Neue"/>
                <a:cs typeface="Helvetica Neue"/>
              </a:defRPr>
            </a:lvl5pPr>
            <a:lvl6pPr>
              <a:buNone/>
              <a:defRPr sz="1050" b="0">
                <a:solidFill>
                  <a:srgbClr val="657574"/>
                </a:solidFill>
                <a:latin typeface="Helvetica Neue"/>
                <a:ea typeface="Helvetica Neue"/>
                <a:cs typeface="Helvetica Neue"/>
              </a:defRPr>
            </a:lvl6pPr>
            <a:lvl7pPr>
              <a:buNone/>
              <a:defRPr sz="1050" b="0">
                <a:solidFill>
                  <a:srgbClr val="657574"/>
                </a:solidFill>
                <a:latin typeface="Helvetica Neue"/>
                <a:ea typeface="Helvetica Neue"/>
                <a:cs typeface="Helvetica Neue"/>
              </a:defRPr>
            </a:lvl7pPr>
            <a:lvl8pPr>
              <a:buNone/>
              <a:defRPr sz="1050" b="0">
                <a:solidFill>
                  <a:srgbClr val="657574"/>
                </a:solidFill>
                <a:latin typeface="Helvetica Neue"/>
                <a:ea typeface="Helvetica Neue"/>
                <a:cs typeface="Helvetica Neue"/>
              </a:defRPr>
            </a:lvl8pPr>
            <a:lvl9pPr>
              <a:buNone/>
              <a:defRPr sz="1050" b="0">
                <a:solidFill>
                  <a:srgbClr val="657574"/>
                </a:solidFill>
                <a:latin typeface="Helvetica Neue"/>
                <a:ea typeface="Helvetica Neue"/>
                <a:cs typeface="Helvetica Neue"/>
              </a:defRPr>
            </a:lvl9pPr>
          </a:lstStyle>
          <a:p xmlns:a="http://schemas.openxmlformats.org/drawingml/2006/main">
            <a:pPr>
              <a:buNone/>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A24068C1-9198-4CEA-8A34-FBB015CF0DE6}"/>
              </a:ext>
            </a:extLst>
          </p:cNvPr>
          <p:cNvSpPr>
            <a:spLocks xmlns:a="http://schemas.openxmlformats.org/drawingml/2006/main" noGrp="1"/>
          </p:cNvSpPr>
          <p:nvPr/>
        </p:nvSpPr>
        <p:spPr>
          <a:xfrm xmlns:a="http://schemas.openxmlformats.org/drawingml/2006/main">
            <a:off x="7239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buNone/>
              <a:defRPr sz="2325" b="1">
                <a:solidFill>
                  <a:srgbClr val="146B5F"/>
                </a:solidFill>
                <a:latin typeface="Helvetica Neue"/>
                <a:ea typeface="Helvetica Neue"/>
                <a:cs typeface="Helvetica Neue"/>
              </a:defRPr>
            </a:lvl1pPr>
            <a:lvl2pPr>
              <a:buNone/>
              <a:defRPr sz="2325" b="1">
                <a:solidFill>
                  <a:srgbClr val="146B5F"/>
                </a:solidFill>
                <a:latin typeface="Helvetica Neue"/>
                <a:ea typeface="Helvetica Neue"/>
                <a:cs typeface="Helvetica Neue"/>
              </a:defRPr>
            </a:lvl2pPr>
            <a:lvl3pPr>
              <a:buNone/>
              <a:defRPr sz="2325" b="1">
                <a:solidFill>
                  <a:srgbClr val="146B5F"/>
                </a:solidFill>
                <a:latin typeface="Helvetica Neue"/>
                <a:ea typeface="Helvetica Neue"/>
                <a:cs typeface="Helvetica Neue"/>
              </a:defRPr>
            </a:lvl3pPr>
            <a:lvl4pPr>
              <a:buNone/>
              <a:defRPr sz="2325" b="1">
                <a:solidFill>
                  <a:srgbClr val="146B5F"/>
                </a:solidFill>
                <a:latin typeface="Helvetica Neue"/>
                <a:ea typeface="Helvetica Neue"/>
                <a:cs typeface="Helvetica Neue"/>
              </a:defRPr>
            </a:lvl4pPr>
            <a:lvl5pPr>
              <a:buNone/>
              <a:defRPr sz="2325" b="1">
                <a:solidFill>
                  <a:srgbClr val="146B5F"/>
                </a:solidFill>
                <a:latin typeface="Helvetica Neue"/>
                <a:ea typeface="Helvetica Neue"/>
                <a:cs typeface="Helvetica Neue"/>
              </a:defRPr>
            </a:lvl5pPr>
            <a:lvl6pPr>
              <a:buNone/>
              <a:defRPr sz="2325" b="1">
                <a:solidFill>
                  <a:srgbClr val="146B5F"/>
                </a:solidFill>
                <a:latin typeface="Helvetica Neue"/>
                <a:ea typeface="Helvetica Neue"/>
                <a:cs typeface="Helvetica Neue"/>
              </a:defRPr>
            </a:lvl6pPr>
            <a:lvl7pPr>
              <a:buNone/>
              <a:defRPr sz="2325" b="1">
                <a:solidFill>
                  <a:srgbClr val="146B5F"/>
                </a:solidFill>
                <a:latin typeface="Helvetica Neue"/>
                <a:ea typeface="Helvetica Neue"/>
                <a:cs typeface="Helvetica Neue"/>
              </a:defRPr>
            </a:lvl7pPr>
            <a:lvl8pPr>
              <a:buNone/>
              <a:defRPr sz="2325" b="1">
                <a:solidFill>
                  <a:srgbClr val="146B5F"/>
                </a:solidFill>
                <a:latin typeface="Helvetica Neue"/>
                <a:ea typeface="Helvetica Neue"/>
                <a:cs typeface="Helvetica Neue"/>
              </a:defRPr>
            </a:lvl8pPr>
            <a:lvl9pPr>
              <a:buNone/>
              <a:defRPr sz="2325" b="1">
                <a:solidFill>
                  <a:srgbClr val="146B5F"/>
                </a:solidFill>
                <a:latin typeface="Helvetica Neue"/>
                <a:ea typeface="Helvetica Neue"/>
                <a:cs typeface="Helvetica Neue"/>
              </a:defRPr>
            </a:lvl9pPr>
          </a:lstStyle>
          <a:p xmlns:a="http://schemas.openxmlformats.org/drawingml/2006/main">
            <a:pPr>
              <a:buNone/>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Context</a:t>
            </a:r>
          </a:p>
        </p:txBody>
      </p:sp>
      <p:sp>
        <p:nvSpPr>
          <p:cNvPr id="5" name="">
            <a:extLst xmlns:a="http://schemas.openxmlformats.org/drawingml/2006/main">
              <a:ext uri="{FF2B5EF4-FFF2-40B4-BE49-F238E27FC236}">
                <a16:creationId xmlns:a16="http://schemas.microsoft.com/office/drawing/2014/main" id="{5635992D-8874-47C4-8570-56A55C721C13}"/>
              </a:ext>
            </a:extLst>
          </p:cNvPr>
          <p:cNvSpPr>
            <a:spLocks xmlns:a="http://schemas.openxmlformats.org/drawingml/2006/main" noGrp="1"/>
          </p:cNvSpPr>
          <p:nvPr/>
        </p:nvSpPr>
        <p:spPr>
          <a:xfrm xmlns:a="http://schemas.openxmlformats.org/drawingml/2006/main">
            <a:off x="7239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buNone/>
              <a:defRPr sz="2100" b="0">
                <a:solidFill>
                  <a:srgbClr val="172E32"/>
                </a:solidFill>
                <a:latin typeface="Helvetica Neue"/>
                <a:ea typeface="Helvetica Neue"/>
                <a:cs typeface="Helvetica Neue"/>
              </a:defRPr>
            </a:lvl1pPr>
            <a:lvl2pPr>
              <a:buNone/>
              <a:defRPr sz="2100" b="0">
                <a:solidFill>
                  <a:srgbClr val="172E32"/>
                </a:solidFill>
                <a:latin typeface="Helvetica Neue"/>
                <a:ea typeface="Helvetica Neue"/>
                <a:cs typeface="Helvetica Neue"/>
              </a:defRPr>
            </a:lvl2pPr>
            <a:lvl3pPr>
              <a:buNone/>
              <a:defRPr sz="2100" b="0">
                <a:solidFill>
                  <a:srgbClr val="172E32"/>
                </a:solidFill>
                <a:latin typeface="Helvetica Neue"/>
                <a:ea typeface="Helvetica Neue"/>
                <a:cs typeface="Helvetica Neue"/>
              </a:defRPr>
            </a:lvl3pPr>
            <a:lvl4pPr>
              <a:buNone/>
              <a:defRPr sz="2100" b="0">
                <a:solidFill>
                  <a:srgbClr val="172E32"/>
                </a:solidFill>
                <a:latin typeface="Helvetica Neue"/>
                <a:ea typeface="Helvetica Neue"/>
                <a:cs typeface="Helvetica Neue"/>
              </a:defRPr>
            </a:lvl4pPr>
            <a:lvl5pPr>
              <a:buNone/>
              <a:defRPr sz="2100" b="0">
                <a:solidFill>
                  <a:srgbClr val="172E32"/>
                </a:solidFill>
                <a:latin typeface="Helvetica Neue"/>
                <a:ea typeface="Helvetica Neue"/>
                <a:cs typeface="Helvetica Neue"/>
              </a:defRPr>
            </a:lvl5pPr>
            <a:lvl6pPr>
              <a:buNone/>
              <a:defRPr sz="2100" b="0">
                <a:solidFill>
                  <a:srgbClr val="172E32"/>
                </a:solidFill>
                <a:latin typeface="Helvetica Neue"/>
                <a:ea typeface="Helvetica Neue"/>
                <a:cs typeface="Helvetica Neue"/>
              </a:defRPr>
            </a:lvl6pPr>
            <a:lvl7pPr>
              <a:buNone/>
              <a:defRPr sz="2100" b="0">
                <a:solidFill>
                  <a:srgbClr val="172E32"/>
                </a:solidFill>
                <a:latin typeface="Helvetica Neue"/>
                <a:ea typeface="Helvetica Neue"/>
                <a:cs typeface="Helvetica Neue"/>
              </a:defRPr>
            </a:lvl7pPr>
            <a:lvl8pPr>
              <a:buNone/>
              <a:defRPr sz="2100" b="0">
                <a:solidFill>
                  <a:srgbClr val="172E32"/>
                </a:solidFill>
                <a:latin typeface="Helvetica Neue"/>
                <a:ea typeface="Helvetica Neue"/>
                <a:cs typeface="Helvetica Neue"/>
              </a:defRPr>
            </a:lvl8pPr>
            <a:lvl9pPr>
              <a:buNone/>
              <a:defRPr sz="2100" b="0">
                <a:solidFill>
                  <a:srgbClr val="172E32"/>
                </a:solidFill>
                <a:latin typeface="Helvetica Neue"/>
                <a:ea typeface="Helvetica Neue"/>
                <a:cs typeface="Helvetica Neue"/>
              </a:defRPr>
            </a:lvl9pPr>
          </a:lstStyle>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Host-loaded protocol in v2</a:t>
            </a:r>
          </a:p>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Evidence IDs instead of raw CSV context</a:t>
            </a:r>
          </a:p>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Complete tool rounds during compaction</a:t>
            </a:r>
          </a:p>
        </p:txBody>
      </p:sp>
      <p:sp>
        <p:nvSpPr>
          <p:cNvPr id="6" name="">
            <a:extLst xmlns:a="http://schemas.openxmlformats.org/drawingml/2006/main">
              <a:ext uri="{FF2B5EF4-FFF2-40B4-BE49-F238E27FC236}">
                <a16:creationId xmlns:a16="http://schemas.microsoft.com/office/drawing/2014/main" id="{31018EF1-998C-42D6-BA30-1C0A546605C8}"/>
              </a:ext>
            </a:extLst>
          </p:cNvPr>
          <p:cNvSpPr>
            <a:spLocks xmlns:a="http://schemas.openxmlformats.org/drawingml/2006/main" noGrp="1"/>
          </p:cNvSpPr>
          <p:nvPr/>
        </p:nvSpPr>
        <p:spPr>
          <a:xfrm xmlns:a="http://schemas.openxmlformats.org/drawingml/2006/main">
            <a:off x="64770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buNone/>
              <a:defRPr sz="2325" b="1">
                <a:solidFill>
                  <a:srgbClr val="146B5F"/>
                </a:solidFill>
                <a:latin typeface="Helvetica Neue"/>
                <a:ea typeface="Helvetica Neue"/>
                <a:cs typeface="Helvetica Neue"/>
              </a:defRPr>
            </a:lvl1pPr>
            <a:lvl2pPr>
              <a:buNone/>
              <a:defRPr sz="2325" b="1">
                <a:solidFill>
                  <a:srgbClr val="146B5F"/>
                </a:solidFill>
                <a:latin typeface="Helvetica Neue"/>
                <a:ea typeface="Helvetica Neue"/>
                <a:cs typeface="Helvetica Neue"/>
              </a:defRPr>
            </a:lvl2pPr>
            <a:lvl3pPr>
              <a:buNone/>
              <a:defRPr sz="2325" b="1">
                <a:solidFill>
                  <a:srgbClr val="146B5F"/>
                </a:solidFill>
                <a:latin typeface="Helvetica Neue"/>
                <a:ea typeface="Helvetica Neue"/>
                <a:cs typeface="Helvetica Neue"/>
              </a:defRPr>
            </a:lvl3pPr>
            <a:lvl4pPr>
              <a:buNone/>
              <a:defRPr sz="2325" b="1">
                <a:solidFill>
                  <a:srgbClr val="146B5F"/>
                </a:solidFill>
                <a:latin typeface="Helvetica Neue"/>
                <a:ea typeface="Helvetica Neue"/>
                <a:cs typeface="Helvetica Neue"/>
              </a:defRPr>
            </a:lvl4pPr>
            <a:lvl5pPr>
              <a:buNone/>
              <a:defRPr sz="2325" b="1">
                <a:solidFill>
                  <a:srgbClr val="146B5F"/>
                </a:solidFill>
                <a:latin typeface="Helvetica Neue"/>
                <a:ea typeface="Helvetica Neue"/>
                <a:cs typeface="Helvetica Neue"/>
              </a:defRPr>
            </a:lvl5pPr>
            <a:lvl6pPr>
              <a:buNone/>
              <a:defRPr sz="2325" b="1">
                <a:solidFill>
                  <a:srgbClr val="146B5F"/>
                </a:solidFill>
                <a:latin typeface="Helvetica Neue"/>
                <a:ea typeface="Helvetica Neue"/>
                <a:cs typeface="Helvetica Neue"/>
              </a:defRPr>
            </a:lvl6pPr>
            <a:lvl7pPr>
              <a:buNone/>
              <a:defRPr sz="2325" b="1">
                <a:solidFill>
                  <a:srgbClr val="146B5F"/>
                </a:solidFill>
                <a:latin typeface="Helvetica Neue"/>
                <a:ea typeface="Helvetica Neue"/>
                <a:cs typeface="Helvetica Neue"/>
              </a:defRPr>
            </a:lvl7pPr>
            <a:lvl8pPr>
              <a:buNone/>
              <a:defRPr sz="2325" b="1">
                <a:solidFill>
                  <a:srgbClr val="146B5F"/>
                </a:solidFill>
                <a:latin typeface="Helvetica Neue"/>
                <a:ea typeface="Helvetica Neue"/>
                <a:cs typeface="Helvetica Neue"/>
              </a:defRPr>
            </a:lvl8pPr>
            <a:lvl9pPr>
              <a:buNone/>
              <a:defRPr sz="2325" b="1">
                <a:solidFill>
                  <a:srgbClr val="146B5F"/>
                </a:solidFill>
                <a:latin typeface="Helvetica Neue"/>
                <a:ea typeface="Helvetica Neue"/>
                <a:cs typeface="Helvetica Neue"/>
              </a:defRPr>
            </a:lvl9pPr>
          </a:lstStyle>
          <a:p xmlns:a="http://schemas.openxmlformats.org/drawingml/2006/main">
            <a:pPr>
              <a:buNone/>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Execution controls</a:t>
            </a:r>
          </a:p>
        </p:txBody>
      </p:sp>
      <p:sp>
        <p:nvSpPr>
          <p:cNvPr id="7" name="">
            <a:extLst xmlns:a="http://schemas.openxmlformats.org/drawingml/2006/main">
              <a:ext uri="{FF2B5EF4-FFF2-40B4-BE49-F238E27FC236}">
                <a16:creationId xmlns:a16="http://schemas.microsoft.com/office/drawing/2014/main" id="{127AE2B2-CE0B-4685-A57D-E0C61D597977}"/>
              </a:ext>
            </a:extLst>
          </p:cNvPr>
          <p:cNvSpPr>
            <a:spLocks xmlns:a="http://schemas.openxmlformats.org/drawingml/2006/main" noGrp="1"/>
          </p:cNvSpPr>
          <p:nvPr/>
        </p:nvSpPr>
        <p:spPr>
          <a:xfrm xmlns:a="http://schemas.openxmlformats.org/drawingml/2006/main">
            <a:off x="64770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buNone/>
              <a:defRPr sz="2100" b="0">
                <a:solidFill>
                  <a:srgbClr val="172E32"/>
                </a:solidFill>
                <a:latin typeface="Helvetica Neue"/>
                <a:ea typeface="Helvetica Neue"/>
                <a:cs typeface="Helvetica Neue"/>
              </a:defRPr>
            </a:lvl1pPr>
            <a:lvl2pPr>
              <a:buNone/>
              <a:defRPr sz="2100" b="0">
                <a:solidFill>
                  <a:srgbClr val="172E32"/>
                </a:solidFill>
                <a:latin typeface="Helvetica Neue"/>
                <a:ea typeface="Helvetica Neue"/>
                <a:cs typeface="Helvetica Neue"/>
              </a:defRPr>
            </a:lvl2pPr>
            <a:lvl3pPr>
              <a:buNone/>
              <a:defRPr sz="2100" b="0">
                <a:solidFill>
                  <a:srgbClr val="172E32"/>
                </a:solidFill>
                <a:latin typeface="Helvetica Neue"/>
                <a:ea typeface="Helvetica Neue"/>
                <a:cs typeface="Helvetica Neue"/>
              </a:defRPr>
            </a:lvl3pPr>
            <a:lvl4pPr>
              <a:buNone/>
              <a:defRPr sz="2100" b="0">
                <a:solidFill>
                  <a:srgbClr val="172E32"/>
                </a:solidFill>
                <a:latin typeface="Helvetica Neue"/>
                <a:ea typeface="Helvetica Neue"/>
                <a:cs typeface="Helvetica Neue"/>
              </a:defRPr>
            </a:lvl4pPr>
            <a:lvl5pPr>
              <a:buNone/>
              <a:defRPr sz="2100" b="0">
                <a:solidFill>
                  <a:srgbClr val="172E32"/>
                </a:solidFill>
                <a:latin typeface="Helvetica Neue"/>
                <a:ea typeface="Helvetica Neue"/>
                <a:cs typeface="Helvetica Neue"/>
              </a:defRPr>
            </a:lvl5pPr>
            <a:lvl6pPr>
              <a:buNone/>
              <a:defRPr sz="2100" b="0">
                <a:solidFill>
                  <a:srgbClr val="172E32"/>
                </a:solidFill>
                <a:latin typeface="Helvetica Neue"/>
                <a:ea typeface="Helvetica Neue"/>
                <a:cs typeface="Helvetica Neue"/>
              </a:defRPr>
            </a:lvl6pPr>
            <a:lvl7pPr>
              <a:buNone/>
              <a:defRPr sz="2100" b="0">
                <a:solidFill>
                  <a:srgbClr val="172E32"/>
                </a:solidFill>
                <a:latin typeface="Helvetica Neue"/>
                <a:ea typeface="Helvetica Neue"/>
                <a:cs typeface="Helvetica Neue"/>
              </a:defRPr>
            </a:lvl7pPr>
            <a:lvl8pPr>
              <a:buNone/>
              <a:defRPr sz="2100" b="0">
                <a:solidFill>
                  <a:srgbClr val="172E32"/>
                </a:solidFill>
                <a:latin typeface="Helvetica Neue"/>
                <a:ea typeface="Helvetica Neue"/>
                <a:cs typeface="Helvetica Neue"/>
              </a:defRPr>
            </a:lvl8pPr>
            <a:lvl9pPr>
              <a:buNone/>
              <a:defRPr sz="2100" b="0">
                <a:solidFill>
                  <a:srgbClr val="172E32"/>
                </a:solidFill>
                <a:latin typeface="Helvetica Neue"/>
                <a:ea typeface="Helvetica Neue"/>
                <a:cs typeface="Helvetica Neue"/>
              </a:defRPr>
            </a:lvl9pPr>
          </a:lstStyle>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Eight model requests per review</a:t>
            </a:r>
          </a:p>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Read-only MCP tools</a:t>
            </a:r>
          </a:p>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Human approval before a file save</a:t>
            </a:r>
          </a:p>
        </p:txBody>
      </p:sp>
      <p:sp>
        <p:nvSpPr>
          <p:cNvPr id="8" name="">
            <a:extLst xmlns:a="http://schemas.openxmlformats.org/drawingml/2006/main">
              <a:ext uri="{FF2B5EF4-FFF2-40B4-BE49-F238E27FC236}">
                <a16:creationId xmlns:a16="http://schemas.microsoft.com/office/drawing/2014/main" id="{938BE7B1-3E2F-4C98-BF58-7B9694F6054E}"/>
              </a:ext>
            </a:extLst>
          </p:cNvPr>
          <p:cNvSpPr>
            <a:spLocks xmlns:a="http://schemas.openxmlformats.org/drawingml/2006/main" noGrp="1"/>
          </p:cNvSpPr>
          <p:nvPr/>
        </p:nvSpPr>
        <p:spPr>
          <a:xfrm xmlns:a="http://schemas.openxmlformats.org/drawingml/2006/main">
            <a:off x="723900" y="5238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57574"/>
                </a:solidFill>
                <a:latin typeface="Helvetica Neue"/>
                <a:ea typeface="Helvetica Neue"/>
                <a:cs typeface="Helvetica Neue"/>
              </a:defRPr>
            </a:defPPr>
            <a:lvl1pPr>
              <a:buNone/>
              <a:defRPr sz="1875" b="0">
                <a:solidFill>
                  <a:srgbClr val="657574"/>
                </a:solidFill>
                <a:latin typeface="Helvetica Neue"/>
                <a:ea typeface="Helvetica Neue"/>
                <a:cs typeface="Helvetica Neue"/>
              </a:defRPr>
            </a:lvl1pPr>
            <a:lvl2pPr>
              <a:buNone/>
              <a:defRPr sz="1875" b="0">
                <a:solidFill>
                  <a:srgbClr val="657574"/>
                </a:solidFill>
                <a:latin typeface="Helvetica Neue"/>
                <a:ea typeface="Helvetica Neue"/>
                <a:cs typeface="Helvetica Neue"/>
              </a:defRPr>
            </a:lvl2pPr>
            <a:lvl3pPr>
              <a:buNone/>
              <a:defRPr sz="1875" b="0">
                <a:solidFill>
                  <a:srgbClr val="657574"/>
                </a:solidFill>
                <a:latin typeface="Helvetica Neue"/>
                <a:ea typeface="Helvetica Neue"/>
                <a:cs typeface="Helvetica Neue"/>
              </a:defRPr>
            </a:lvl3pPr>
            <a:lvl4pPr>
              <a:buNone/>
              <a:defRPr sz="1875" b="0">
                <a:solidFill>
                  <a:srgbClr val="657574"/>
                </a:solidFill>
                <a:latin typeface="Helvetica Neue"/>
                <a:ea typeface="Helvetica Neue"/>
                <a:cs typeface="Helvetica Neue"/>
              </a:defRPr>
            </a:lvl4pPr>
            <a:lvl5pPr>
              <a:buNone/>
              <a:defRPr sz="1875" b="0">
                <a:solidFill>
                  <a:srgbClr val="657574"/>
                </a:solidFill>
                <a:latin typeface="Helvetica Neue"/>
                <a:ea typeface="Helvetica Neue"/>
                <a:cs typeface="Helvetica Neue"/>
              </a:defRPr>
            </a:lvl5pPr>
            <a:lvl6pPr>
              <a:buNone/>
              <a:defRPr sz="1875" b="0">
                <a:solidFill>
                  <a:srgbClr val="657574"/>
                </a:solidFill>
                <a:latin typeface="Helvetica Neue"/>
                <a:ea typeface="Helvetica Neue"/>
                <a:cs typeface="Helvetica Neue"/>
              </a:defRPr>
            </a:lvl6pPr>
            <a:lvl7pPr>
              <a:buNone/>
              <a:defRPr sz="1875" b="0">
                <a:solidFill>
                  <a:srgbClr val="657574"/>
                </a:solidFill>
                <a:latin typeface="Helvetica Neue"/>
                <a:ea typeface="Helvetica Neue"/>
                <a:cs typeface="Helvetica Neue"/>
              </a:defRPr>
            </a:lvl7pPr>
            <a:lvl8pPr>
              <a:buNone/>
              <a:defRPr sz="1875" b="0">
                <a:solidFill>
                  <a:srgbClr val="657574"/>
                </a:solidFill>
                <a:latin typeface="Helvetica Neue"/>
                <a:ea typeface="Helvetica Neue"/>
                <a:cs typeface="Helvetica Neue"/>
              </a:defRPr>
            </a:lvl8pPr>
            <a:lvl9pPr>
              <a:buNone/>
              <a:defRPr sz="1875" b="0">
                <a:solidFill>
                  <a:srgbClr val="657574"/>
                </a:solidFill>
                <a:latin typeface="Helvetica Neue"/>
                <a:ea typeface="Helvetica Neue"/>
                <a:cs typeface="Helvetica Neue"/>
              </a:defRPr>
            </a:lvl9pPr>
          </a:lstStyle>
          <a:p xmlns:a="http://schemas.openxmlformats.org/drawingml/2006/main">
            <a:pPr>
              <a:buNone/>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V2 loads and fingerprints the protocol before the first model request.</a:t>
            </a:r>
          </a:p>
          <a:p xmlns:a="http://schemas.openxmlformats.org/drawingml/2006/main">
            <a:pPr>
              <a:buNone/>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V1 remains frozen for its unfinished A/B evaluation.</a:t>
            </a:r>
          </a:p>
        </p:txBody>
      </p:sp>
    </p:spTree>
    <p:extLst>
      <p:ext uri="{BB962C8B-B14F-4D97-AF65-F5344CB8AC3E}">
        <p14:creationId xmlns:p14="http://schemas.microsoft.com/office/powerpoint/2010/main" val="642350540"/>
      </p:ext>
    </p:extLst>
  </p:cSld>
</p:sld>
</file>

<file path=ppt/slides/slide5.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96930F-5D34-423B-9430-8DB58B5C4267}"/>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buNone/>
              <a:defRPr sz="1125" b="1">
                <a:solidFill>
                  <a:srgbClr val="146B5F"/>
                </a:solidFill>
                <a:latin typeface="Helvetica Neue"/>
                <a:ea typeface="Helvetica Neue"/>
                <a:cs typeface="Helvetica Neue"/>
              </a:defRPr>
            </a:lvl1pPr>
            <a:lvl2pPr>
              <a:buNone/>
              <a:defRPr sz="1125" b="1">
                <a:solidFill>
                  <a:srgbClr val="146B5F"/>
                </a:solidFill>
                <a:latin typeface="Helvetica Neue"/>
                <a:ea typeface="Helvetica Neue"/>
                <a:cs typeface="Helvetica Neue"/>
              </a:defRPr>
            </a:lvl2pPr>
            <a:lvl3pPr>
              <a:buNone/>
              <a:defRPr sz="1125" b="1">
                <a:solidFill>
                  <a:srgbClr val="146B5F"/>
                </a:solidFill>
                <a:latin typeface="Helvetica Neue"/>
                <a:ea typeface="Helvetica Neue"/>
                <a:cs typeface="Helvetica Neue"/>
              </a:defRPr>
            </a:lvl3pPr>
            <a:lvl4pPr>
              <a:buNone/>
              <a:defRPr sz="1125" b="1">
                <a:solidFill>
                  <a:srgbClr val="146B5F"/>
                </a:solidFill>
                <a:latin typeface="Helvetica Neue"/>
                <a:ea typeface="Helvetica Neue"/>
                <a:cs typeface="Helvetica Neue"/>
              </a:defRPr>
            </a:lvl4pPr>
            <a:lvl5pPr>
              <a:buNone/>
              <a:defRPr sz="1125" b="1">
                <a:solidFill>
                  <a:srgbClr val="146B5F"/>
                </a:solidFill>
                <a:latin typeface="Helvetica Neue"/>
                <a:ea typeface="Helvetica Neue"/>
                <a:cs typeface="Helvetica Neue"/>
              </a:defRPr>
            </a:lvl5pPr>
            <a:lvl6pPr>
              <a:buNone/>
              <a:defRPr sz="1125" b="1">
                <a:solidFill>
                  <a:srgbClr val="146B5F"/>
                </a:solidFill>
                <a:latin typeface="Helvetica Neue"/>
                <a:ea typeface="Helvetica Neue"/>
                <a:cs typeface="Helvetica Neue"/>
              </a:defRPr>
            </a:lvl6pPr>
            <a:lvl7pPr>
              <a:buNone/>
              <a:defRPr sz="1125" b="1">
                <a:solidFill>
                  <a:srgbClr val="146B5F"/>
                </a:solidFill>
                <a:latin typeface="Helvetica Neue"/>
                <a:ea typeface="Helvetica Neue"/>
                <a:cs typeface="Helvetica Neue"/>
              </a:defRPr>
            </a:lvl7pPr>
            <a:lvl8pPr>
              <a:buNone/>
              <a:defRPr sz="1125" b="1">
                <a:solidFill>
                  <a:srgbClr val="146B5F"/>
                </a:solidFill>
                <a:latin typeface="Helvetica Neue"/>
                <a:ea typeface="Helvetica Neue"/>
                <a:cs typeface="Helvetica Neue"/>
              </a:defRPr>
            </a:lvl8pPr>
            <a:lvl9pPr>
              <a:buNone/>
              <a:defRPr sz="1125" b="1">
                <a:solidFill>
                  <a:srgbClr val="146B5F"/>
                </a:solidFill>
                <a:latin typeface="Helvetica Neue"/>
                <a:ea typeface="Helvetica Neue"/>
                <a:cs typeface="Helvetica Neue"/>
              </a:defRPr>
            </a:lvl9pPr>
          </a:lstStyle>
          <a:p xmlns:a="http://schemas.openxmlformats.org/drawingml/2006/main">
            <a:pPr>
              <a:buNone/>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562166DF-9C0C-4DD5-938B-0D97EDB46F58}"/>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buNone/>
              <a:defRPr sz="3825" b="0">
                <a:solidFill>
                  <a:srgbClr val="172E32"/>
                </a:solidFill>
                <a:latin typeface="Helvetica Neue"/>
                <a:ea typeface="Helvetica Neue"/>
                <a:cs typeface="Helvetica Neue"/>
              </a:defRPr>
            </a:lvl1pPr>
            <a:lvl2pPr>
              <a:buNone/>
              <a:defRPr sz="3825" b="0">
                <a:solidFill>
                  <a:srgbClr val="172E32"/>
                </a:solidFill>
                <a:latin typeface="Helvetica Neue"/>
                <a:ea typeface="Helvetica Neue"/>
                <a:cs typeface="Helvetica Neue"/>
              </a:defRPr>
            </a:lvl2pPr>
            <a:lvl3pPr>
              <a:buNone/>
              <a:defRPr sz="3825" b="0">
                <a:solidFill>
                  <a:srgbClr val="172E32"/>
                </a:solidFill>
                <a:latin typeface="Helvetica Neue"/>
                <a:ea typeface="Helvetica Neue"/>
                <a:cs typeface="Helvetica Neue"/>
              </a:defRPr>
            </a:lvl3pPr>
            <a:lvl4pPr>
              <a:buNone/>
              <a:defRPr sz="3825" b="0">
                <a:solidFill>
                  <a:srgbClr val="172E32"/>
                </a:solidFill>
                <a:latin typeface="Helvetica Neue"/>
                <a:ea typeface="Helvetica Neue"/>
                <a:cs typeface="Helvetica Neue"/>
              </a:defRPr>
            </a:lvl4pPr>
            <a:lvl5pPr>
              <a:buNone/>
              <a:defRPr sz="3825" b="0">
                <a:solidFill>
                  <a:srgbClr val="172E32"/>
                </a:solidFill>
                <a:latin typeface="Helvetica Neue"/>
                <a:ea typeface="Helvetica Neue"/>
                <a:cs typeface="Helvetica Neue"/>
              </a:defRPr>
            </a:lvl5pPr>
            <a:lvl6pPr>
              <a:buNone/>
              <a:defRPr sz="3825" b="0">
                <a:solidFill>
                  <a:srgbClr val="172E32"/>
                </a:solidFill>
                <a:latin typeface="Helvetica Neue"/>
                <a:ea typeface="Helvetica Neue"/>
                <a:cs typeface="Helvetica Neue"/>
              </a:defRPr>
            </a:lvl6pPr>
            <a:lvl7pPr>
              <a:buNone/>
              <a:defRPr sz="3825" b="0">
                <a:solidFill>
                  <a:srgbClr val="172E32"/>
                </a:solidFill>
                <a:latin typeface="Helvetica Neue"/>
                <a:ea typeface="Helvetica Neue"/>
                <a:cs typeface="Helvetica Neue"/>
              </a:defRPr>
            </a:lvl7pPr>
            <a:lvl8pPr>
              <a:buNone/>
              <a:defRPr sz="3825" b="0">
                <a:solidFill>
                  <a:srgbClr val="172E32"/>
                </a:solidFill>
                <a:latin typeface="Helvetica Neue"/>
                <a:ea typeface="Helvetica Neue"/>
                <a:cs typeface="Helvetica Neue"/>
              </a:defRPr>
            </a:lvl8pPr>
            <a:lvl9pPr>
              <a:buNone/>
              <a:defRPr sz="3825" b="0">
                <a:solidFill>
                  <a:srgbClr val="172E32"/>
                </a:solidFill>
                <a:latin typeface="Helvetica Neue"/>
                <a:ea typeface="Helvetica Neue"/>
                <a:cs typeface="Helvetica Neue"/>
              </a:defRPr>
            </a:lvl9pPr>
          </a:lstStyle>
          <a:p xmlns:a="http://schemas.openxmlformats.org/drawingml/2006/main">
            <a:pPr>
              <a:buNone/>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V1 evaluation coverage</a:t>
            </a:r>
          </a:p>
        </p:txBody>
      </p:sp>
      <p:sp>
        <p:nvSpPr>
          <p:cNvPr id="3" name="">
            <a:extLst xmlns:a="http://schemas.openxmlformats.org/drawingml/2006/main">
              <a:ext uri="{FF2B5EF4-FFF2-40B4-BE49-F238E27FC236}">
                <a16:creationId xmlns:a16="http://schemas.microsoft.com/office/drawing/2014/main" id="{3A6E5A24-5B5A-444A-AAB0-7A393EBB8B90}"/>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buNone/>
              <a:defRPr sz="1050" b="0">
                <a:solidFill>
                  <a:srgbClr val="657574"/>
                </a:solidFill>
                <a:latin typeface="Helvetica Neue"/>
                <a:ea typeface="Helvetica Neue"/>
                <a:cs typeface="Helvetica Neue"/>
              </a:defRPr>
            </a:lvl1pPr>
            <a:lvl2pPr>
              <a:buNone/>
              <a:defRPr sz="1050" b="0">
                <a:solidFill>
                  <a:srgbClr val="657574"/>
                </a:solidFill>
                <a:latin typeface="Helvetica Neue"/>
                <a:ea typeface="Helvetica Neue"/>
                <a:cs typeface="Helvetica Neue"/>
              </a:defRPr>
            </a:lvl2pPr>
            <a:lvl3pPr>
              <a:buNone/>
              <a:defRPr sz="1050" b="0">
                <a:solidFill>
                  <a:srgbClr val="657574"/>
                </a:solidFill>
                <a:latin typeface="Helvetica Neue"/>
                <a:ea typeface="Helvetica Neue"/>
                <a:cs typeface="Helvetica Neue"/>
              </a:defRPr>
            </a:lvl3pPr>
            <a:lvl4pPr>
              <a:buNone/>
              <a:defRPr sz="1050" b="0">
                <a:solidFill>
                  <a:srgbClr val="657574"/>
                </a:solidFill>
                <a:latin typeface="Helvetica Neue"/>
                <a:ea typeface="Helvetica Neue"/>
                <a:cs typeface="Helvetica Neue"/>
              </a:defRPr>
            </a:lvl4pPr>
            <a:lvl5pPr>
              <a:buNone/>
              <a:defRPr sz="1050" b="0">
                <a:solidFill>
                  <a:srgbClr val="657574"/>
                </a:solidFill>
                <a:latin typeface="Helvetica Neue"/>
                <a:ea typeface="Helvetica Neue"/>
                <a:cs typeface="Helvetica Neue"/>
              </a:defRPr>
            </a:lvl5pPr>
            <a:lvl6pPr>
              <a:buNone/>
              <a:defRPr sz="1050" b="0">
                <a:solidFill>
                  <a:srgbClr val="657574"/>
                </a:solidFill>
                <a:latin typeface="Helvetica Neue"/>
                <a:ea typeface="Helvetica Neue"/>
                <a:cs typeface="Helvetica Neue"/>
              </a:defRPr>
            </a:lvl6pPr>
            <a:lvl7pPr>
              <a:buNone/>
              <a:defRPr sz="1050" b="0">
                <a:solidFill>
                  <a:srgbClr val="657574"/>
                </a:solidFill>
                <a:latin typeface="Helvetica Neue"/>
                <a:ea typeface="Helvetica Neue"/>
                <a:cs typeface="Helvetica Neue"/>
              </a:defRPr>
            </a:lvl7pPr>
            <a:lvl8pPr>
              <a:buNone/>
              <a:defRPr sz="1050" b="0">
                <a:solidFill>
                  <a:srgbClr val="657574"/>
                </a:solidFill>
                <a:latin typeface="Helvetica Neue"/>
                <a:ea typeface="Helvetica Neue"/>
                <a:cs typeface="Helvetica Neue"/>
              </a:defRPr>
            </a:lvl8pPr>
            <a:lvl9pPr>
              <a:buNone/>
              <a:defRPr sz="1050" b="0">
                <a:solidFill>
                  <a:srgbClr val="657574"/>
                </a:solidFill>
                <a:latin typeface="Helvetica Neue"/>
                <a:ea typeface="Helvetica Neue"/>
                <a:cs typeface="Helvetica Neue"/>
              </a:defRPr>
            </a:lvl9pPr>
          </a:lstStyle>
          <a:p xmlns:a="http://schemas.openxmlformats.org/drawingml/2006/main">
            <a:pPr>
              <a:buNone/>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05</a:t>
            </a:r>
          </a:p>
        </p:txBody>
      </p:sp>
      <p:graphicFrame>
        <p:nvGraphicFramePr>
          <p:cNvPr id="4" name="">
            <a:extLst xmlns:a="http://schemas.openxmlformats.org/drawingml/2006/main">
              <a:ext uri="{FF2B5EF4-FFF2-40B4-BE49-F238E27FC236}">
                <a16:creationId xmlns:a16="http://schemas.microsoft.com/office/drawing/2014/main" id="{96C65365-3532-4848-9359-3AD882A1662A}"/>
              </a:ext>
            </a:extLst>
          </p:cNvPr>
          <p:cNvGraphicFramePr/>
          <p:nvPr/>
        </p:nvGraphicFramePr>
        <p:xfrm>
          <a:off xmlns:a="http://schemas.openxmlformats.org/drawingml/2006/main" x="723900" y="2143125"/>
          <a:ext xmlns:a="http://schemas.openxmlformats.org/drawingml/2006/main" cx="10744200" cy="2095500"/>
        </p:xfrm>
        <a:graphic xmlns:a="http://schemas.openxmlformats.org/drawingml/2006/main">
          <a:graphicData uri="http://schemas.openxmlformats.org/drawingml/2006/table">
            <a:tbl>
              <a:tblPr/>
              <a:tblGrid>
                <a:gridCol w="4914900"/>
                <a:gridCol w="1943100"/>
                <a:gridCol w="1943100"/>
                <a:gridCol w="1943100"/>
              </a:tblGrid>
              <a:tr h="698500">
                <a:tc>
                  <a:txBody>
                    <a:bodyPr/>
                    <a:lstStyle/>
                    <a:p>
                      <a:r>
                        <a:rPr sz="1875" b="1">
                          <a:solidFill>
                            <a:srgbClr val="FFFFFF"/>
                          </a:solidFill>
                          <a:latin typeface="Helvetica Neue"/>
                          <a:ea typeface="Helvetica Neue"/>
                          <a:cs typeface="Helvetica Neue"/>
                        </a:rPr>
                        <a:t>Reviewer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Executed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Passed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Pending</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8500">
                <a:tc>
                  <a:txBody>
                    <a:bodyPr/>
                    <a:lstStyle/>
                    <a:p>
                      <a:r>
                        <a:rPr sz="1875" b="0">
                          <a:solidFill>
                            <a:srgbClr val="172E32"/>
                          </a:solidFill>
                          <a:latin typeface="Helvetica Neue"/>
                          <a:ea typeface="Helvetica Neue"/>
                          <a:cs typeface="Helvetica Neue"/>
                        </a:rPr>
                        <a:t>A: base prompt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FFFFF"/>
                    </a:solidFill>
                  </a:tcPr>
                </a:tc>
              </a:tr>
              <a:tr h="698500">
                <a:tc>
                  <a:txBody>
                    <a:bodyPr/>
                    <a:lstStyle/>
                    <a:p>
                      <a:r>
                        <a:rPr sz="1875" b="0">
                          <a:solidFill>
                            <a:srgbClr val="172E32"/>
                          </a:solidFill>
                          <a:latin typeface="Helvetica Neue"/>
                          <a:ea typeface="Helvetica Neue"/>
                          <a:cs typeface="Helvetica Neue"/>
                        </a:rPr>
                        <a:t>B: procedure instruction</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5</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E1AEF1BD-C21E-4A15-AB2D-CEC3DE49ACA1}"/>
              </a:ext>
            </a:extLst>
          </p:cNvPr>
          <p:cNvSpPr>
            <a:spLocks xmlns:a="http://schemas.openxmlformats.org/drawingml/2006/main" noGrp="1"/>
          </p:cNvSpPr>
          <p:nvPr/>
        </p:nvSpPr>
        <p:spPr>
          <a:xfrm xmlns:a="http://schemas.openxmlformats.org/drawingml/2006/main">
            <a:off x="723900" y="4619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buNone/>
              <a:defRPr sz="2025" b="0">
                <a:solidFill>
                  <a:srgbClr val="657574"/>
                </a:solidFill>
                <a:latin typeface="Helvetica Neue"/>
                <a:ea typeface="Helvetica Neue"/>
                <a:cs typeface="Helvetica Neue"/>
              </a:defRPr>
            </a:lvl1pPr>
            <a:lvl2pPr>
              <a:buNone/>
              <a:defRPr sz="2025" b="0">
                <a:solidFill>
                  <a:srgbClr val="657574"/>
                </a:solidFill>
                <a:latin typeface="Helvetica Neue"/>
                <a:ea typeface="Helvetica Neue"/>
                <a:cs typeface="Helvetica Neue"/>
              </a:defRPr>
            </a:lvl2pPr>
            <a:lvl3pPr>
              <a:buNone/>
              <a:defRPr sz="2025" b="0">
                <a:solidFill>
                  <a:srgbClr val="657574"/>
                </a:solidFill>
                <a:latin typeface="Helvetica Neue"/>
                <a:ea typeface="Helvetica Neue"/>
                <a:cs typeface="Helvetica Neue"/>
              </a:defRPr>
            </a:lvl3pPr>
            <a:lvl4pPr>
              <a:buNone/>
              <a:defRPr sz="2025" b="0">
                <a:solidFill>
                  <a:srgbClr val="657574"/>
                </a:solidFill>
                <a:latin typeface="Helvetica Neue"/>
                <a:ea typeface="Helvetica Neue"/>
                <a:cs typeface="Helvetica Neue"/>
              </a:defRPr>
            </a:lvl4pPr>
            <a:lvl5pPr>
              <a:buNone/>
              <a:defRPr sz="2025" b="0">
                <a:solidFill>
                  <a:srgbClr val="657574"/>
                </a:solidFill>
                <a:latin typeface="Helvetica Neue"/>
                <a:ea typeface="Helvetica Neue"/>
                <a:cs typeface="Helvetica Neue"/>
              </a:defRPr>
            </a:lvl5pPr>
            <a:lvl6pPr>
              <a:buNone/>
              <a:defRPr sz="2025" b="0">
                <a:solidFill>
                  <a:srgbClr val="657574"/>
                </a:solidFill>
                <a:latin typeface="Helvetica Neue"/>
                <a:ea typeface="Helvetica Neue"/>
                <a:cs typeface="Helvetica Neue"/>
              </a:defRPr>
            </a:lvl6pPr>
            <a:lvl7pPr>
              <a:buNone/>
              <a:defRPr sz="2025" b="0">
                <a:solidFill>
                  <a:srgbClr val="657574"/>
                </a:solidFill>
                <a:latin typeface="Helvetica Neue"/>
                <a:ea typeface="Helvetica Neue"/>
                <a:cs typeface="Helvetica Neue"/>
              </a:defRPr>
            </a:lvl7pPr>
            <a:lvl8pPr>
              <a:buNone/>
              <a:defRPr sz="2025" b="0">
                <a:solidFill>
                  <a:srgbClr val="657574"/>
                </a:solidFill>
                <a:latin typeface="Helvetica Neue"/>
                <a:ea typeface="Helvetica Neue"/>
                <a:cs typeface="Helvetica Neue"/>
              </a:defRPr>
            </a:lvl8pPr>
            <a:lvl9pPr>
              <a:buNone/>
              <a:defRPr sz="2025" b="0">
                <a:solidFill>
                  <a:srgbClr val="657574"/>
                </a:solidFill>
                <a:latin typeface="Helvetica Neue"/>
                <a:ea typeface="Helvetica Neue"/>
                <a:cs typeface="Helvetica Neue"/>
              </a:defRPr>
            </a:lvl9pPr>
          </a:lstStyle>
          <a:p xmlns:a="http://schemas.openxmlformats.org/drawingml/2006/main">
            <a:pPr>
              <a:buNone/>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V1: 12 of 36 reviews executed. V2: 0 of 36 executed.</a:t>
            </a:r>
          </a:p>
          <a:p xmlns:a="http://schemas.openxmlformats.org/drawingml/2006/main">
            <a:pPr>
              <a:buNone/>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V2 live evaluation starts after the v1 suite finishes.</a:t>
            </a:r>
          </a:p>
        </p:txBody>
      </p:sp>
      <p:sp>
        <p:nvSpPr>
          <p:cNvPr id="6" name="">
            <a:extLst xmlns:a="http://schemas.openxmlformats.org/drawingml/2006/main">
              <a:ext uri="{FF2B5EF4-FFF2-40B4-BE49-F238E27FC236}">
                <a16:creationId xmlns:a16="http://schemas.microsoft.com/office/drawing/2014/main" id="{97B26179-93E9-4291-B519-96F5A1FB0F59}"/>
              </a:ext>
            </a:extLst>
          </p:cNvPr>
          <p:cNvSpPr>
            <a:spLocks xmlns:a="http://schemas.openxmlformats.org/drawingml/2006/main" noGrp="1"/>
          </p:cNvSpPr>
          <p:nvPr/>
        </p:nvSpPr>
        <p:spPr>
          <a:xfrm xmlns:a="http://schemas.openxmlformats.org/drawingml/2006/main">
            <a:off x="723900" y="561975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E32"/>
                </a:solidFill>
                <a:latin typeface="Helvetica Neue"/>
                <a:ea typeface="Helvetica Neue"/>
                <a:cs typeface="Helvetica Neue"/>
              </a:defRPr>
            </a:defPPr>
            <a:lvl1pPr>
              <a:buNone/>
              <a:defRPr sz="1800" b="0">
                <a:solidFill>
                  <a:srgbClr val="172E32"/>
                </a:solidFill>
                <a:latin typeface="Helvetica Neue"/>
                <a:ea typeface="Helvetica Neue"/>
                <a:cs typeface="Helvetica Neue"/>
              </a:defRPr>
            </a:lvl1pPr>
            <a:lvl2pPr>
              <a:buNone/>
              <a:defRPr sz="1800" b="0">
                <a:solidFill>
                  <a:srgbClr val="172E32"/>
                </a:solidFill>
                <a:latin typeface="Helvetica Neue"/>
                <a:ea typeface="Helvetica Neue"/>
                <a:cs typeface="Helvetica Neue"/>
              </a:defRPr>
            </a:lvl2pPr>
            <a:lvl3pPr>
              <a:buNone/>
              <a:defRPr sz="1800" b="0">
                <a:solidFill>
                  <a:srgbClr val="172E32"/>
                </a:solidFill>
                <a:latin typeface="Helvetica Neue"/>
                <a:ea typeface="Helvetica Neue"/>
                <a:cs typeface="Helvetica Neue"/>
              </a:defRPr>
            </a:lvl3pPr>
            <a:lvl4pPr>
              <a:buNone/>
              <a:defRPr sz="1800" b="0">
                <a:solidFill>
                  <a:srgbClr val="172E32"/>
                </a:solidFill>
                <a:latin typeface="Helvetica Neue"/>
                <a:ea typeface="Helvetica Neue"/>
                <a:cs typeface="Helvetica Neue"/>
              </a:defRPr>
            </a:lvl4pPr>
            <a:lvl5pPr>
              <a:buNone/>
              <a:defRPr sz="1800" b="0">
                <a:solidFill>
                  <a:srgbClr val="172E32"/>
                </a:solidFill>
                <a:latin typeface="Helvetica Neue"/>
                <a:ea typeface="Helvetica Neue"/>
                <a:cs typeface="Helvetica Neue"/>
              </a:defRPr>
            </a:lvl5pPr>
            <a:lvl6pPr>
              <a:buNone/>
              <a:defRPr sz="1800" b="0">
                <a:solidFill>
                  <a:srgbClr val="172E32"/>
                </a:solidFill>
                <a:latin typeface="Helvetica Neue"/>
                <a:ea typeface="Helvetica Neue"/>
                <a:cs typeface="Helvetica Neue"/>
              </a:defRPr>
            </a:lvl6pPr>
            <a:lvl7pPr>
              <a:buNone/>
              <a:defRPr sz="1800" b="0">
                <a:solidFill>
                  <a:srgbClr val="172E32"/>
                </a:solidFill>
                <a:latin typeface="Helvetica Neue"/>
                <a:ea typeface="Helvetica Neue"/>
                <a:cs typeface="Helvetica Neue"/>
              </a:defRPr>
            </a:lvl7pPr>
            <a:lvl8pPr>
              <a:buNone/>
              <a:defRPr sz="1800" b="0">
                <a:solidFill>
                  <a:srgbClr val="172E32"/>
                </a:solidFill>
                <a:latin typeface="Helvetica Neue"/>
                <a:ea typeface="Helvetica Neue"/>
                <a:cs typeface="Helvetica Neue"/>
              </a:defRPr>
            </a:lvl8pPr>
            <a:lvl9pPr>
              <a:buNone/>
              <a:defRPr sz="1800" b="0">
                <a:solidFill>
                  <a:srgbClr val="172E32"/>
                </a:solidFill>
                <a:latin typeface="Helvetica Neue"/>
                <a:ea typeface="Helvetica Neue"/>
                <a:cs typeface="Helvetica Neue"/>
              </a:defRPr>
            </a:lvl9pPr>
          </a:lstStyle>
          <a:p xmlns:a="http://schemas.openxmlformats.org/drawingml/2006/main">
            <a:pPr>
              <a:buNone/>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B omitted the required comparison tool in one case.</a:t>
            </a:r>
          </a:p>
          <a:p xmlns:a="http://schemas.openxmlformats.org/drawingml/2006/main">
            <a:pPr>
              <a:buNone/>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The numerical delta was correct. No general improvement is established.</a:t>
            </a:r>
          </a:p>
        </p:txBody>
      </p:sp>
    </p:spTree>
    <p:extLst>
      <p:ext uri="{BB962C8B-B14F-4D97-AF65-F5344CB8AC3E}">
        <p14:creationId xmlns:p14="http://schemas.microsoft.com/office/powerpoint/2010/main" val="1143506176"/>
      </p:ext>
    </p:extLst>
  </p:cSld>
</p:sld>
</file>

<file path=ppt/slides/slide6.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4E0C8-06CE-4C1E-A14F-4E62CB5167FC}"/>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buNone/>
              <a:defRPr sz="1125" b="1">
                <a:solidFill>
                  <a:srgbClr val="146B5F"/>
                </a:solidFill>
                <a:latin typeface="Helvetica Neue"/>
                <a:ea typeface="Helvetica Neue"/>
                <a:cs typeface="Helvetica Neue"/>
              </a:defRPr>
            </a:lvl1pPr>
            <a:lvl2pPr>
              <a:buNone/>
              <a:defRPr sz="1125" b="1">
                <a:solidFill>
                  <a:srgbClr val="146B5F"/>
                </a:solidFill>
                <a:latin typeface="Helvetica Neue"/>
                <a:ea typeface="Helvetica Neue"/>
                <a:cs typeface="Helvetica Neue"/>
              </a:defRPr>
            </a:lvl2pPr>
            <a:lvl3pPr>
              <a:buNone/>
              <a:defRPr sz="1125" b="1">
                <a:solidFill>
                  <a:srgbClr val="146B5F"/>
                </a:solidFill>
                <a:latin typeface="Helvetica Neue"/>
                <a:ea typeface="Helvetica Neue"/>
                <a:cs typeface="Helvetica Neue"/>
              </a:defRPr>
            </a:lvl3pPr>
            <a:lvl4pPr>
              <a:buNone/>
              <a:defRPr sz="1125" b="1">
                <a:solidFill>
                  <a:srgbClr val="146B5F"/>
                </a:solidFill>
                <a:latin typeface="Helvetica Neue"/>
                <a:ea typeface="Helvetica Neue"/>
                <a:cs typeface="Helvetica Neue"/>
              </a:defRPr>
            </a:lvl4pPr>
            <a:lvl5pPr>
              <a:buNone/>
              <a:defRPr sz="1125" b="1">
                <a:solidFill>
                  <a:srgbClr val="146B5F"/>
                </a:solidFill>
                <a:latin typeface="Helvetica Neue"/>
                <a:ea typeface="Helvetica Neue"/>
                <a:cs typeface="Helvetica Neue"/>
              </a:defRPr>
            </a:lvl5pPr>
            <a:lvl6pPr>
              <a:buNone/>
              <a:defRPr sz="1125" b="1">
                <a:solidFill>
                  <a:srgbClr val="146B5F"/>
                </a:solidFill>
                <a:latin typeface="Helvetica Neue"/>
                <a:ea typeface="Helvetica Neue"/>
                <a:cs typeface="Helvetica Neue"/>
              </a:defRPr>
            </a:lvl6pPr>
            <a:lvl7pPr>
              <a:buNone/>
              <a:defRPr sz="1125" b="1">
                <a:solidFill>
                  <a:srgbClr val="146B5F"/>
                </a:solidFill>
                <a:latin typeface="Helvetica Neue"/>
                <a:ea typeface="Helvetica Neue"/>
                <a:cs typeface="Helvetica Neue"/>
              </a:defRPr>
            </a:lvl7pPr>
            <a:lvl8pPr>
              <a:buNone/>
              <a:defRPr sz="1125" b="1">
                <a:solidFill>
                  <a:srgbClr val="146B5F"/>
                </a:solidFill>
                <a:latin typeface="Helvetica Neue"/>
                <a:ea typeface="Helvetica Neue"/>
                <a:cs typeface="Helvetica Neue"/>
              </a:defRPr>
            </a:lvl8pPr>
            <a:lvl9pPr>
              <a:buNone/>
              <a:defRPr sz="1125" b="1">
                <a:solidFill>
                  <a:srgbClr val="146B5F"/>
                </a:solidFill>
                <a:latin typeface="Helvetica Neue"/>
                <a:ea typeface="Helvetica Neue"/>
                <a:cs typeface="Helvetica Neue"/>
              </a:defRPr>
            </a:lvl9pPr>
          </a:lstStyle>
          <a:p xmlns:a="http://schemas.openxmlformats.org/drawingml/2006/main">
            <a:pPr>
              <a:buNone/>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6B4C4CF1-EB8D-4C1F-BCD8-3AB49D220EFF}"/>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buNone/>
              <a:defRPr sz="3825" b="0">
                <a:solidFill>
                  <a:srgbClr val="172E32"/>
                </a:solidFill>
                <a:latin typeface="Helvetica Neue"/>
                <a:ea typeface="Helvetica Neue"/>
                <a:cs typeface="Helvetica Neue"/>
              </a:defRPr>
            </a:lvl1pPr>
            <a:lvl2pPr>
              <a:buNone/>
              <a:defRPr sz="3825" b="0">
                <a:solidFill>
                  <a:srgbClr val="172E32"/>
                </a:solidFill>
                <a:latin typeface="Helvetica Neue"/>
                <a:ea typeface="Helvetica Neue"/>
                <a:cs typeface="Helvetica Neue"/>
              </a:defRPr>
            </a:lvl2pPr>
            <a:lvl3pPr>
              <a:buNone/>
              <a:defRPr sz="3825" b="0">
                <a:solidFill>
                  <a:srgbClr val="172E32"/>
                </a:solidFill>
                <a:latin typeface="Helvetica Neue"/>
                <a:ea typeface="Helvetica Neue"/>
                <a:cs typeface="Helvetica Neue"/>
              </a:defRPr>
            </a:lvl3pPr>
            <a:lvl4pPr>
              <a:buNone/>
              <a:defRPr sz="3825" b="0">
                <a:solidFill>
                  <a:srgbClr val="172E32"/>
                </a:solidFill>
                <a:latin typeface="Helvetica Neue"/>
                <a:ea typeface="Helvetica Neue"/>
                <a:cs typeface="Helvetica Neue"/>
              </a:defRPr>
            </a:lvl4pPr>
            <a:lvl5pPr>
              <a:buNone/>
              <a:defRPr sz="3825" b="0">
                <a:solidFill>
                  <a:srgbClr val="172E32"/>
                </a:solidFill>
                <a:latin typeface="Helvetica Neue"/>
                <a:ea typeface="Helvetica Neue"/>
                <a:cs typeface="Helvetica Neue"/>
              </a:defRPr>
            </a:lvl5pPr>
            <a:lvl6pPr>
              <a:buNone/>
              <a:defRPr sz="3825" b="0">
                <a:solidFill>
                  <a:srgbClr val="172E32"/>
                </a:solidFill>
                <a:latin typeface="Helvetica Neue"/>
                <a:ea typeface="Helvetica Neue"/>
                <a:cs typeface="Helvetica Neue"/>
              </a:defRPr>
            </a:lvl6pPr>
            <a:lvl7pPr>
              <a:buNone/>
              <a:defRPr sz="3825" b="0">
                <a:solidFill>
                  <a:srgbClr val="172E32"/>
                </a:solidFill>
                <a:latin typeface="Helvetica Neue"/>
                <a:ea typeface="Helvetica Neue"/>
                <a:cs typeface="Helvetica Neue"/>
              </a:defRPr>
            </a:lvl7pPr>
            <a:lvl8pPr>
              <a:buNone/>
              <a:defRPr sz="3825" b="0">
                <a:solidFill>
                  <a:srgbClr val="172E32"/>
                </a:solidFill>
                <a:latin typeface="Helvetica Neue"/>
                <a:ea typeface="Helvetica Neue"/>
                <a:cs typeface="Helvetica Neue"/>
              </a:defRPr>
            </a:lvl8pPr>
            <a:lvl9pPr>
              <a:buNone/>
              <a:defRPr sz="3825" b="0">
                <a:solidFill>
                  <a:srgbClr val="172E32"/>
                </a:solidFill>
                <a:latin typeface="Helvetica Neue"/>
                <a:ea typeface="Helvetica Neue"/>
                <a:cs typeface="Helvetica Neue"/>
              </a:defRPr>
            </a:lvl9pPr>
          </a:lstStyle>
          <a:p xmlns:a="http://schemas.openxmlformats.org/drawingml/2006/main">
            <a:pPr>
              <a:buNone/>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Security evidence and remaining work</a:t>
            </a:r>
          </a:p>
        </p:txBody>
      </p:sp>
      <p:sp>
        <p:nvSpPr>
          <p:cNvPr id="3" name="">
            <a:extLst xmlns:a="http://schemas.openxmlformats.org/drawingml/2006/main">
              <a:ext uri="{FF2B5EF4-FFF2-40B4-BE49-F238E27FC236}">
                <a16:creationId xmlns:a16="http://schemas.microsoft.com/office/drawing/2014/main" id="{A5286729-4AFE-4FEB-B098-15D922ECD50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buNone/>
              <a:defRPr sz="1050" b="0">
                <a:solidFill>
                  <a:srgbClr val="657574"/>
                </a:solidFill>
                <a:latin typeface="Helvetica Neue"/>
                <a:ea typeface="Helvetica Neue"/>
                <a:cs typeface="Helvetica Neue"/>
              </a:defRPr>
            </a:lvl1pPr>
            <a:lvl2pPr>
              <a:buNone/>
              <a:defRPr sz="1050" b="0">
                <a:solidFill>
                  <a:srgbClr val="657574"/>
                </a:solidFill>
                <a:latin typeface="Helvetica Neue"/>
                <a:ea typeface="Helvetica Neue"/>
                <a:cs typeface="Helvetica Neue"/>
              </a:defRPr>
            </a:lvl2pPr>
            <a:lvl3pPr>
              <a:buNone/>
              <a:defRPr sz="1050" b="0">
                <a:solidFill>
                  <a:srgbClr val="657574"/>
                </a:solidFill>
                <a:latin typeface="Helvetica Neue"/>
                <a:ea typeface="Helvetica Neue"/>
                <a:cs typeface="Helvetica Neue"/>
              </a:defRPr>
            </a:lvl3pPr>
            <a:lvl4pPr>
              <a:buNone/>
              <a:defRPr sz="1050" b="0">
                <a:solidFill>
                  <a:srgbClr val="657574"/>
                </a:solidFill>
                <a:latin typeface="Helvetica Neue"/>
                <a:ea typeface="Helvetica Neue"/>
                <a:cs typeface="Helvetica Neue"/>
              </a:defRPr>
            </a:lvl4pPr>
            <a:lvl5pPr>
              <a:buNone/>
              <a:defRPr sz="1050" b="0">
                <a:solidFill>
                  <a:srgbClr val="657574"/>
                </a:solidFill>
                <a:latin typeface="Helvetica Neue"/>
                <a:ea typeface="Helvetica Neue"/>
                <a:cs typeface="Helvetica Neue"/>
              </a:defRPr>
            </a:lvl5pPr>
            <a:lvl6pPr>
              <a:buNone/>
              <a:defRPr sz="1050" b="0">
                <a:solidFill>
                  <a:srgbClr val="657574"/>
                </a:solidFill>
                <a:latin typeface="Helvetica Neue"/>
                <a:ea typeface="Helvetica Neue"/>
                <a:cs typeface="Helvetica Neue"/>
              </a:defRPr>
            </a:lvl6pPr>
            <a:lvl7pPr>
              <a:buNone/>
              <a:defRPr sz="1050" b="0">
                <a:solidFill>
                  <a:srgbClr val="657574"/>
                </a:solidFill>
                <a:latin typeface="Helvetica Neue"/>
                <a:ea typeface="Helvetica Neue"/>
                <a:cs typeface="Helvetica Neue"/>
              </a:defRPr>
            </a:lvl7pPr>
            <a:lvl8pPr>
              <a:buNone/>
              <a:defRPr sz="1050" b="0">
                <a:solidFill>
                  <a:srgbClr val="657574"/>
                </a:solidFill>
                <a:latin typeface="Helvetica Neue"/>
                <a:ea typeface="Helvetica Neue"/>
                <a:cs typeface="Helvetica Neue"/>
              </a:defRPr>
            </a:lvl8pPr>
            <a:lvl9pPr>
              <a:buNone/>
              <a:defRPr sz="1050" b="0">
                <a:solidFill>
                  <a:srgbClr val="657574"/>
                </a:solidFill>
                <a:latin typeface="Helvetica Neue"/>
                <a:ea typeface="Helvetica Neue"/>
                <a:cs typeface="Helvetica Neue"/>
              </a:defRPr>
            </a:lvl9pPr>
          </a:lstStyle>
          <a:p xmlns:a="http://schemas.openxmlformats.org/drawingml/2006/main">
            <a:pPr>
              <a:buNone/>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404AD047-CB35-44EC-9B4E-C65EF180D538}"/>
              </a:ext>
            </a:extLst>
          </p:cNvPr>
          <p:cNvSpPr>
            <a:spLocks xmlns:a="http://schemas.openxmlformats.org/drawingml/2006/main" noGrp="1"/>
          </p:cNvSpPr>
          <p:nvPr/>
        </p:nvSpPr>
        <p:spPr>
          <a:xfrm xmlns:a="http://schemas.openxmlformats.org/drawingml/2006/main">
            <a:off x="723900" y="20955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buNone/>
              <a:defRPr sz="2325" b="1">
                <a:solidFill>
                  <a:srgbClr val="146B5F"/>
                </a:solidFill>
                <a:latin typeface="Helvetica Neue"/>
                <a:ea typeface="Helvetica Neue"/>
                <a:cs typeface="Helvetica Neue"/>
              </a:defRPr>
            </a:lvl1pPr>
            <a:lvl2pPr>
              <a:buNone/>
              <a:defRPr sz="2325" b="1">
                <a:solidFill>
                  <a:srgbClr val="146B5F"/>
                </a:solidFill>
                <a:latin typeface="Helvetica Neue"/>
                <a:ea typeface="Helvetica Neue"/>
                <a:cs typeface="Helvetica Neue"/>
              </a:defRPr>
            </a:lvl2pPr>
            <a:lvl3pPr>
              <a:buNone/>
              <a:defRPr sz="2325" b="1">
                <a:solidFill>
                  <a:srgbClr val="146B5F"/>
                </a:solidFill>
                <a:latin typeface="Helvetica Neue"/>
                <a:ea typeface="Helvetica Neue"/>
                <a:cs typeface="Helvetica Neue"/>
              </a:defRPr>
            </a:lvl3pPr>
            <a:lvl4pPr>
              <a:buNone/>
              <a:defRPr sz="2325" b="1">
                <a:solidFill>
                  <a:srgbClr val="146B5F"/>
                </a:solidFill>
                <a:latin typeface="Helvetica Neue"/>
                <a:ea typeface="Helvetica Neue"/>
                <a:cs typeface="Helvetica Neue"/>
              </a:defRPr>
            </a:lvl4pPr>
            <a:lvl5pPr>
              <a:buNone/>
              <a:defRPr sz="2325" b="1">
                <a:solidFill>
                  <a:srgbClr val="146B5F"/>
                </a:solidFill>
                <a:latin typeface="Helvetica Neue"/>
                <a:ea typeface="Helvetica Neue"/>
                <a:cs typeface="Helvetica Neue"/>
              </a:defRPr>
            </a:lvl5pPr>
            <a:lvl6pPr>
              <a:buNone/>
              <a:defRPr sz="2325" b="1">
                <a:solidFill>
                  <a:srgbClr val="146B5F"/>
                </a:solidFill>
                <a:latin typeface="Helvetica Neue"/>
                <a:ea typeface="Helvetica Neue"/>
                <a:cs typeface="Helvetica Neue"/>
              </a:defRPr>
            </a:lvl6pPr>
            <a:lvl7pPr>
              <a:buNone/>
              <a:defRPr sz="2325" b="1">
                <a:solidFill>
                  <a:srgbClr val="146B5F"/>
                </a:solidFill>
                <a:latin typeface="Helvetica Neue"/>
                <a:ea typeface="Helvetica Neue"/>
                <a:cs typeface="Helvetica Neue"/>
              </a:defRPr>
            </a:lvl7pPr>
            <a:lvl8pPr>
              <a:buNone/>
              <a:defRPr sz="2325" b="1">
                <a:solidFill>
                  <a:srgbClr val="146B5F"/>
                </a:solidFill>
                <a:latin typeface="Helvetica Neue"/>
                <a:ea typeface="Helvetica Neue"/>
                <a:cs typeface="Helvetica Neue"/>
              </a:defRPr>
            </a:lvl8pPr>
            <a:lvl9pPr>
              <a:buNone/>
              <a:defRPr sz="2325" b="1">
                <a:solidFill>
                  <a:srgbClr val="146B5F"/>
                </a:solidFill>
                <a:latin typeface="Helvetica Neue"/>
                <a:ea typeface="Helvetica Neue"/>
                <a:cs typeface="Helvetica Neue"/>
              </a:defRPr>
            </a:lvl9pPr>
          </a:lstStyle>
          <a:p xmlns:a="http://schemas.openxmlformats.org/drawingml/2006/main">
            <a:pPr>
              <a:buNone/>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Observed v1 live attack</a:t>
            </a:r>
          </a:p>
        </p:txBody>
      </p:sp>
      <p:sp>
        <p:nvSpPr>
          <p:cNvPr id="5" name="">
            <a:extLst xmlns:a="http://schemas.openxmlformats.org/drawingml/2006/main">
              <a:ext uri="{FF2B5EF4-FFF2-40B4-BE49-F238E27FC236}">
                <a16:creationId xmlns:a16="http://schemas.microsoft.com/office/drawing/2014/main" id="{BEB55FAD-90FE-4713-AF19-962E1EF972F4}"/>
              </a:ext>
            </a:extLst>
          </p:cNvPr>
          <p:cNvSpPr>
            <a:spLocks xmlns:a="http://schemas.openxmlformats.org/drawingml/2006/main" noGrp="1"/>
          </p:cNvSpPr>
          <p:nvPr/>
        </p:nvSpPr>
        <p:spPr>
          <a:xfrm xmlns:a="http://schemas.openxmlformats.org/drawingml/2006/main">
            <a:off x="723900" y="26670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E32"/>
                </a:solidFill>
                <a:latin typeface="Helvetica Neue"/>
                <a:ea typeface="Helvetica Neue"/>
                <a:cs typeface="Helvetica Neue"/>
              </a:defRPr>
            </a:defPPr>
            <a:lvl1pPr>
              <a:buNone/>
              <a:defRPr sz="2175" b="0">
                <a:solidFill>
                  <a:srgbClr val="172E32"/>
                </a:solidFill>
                <a:latin typeface="Helvetica Neue"/>
                <a:ea typeface="Helvetica Neue"/>
                <a:cs typeface="Helvetica Neue"/>
              </a:defRPr>
            </a:lvl1pPr>
            <a:lvl2pPr>
              <a:buNone/>
              <a:defRPr sz="2175" b="0">
                <a:solidFill>
                  <a:srgbClr val="172E32"/>
                </a:solidFill>
                <a:latin typeface="Helvetica Neue"/>
                <a:ea typeface="Helvetica Neue"/>
                <a:cs typeface="Helvetica Neue"/>
              </a:defRPr>
            </a:lvl2pPr>
            <a:lvl3pPr>
              <a:buNone/>
              <a:defRPr sz="2175" b="0">
                <a:solidFill>
                  <a:srgbClr val="172E32"/>
                </a:solidFill>
                <a:latin typeface="Helvetica Neue"/>
                <a:ea typeface="Helvetica Neue"/>
                <a:cs typeface="Helvetica Neue"/>
              </a:defRPr>
            </a:lvl3pPr>
            <a:lvl4pPr>
              <a:buNone/>
              <a:defRPr sz="2175" b="0">
                <a:solidFill>
                  <a:srgbClr val="172E32"/>
                </a:solidFill>
                <a:latin typeface="Helvetica Neue"/>
                <a:ea typeface="Helvetica Neue"/>
                <a:cs typeface="Helvetica Neue"/>
              </a:defRPr>
            </a:lvl4pPr>
            <a:lvl5pPr>
              <a:buNone/>
              <a:defRPr sz="2175" b="0">
                <a:solidFill>
                  <a:srgbClr val="172E32"/>
                </a:solidFill>
                <a:latin typeface="Helvetica Neue"/>
                <a:ea typeface="Helvetica Neue"/>
                <a:cs typeface="Helvetica Neue"/>
              </a:defRPr>
            </a:lvl5pPr>
            <a:lvl6pPr>
              <a:buNone/>
              <a:defRPr sz="2175" b="0">
                <a:solidFill>
                  <a:srgbClr val="172E32"/>
                </a:solidFill>
                <a:latin typeface="Helvetica Neue"/>
                <a:ea typeface="Helvetica Neue"/>
                <a:cs typeface="Helvetica Neue"/>
              </a:defRPr>
            </a:lvl6pPr>
            <a:lvl7pPr>
              <a:buNone/>
              <a:defRPr sz="2175" b="0">
                <a:solidFill>
                  <a:srgbClr val="172E32"/>
                </a:solidFill>
                <a:latin typeface="Helvetica Neue"/>
                <a:ea typeface="Helvetica Neue"/>
                <a:cs typeface="Helvetica Neue"/>
              </a:defRPr>
            </a:lvl7pPr>
            <a:lvl8pPr>
              <a:buNone/>
              <a:defRPr sz="2175" b="0">
                <a:solidFill>
                  <a:srgbClr val="172E32"/>
                </a:solidFill>
                <a:latin typeface="Helvetica Neue"/>
                <a:ea typeface="Helvetica Neue"/>
                <a:cs typeface="Helvetica Neue"/>
              </a:defRPr>
            </a:lvl8pPr>
            <a:lvl9pPr>
              <a:buNone/>
              <a:defRPr sz="2175" b="0">
                <a:solidFill>
                  <a:srgbClr val="172E32"/>
                </a:solidFill>
                <a:latin typeface="Helvetica Neue"/>
                <a:ea typeface="Helvetica Neue"/>
                <a:cs typeface="Helvetica Neue"/>
              </a:defRPr>
            </a:lvl9pPr>
          </a:lstStyle>
          <a:p xmlns:a="http://schemas.openxmlformats.org/drawingml/2006/main">
            <a:pPr>
              <a:buNone/>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A run note requested an out-of-root save and an approval bypass.</a:t>
            </a:r>
          </a:p>
          <a:p xmlns:a="http://schemas.openxmlformats.org/drawingml/2006/main">
            <a:pPr>
              <a:buNone/>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The live reviewer reported it and created no action or file.</a:t>
            </a:r>
          </a:p>
        </p:txBody>
      </p:sp>
      <p:sp>
        <p:nvSpPr>
          <p:cNvPr id="6" name="">
            <a:extLst xmlns:a="http://schemas.openxmlformats.org/drawingml/2006/main">
              <a:ext uri="{FF2B5EF4-FFF2-40B4-BE49-F238E27FC236}">
                <a16:creationId xmlns:a16="http://schemas.microsoft.com/office/drawing/2014/main" id="{2740694C-2A75-42EA-A20E-97384109DD9F}"/>
              </a:ext>
            </a:extLst>
          </p:cNvPr>
          <p:cNvSpPr>
            <a:spLocks xmlns:a="http://schemas.openxmlformats.org/drawingml/2006/main" noGrp="1"/>
          </p:cNvSpPr>
          <p:nvPr/>
        </p:nvSpPr>
        <p:spPr>
          <a:xfrm xmlns:a="http://schemas.openxmlformats.org/drawingml/2006/main">
            <a:off x="723900" y="39052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buNone/>
              <a:defRPr sz="2325" b="1">
                <a:solidFill>
                  <a:srgbClr val="146B5F"/>
                </a:solidFill>
                <a:latin typeface="Helvetica Neue"/>
                <a:ea typeface="Helvetica Neue"/>
                <a:cs typeface="Helvetica Neue"/>
              </a:defRPr>
            </a:lvl1pPr>
            <a:lvl2pPr>
              <a:buNone/>
              <a:defRPr sz="2325" b="1">
                <a:solidFill>
                  <a:srgbClr val="146B5F"/>
                </a:solidFill>
                <a:latin typeface="Helvetica Neue"/>
                <a:ea typeface="Helvetica Neue"/>
                <a:cs typeface="Helvetica Neue"/>
              </a:defRPr>
            </a:lvl2pPr>
            <a:lvl3pPr>
              <a:buNone/>
              <a:defRPr sz="2325" b="1">
                <a:solidFill>
                  <a:srgbClr val="146B5F"/>
                </a:solidFill>
                <a:latin typeface="Helvetica Neue"/>
                <a:ea typeface="Helvetica Neue"/>
                <a:cs typeface="Helvetica Neue"/>
              </a:defRPr>
            </a:lvl3pPr>
            <a:lvl4pPr>
              <a:buNone/>
              <a:defRPr sz="2325" b="1">
                <a:solidFill>
                  <a:srgbClr val="146B5F"/>
                </a:solidFill>
                <a:latin typeface="Helvetica Neue"/>
                <a:ea typeface="Helvetica Neue"/>
                <a:cs typeface="Helvetica Neue"/>
              </a:defRPr>
            </a:lvl4pPr>
            <a:lvl5pPr>
              <a:buNone/>
              <a:defRPr sz="2325" b="1">
                <a:solidFill>
                  <a:srgbClr val="146B5F"/>
                </a:solidFill>
                <a:latin typeface="Helvetica Neue"/>
                <a:ea typeface="Helvetica Neue"/>
                <a:cs typeface="Helvetica Neue"/>
              </a:defRPr>
            </a:lvl5pPr>
            <a:lvl6pPr>
              <a:buNone/>
              <a:defRPr sz="2325" b="1">
                <a:solidFill>
                  <a:srgbClr val="146B5F"/>
                </a:solidFill>
                <a:latin typeface="Helvetica Neue"/>
                <a:ea typeface="Helvetica Neue"/>
                <a:cs typeface="Helvetica Neue"/>
              </a:defRPr>
            </a:lvl6pPr>
            <a:lvl7pPr>
              <a:buNone/>
              <a:defRPr sz="2325" b="1">
                <a:solidFill>
                  <a:srgbClr val="146B5F"/>
                </a:solidFill>
                <a:latin typeface="Helvetica Neue"/>
                <a:ea typeface="Helvetica Neue"/>
                <a:cs typeface="Helvetica Neue"/>
              </a:defRPr>
            </a:lvl7pPr>
            <a:lvl8pPr>
              <a:buNone/>
              <a:defRPr sz="2325" b="1">
                <a:solidFill>
                  <a:srgbClr val="146B5F"/>
                </a:solidFill>
                <a:latin typeface="Helvetica Neue"/>
                <a:ea typeface="Helvetica Neue"/>
                <a:cs typeface="Helvetica Neue"/>
              </a:defRPr>
            </a:lvl8pPr>
            <a:lvl9pPr>
              <a:buNone/>
              <a:defRPr sz="2325" b="1">
                <a:solidFill>
                  <a:srgbClr val="146B5F"/>
                </a:solidFill>
                <a:latin typeface="Helvetica Neue"/>
                <a:ea typeface="Helvetica Neue"/>
                <a:cs typeface="Helvetica Neue"/>
              </a:defRPr>
            </a:lvl9pPr>
          </a:lstStyle>
          <a:p xmlns:a="http://schemas.openxmlformats.org/drawingml/2006/main">
            <a:pPr>
              <a:buNone/>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Code-enforced boundary</a:t>
            </a:r>
          </a:p>
        </p:txBody>
      </p:sp>
      <p:sp>
        <p:nvSpPr>
          <p:cNvPr id="7" name="">
            <a:extLst xmlns:a="http://schemas.openxmlformats.org/drawingml/2006/main">
              <a:ext uri="{FF2B5EF4-FFF2-40B4-BE49-F238E27FC236}">
                <a16:creationId xmlns:a16="http://schemas.microsoft.com/office/drawing/2014/main" id="{223261A5-4F22-4786-B89D-5B5C61957AB6}"/>
              </a:ext>
            </a:extLst>
          </p:cNvPr>
          <p:cNvSpPr>
            <a:spLocks xmlns:a="http://schemas.openxmlformats.org/drawingml/2006/main" noGrp="1"/>
          </p:cNvSpPr>
          <p:nvPr/>
        </p:nvSpPr>
        <p:spPr>
          <a:xfrm xmlns:a="http://schemas.openxmlformats.org/drawingml/2006/main">
            <a:off x="723900" y="44767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buNone/>
              <a:defRPr sz="2100" b="0">
                <a:solidFill>
                  <a:srgbClr val="172E32"/>
                </a:solidFill>
                <a:latin typeface="Helvetica Neue"/>
                <a:ea typeface="Helvetica Neue"/>
                <a:cs typeface="Helvetica Neue"/>
              </a:defRPr>
            </a:lvl1pPr>
            <a:lvl2pPr>
              <a:buNone/>
              <a:defRPr sz="2100" b="0">
                <a:solidFill>
                  <a:srgbClr val="172E32"/>
                </a:solidFill>
                <a:latin typeface="Helvetica Neue"/>
                <a:ea typeface="Helvetica Neue"/>
                <a:cs typeface="Helvetica Neue"/>
              </a:defRPr>
            </a:lvl2pPr>
            <a:lvl3pPr>
              <a:buNone/>
              <a:defRPr sz="2100" b="0">
                <a:solidFill>
                  <a:srgbClr val="172E32"/>
                </a:solidFill>
                <a:latin typeface="Helvetica Neue"/>
                <a:ea typeface="Helvetica Neue"/>
                <a:cs typeface="Helvetica Neue"/>
              </a:defRPr>
            </a:lvl3pPr>
            <a:lvl4pPr>
              <a:buNone/>
              <a:defRPr sz="2100" b="0">
                <a:solidFill>
                  <a:srgbClr val="172E32"/>
                </a:solidFill>
                <a:latin typeface="Helvetica Neue"/>
                <a:ea typeface="Helvetica Neue"/>
                <a:cs typeface="Helvetica Neue"/>
              </a:defRPr>
            </a:lvl4pPr>
            <a:lvl5pPr>
              <a:buNone/>
              <a:defRPr sz="2100" b="0">
                <a:solidFill>
                  <a:srgbClr val="172E32"/>
                </a:solidFill>
                <a:latin typeface="Helvetica Neue"/>
                <a:ea typeface="Helvetica Neue"/>
                <a:cs typeface="Helvetica Neue"/>
              </a:defRPr>
            </a:lvl5pPr>
            <a:lvl6pPr>
              <a:buNone/>
              <a:defRPr sz="2100" b="0">
                <a:solidFill>
                  <a:srgbClr val="172E32"/>
                </a:solidFill>
                <a:latin typeface="Helvetica Neue"/>
                <a:ea typeface="Helvetica Neue"/>
                <a:cs typeface="Helvetica Neue"/>
              </a:defRPr>
            </a:lvl6pPr>
            <a:lvl7pPr>
              <a:buNone/>
              <a:defRPr sz="2100" b="0">
                <a:solidFill>
                  <a:srgbClr val="172E32"/>
                </a:solidFill>
                <a:latin typeface="Helvetica Neue"/>
                <a:ea typeface="Helvetica Neue"/>
                <a:cs typeface="Helvetica Neue"/>
              </a:defRPr>
            </a:lvl7pPr>
            <a:lvl8pPr>
              <a:buNone/>
              <a:defRPr sz="2100" b="0">
                <a:solidFill>
                  <a:srgbClr val="172E32"/>
                </a:solidFill>
                <a:latin typeface="Helvetica Neue"/>
                <a:ea typeface="Helvetica Neue"/>
                <a:cs typeface="Helvetica Neue"/>
              </a:defRPr>
            </a:lvl8pPr>
            <a:lvl9pPr>
              <a:buNone/>
              <a:defRPr sz="2100" b="0">
                <a:solidFill>
                  <a:srgbClr val="172E32"/>
                </a:solidFill>
                <a:latin typeface="Helvetica Neue"/>
                <a:ea typeface="Helvetica Neue"/>
                <a:cs typeface="Helvetica Neue"/>
              </a:defRPr>
            </a:lvl9pPr>
          </a:lstStyle>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Handler tests reject path fields, changed digests and foreign sessions.</a:t>
            </a:r>
          </a:p>
          <a:p xmlns:a="http://schemas.openxmlformats.org/drawingml/2006/main">
            <a:pPr>
              <a:buNone/>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A valid approval saves exactly one reviewed specification.</a:t>
            </a:r>
          </a:p>
        </p:txBody>
      </p:sp>
      <p:sp>
        <p:nvSpPr>
          <p:cNvPr id="8" name="">
            <a:extLst xmlns:a="http://schemas.openxmlformats.org/drawingml/2006/main">
              <a:ext uri="{FF2B5EF4-FFF2-40B4-BE49-F238E27FC236}">
                <a16:creationId xmlns:a16="http://schemas.microsoft.com/office/drawing/2014/main" id="{7DE5F599-0750-424E-9A34-170EB8CB189A}"/>
              </a:ext>
            </a:extLst>
          </p:cNvPr>
          <p:cNvSpPr>
            <a:spLocks xmlns:a="http://schemas.openxmlformats.org/drawingml/2006/main" noGrp="1"/>
          </p:cNvSpPr>
          <p:nvPr/>
        </p:nvSpPr>
        <p:spPr>
          <a:xfrm xmlns:a="http://schemas.openxmlformats.org/drawingml/2006/main">
            <a:off x="723900" y="5810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buNone/>
              <a:defRPr sz="1725" b="0">
                <a:solidFill>
                  <a:srgbClr val="657574"/>
                </a:solidFill>
                <a:latin typeface="Helvetica Neue"/>
                <a:ea typeface="Helvetica Neue"/>
                <a:cs typeface="Helvetica Neue"/>
              </a:defRPr>
            </a:lvl1pPr>
            <a:lvl2pPr>
              <a:buNone/>
              <a:defRPr sz="1725" b="0">
                <a:solidFill>
                  <a:srgbClr val="657574"/>
                </a:solidFill>
                <a:latin typeface="Helvetica Neue"/>
                <a:ea typeface="Helvetica Neue"/>
                <a:cs typeface="Helvetica Neue"/>
              </a:defRPr>
            </a:lvl2pPr>
            <a:lvl3pPr>
              <a:buNone/>
              <a:defRPr sz="1725" b="0">
                <a:solidFill>
                  <a:srgbClr val="657574"/>
                </a:solidFill>
                <a:latin typeface="Helvetica Neue"/>
                <a:ea typeface="Helvetica Neue"/>
                <a:cs typeface="Helvetica Neue"/>
              </a:defRPr>
            </a:lvl3pPr>
            <a:lvl4pPr>
              <a:buNone/>
              <a:defRPr sz="1725" b="0">
                <a:solidFill>
                  <a:srgbClr val="657574"/>
                </a:solidFill>
                <a:latin typeface="Helvetica Neue"/>
                <a:ea typeface="Helvetica Neue"/>
                <a:cs typeface="Helvetica Neue"/>
              </a:defRPr>
            </a:lvl4pPr>
            <a:lvl5pPr>
              <a:buNone/>
              <a:defRPr sz="1725" b="0">
                <a:solidFill>
                  <a:srgbClr val="657574"/>
                </a:solidFill>
                <a:latin typeface="Helvetica Neue"/>
                <a:ea typeface="Helvetica Neue"/>
                <a:cs typeface="Helvetica Neue"/>
              </a:defRPr>
            </a:lvl5pPr>
            <a:lvl6pPr>
              <a:buNone/>
              <a:defRPr sz="1725" b="0">
                <a:solidFill>
                  <a:srgbClr val="657574"/>
                </a:solidFill>
                <a:latin typeface="Helvetica Neue"/>
                <a:ea typeface="Helvetica Neue"/>
                <a:cs typeface="Helvetica Neue"/>
              </a:defRPr>
            </a:lvl6pPr>
            <a:lvl7pPr>
              <a:buNone/>
              <a:defRPr sz="1725" b="0">
                <a:solidFill>
                  <a:srgbClr val="657574"/>
                </a:solidFill>
                <a:latin typeface="Helvetica Neue"/>
                <a:ea typeface="Helvetica Neue"/>
                <a:cs typeface="Helvetica Neue"/>
              </a:defRPr>
            </a:lvl7pPr>
            <a:lvl8pPr>
              <a:buNone/>
              <a:defRPr sz="1725" b="0">
                <a:solidFill>
                  <a:srgbClr val="657574"/>
                </a:solidFill>
                <a:latin typeface="Helvetica Neue"/>
                <a:ea typeface="Helvetica Neue"/>
                <a:cs typeface="Helvetica Neue"/>
              </a:defRPr>
            </a:lvl8pPr>
            <a:lvl9pPr>
              <a:buNone/>
              <a:defRPr sz="1725" b="0">
                <a:solidFill>
                  <a:srgbClr val="657574"/>
                </a:solidFill>
                <a:latin typeface="Helvetica Neue"/>
                <a:ea typeface="Helvetica Neue"/>
                <a:cs typeface="Helvetica Neue"/>
              </a:defRPr>
            </a:lvl9pPr>
          </a:lstStyle>
          <a:p xmlns:a="http://schemas.openxmlformats.org/drawingml/2006/main">
            <a:pPr>
              <a:buNone/>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56 automated checks pass. Live v2 evaluation remains pending.</a:t>
            </a:r>
          </a:p>
          <a:p xmlns:a="http://schemas.openxmlformats.org/drawingml/2006/main">
            <a:pPr>
              <a:buNone/>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Further validation depends on provider quota and real exports.</a:t>
            </a:r>
          </a:p>
        </p:txBody>
      </p:sp>
    </p:spTree>
    <p:extLst>
      <p:ext uri="{BB962C8B-B14F-4D97-AF65-F5344CB8AC3E}">
        <p14:creationId xmlns:p14="http://schemas.microsoft.com/office/powerpoint/2010/main" val="19389412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Slides>6</ns0:Slides>
  <ns0:Notes>6</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title>ModelCheck Capstone</dc:title>
  <ns2:created xsi:type="dcterms:W3CDTF">2026-10-28T19:56:18.0230000Z</ns2:created>
  <ns2:modified xsi:type="dcterms:W3CDTF">2026-10-28T19:56:18.0230000Z</ns2:modified>
</ns0:coreProperties>
</file>