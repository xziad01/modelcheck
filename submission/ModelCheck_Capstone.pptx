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2c1ae31e7e04eae" /><Relationship Type="http://schemas.openxmlformats.org/officeDocument/2006/relationships/extended-properties" Target="/docProps/app.xml" Id="R6583e43c2e0b49b0" /><Relationship Type="http://schemas.openxmlformats.org/officeDocument/2006/relationships/officeDocument" Target="/ppt/presentation.xml" Id="Rb09f46957c584bad" /></Relationships>
</file>

<file path=ppt/presentation.xml><?xml version="1.0" encoding="utf-8"?>
<p:presentation xmlns:p="http://schemas.openxmlformats.org/presentationml/2006/main">
  <p:sldMasterIdLst>
    <p:sldMasterId xmlns:r="http://schemas.openxmlformats.org/officeDocument/2006/relationships" id="2147483648" r:id="Rd33c0ad5d53244a3"/>
  </p:sldMasterIdLst>
  <p:notesMasterIdLst>
    <p:notesMasterId xmlns:r="http://schemas.openxmlformats.org/officeDocument/2006/relationships" r:id="R54469332d01a433a"/>
  </p:notesMasterIdLst>
  <p:sldIdLst>
    <p:sldId xmlns:r="http://schemas.openxmlformats.org/officeDocument/2006/relationships" id="256" r:id="R4c278f22be134218"/>
    <p:sldId xmlns:r="http://schemas.openxmlformats.org/officeDocument/2006/relationships" id="257" r:id="Rad79a83ed2c44d63"/>
    <p:sldId xmlns:r="http://schemas.openxmlformats.org/officeDocument/2006/relationships" id="258" r:id="Ra36bd4482c384836"/>
    <p:sldId xmlns:r="http://schemas.openxmlformats.org/officeDocument/2006/relationships" id="259" r:id="R637c42f78f32486e"/>
    <p:sldId xmlns:r="http://schemas.openxmlformats.org/officeDocument/2006/relationships" id="260" r:id="R863296f6b9fd411e"/>
    <p:sldId xmlns:r="http://schemas.openxmlformats.org/officeDocument/2006/relationships" id="261" r:id="R51bad7754bf541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c21ed6de46e4e2a" /><Relationship Type="http://schemas.openxmlformats.org/officeDocument/2006/relationships/slideMaster" Target="/ppt/slideMasters/slideMaster1.xml" Id="Rd33c0ad5d53244a3" /><Relationship Type="http://schemas.openxmlformats.org/officeDocument/2006/relationships/notesMaster" Target="/ppt/notesMasters/notesMaster1.xml" Id="R54469332d01a433a" /><Relationship Type="http://schemas.openxmlformats.org/officeDocument/2006/relationships/presProps" Target="/ppt/presProps.xml" Id="Rf4b89fdbaa454bc2" /><Relationship Type="http://schemas.openxmlformats.org/officeDocument/2006/relationships/tableStyles" Target="/ppt/tableStyles.xml" Id="Rc3e0ced33c5d46fd" /><Relationship Type="http://schemas.openxmlformats.org/officeDocument/2006/relationships/slide" Target="/ppt/slides/slide1.xml" Id="R4c278f22be134218" /><Relationship Type="http://schemas.openxmlformats.org/officeDocument/2006/relationships/slide" Target="/ppt/slides/slide2.xml" Id="Rad79a83ed2c44d63" /><Relationship Type="http://schemas.openxmlformats.org/officeDocument/2006/relationships/slide" Target="/ppt/slides/slide3.xml" Id="Ra36bd4482c384836" /><Relationship Type="http://schemas.openxmlformats.org/officeDocument/2006/relationships/slide" Target="/ppt/slides/slide4.xml" Id="R637c42f78f32486e" /><Relationship Type="http://schemas.openxmlformats.org/officeDocument/2006/relationships/slide" Target="/ppt/slides/slide5.xml" Id="R863296f6b9fd411e" /><Relationship Type="http://schemas.openxmlformats.org/officeDocument/2006/relationships/slide" Target="/ppt/slides/slide6.xml" Id="R51bad7754bf541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167bcea89d45a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9c32a67b214bbf" /><Relationship Type="http://schemas.openxmlformats.org/officeDocument/2006/relationships/notesMaster" Target="/ppt/notesMasters/notesMaster1.xml" Id="Rfc0a582045e044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e18028e9f64d13" /><Relationship Type="http://schemas.openxmlformats.org/officeDocument/2006/relationships/notesMaster" Target="/ppt/notesMasters/notesMaster1.xml" Id="Re9764d3d125646db" /></Relationships>
</file>

<file path=ppt/notesSlides/_rels/notesSlide3.xml.rels>&#65279;<?xml version="1.0" encoding="utf-8"?><Relationships xmlns="http://schemas.openxmlformats.org/package/2006/relationships"><Relationship Type="http://schemas.openxmlformats.org/officeDocument/2006/relationships/slide" Target="/ppt/slides/slide3.xml" Id="R6ad1d660eb054405" /><Relationship Type="http://schemas.openxmlformats.org/officeDocument/2006/relationships/notesMaster" Target="/ppt/notesMasters/notesMaster1.xml" Id="Rc405f096cd69486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bbd325e38d46d5" /><Relationship Type="http://schemas.openxmlformats.org/officeDocument/2006/relationships/notesMaster" Target="/ppt/notesMasters/notesMaster1.xml" Id="R4f19f130900d41e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c2fe5ae9ccf4a68" /><Relationship Type="http://schemas.openxmlformats.org/officeDocument/2006/relationships/notesMaster" Target="/ppt/notesMasters/notesMaster1.xml" Id="R3e56cb3507584edc" /></Relationships>
</file>

<file path=ppt/notesSlides/_rels/notesSlide6.xml.rels>&#65279;<?xml version="1.0" encoding="utf-8"?><Relationships xmlns="http://schemas.openxmlformats.org/package/2006/relationships"><Relationship Type="http://schemas.openxmlformats.org/officeDocument/2006/relationships/slide" Target="/ppt/slides/slide6.xml" Id="Rcc0faddf49f74edd" /><Relationship Type="http://schemas.openxmlformats.org/officeDocument/2006/relationships/notesMaster" Target="/ppt/notesMasters/notesMaster1.xml" Id="R2add76ab58c249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developers can report a good aggregate score while missing source-specific errors, incomplete coverage or unreliable provenance. This is a portfolio prototype built with Codex assistance. Sources: README.md; ../labs/capstone/README.md. Do not claim independent ownership before reviewing the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demonstration: load sample, inspect source rows, select recorded AI review if quota is constrained, draft a validation-only follow-up, reject or approve. Source: samples.py and data.py; baseline counts tn18 fp2 fn2 tp18, candidate tn19 fp1 fn5 tp15. Descriptive comparison only, no causal or significance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source: app.py, bridge.py, mcp_server.py and store.py. Four tools actually run across stdio MCP. The runtime has no shell or arbitrary URL tool. Local UI does not imply local inference. ModelCheck posts bounded tool results to OpenRouter.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agent.py, store.py, skills/review-experiment/SKILL.md and submission/traces. Additional caps: 16 tool executions, 1200 output tokens/call, 30000 cumulative reported tokens, 180 seconds and USD0.05 estimated cost. One early development run hit the token budget and is not a completed evaluation. No LangGraph or multi-agent requirement applies to this Track 2 capstone.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submission/summary.json, A.csv, B.csv and matched-comparison-B trace. Eighteen frozen tasks exist. Only six paired tasks ran. B used two compute_metrics calls, produced -5 percentage points, and skipped compare_runs; tool-compliance and comparison-outcome graders failed. Review the grader boundary before concluding that the answer was wrong. Retain the recorded failure rather than changing gold tasks. Both configurations share the same code-enforced safety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submission/security/live-attack.json, SECURITY.md, tests/test_core.py and tests/test_agent.py. The live attack took two requests and called inspect_manifest only. Model refusal for one fixture does not prove universal injection resistance. Mandatory live security/action evaluation rows remain pending. UI approval and handler positive controls exercised actual saved JSON. No production or legal compliance certification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791746b06eb4b0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8c40f217d1942a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8234ff908947c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cf3dee1a8cf4ef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376d9a59fe74cb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887a0c01dab4f8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6F0632F-9780-4103-A8F1-67205177607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5DDB0FD-816A-4F32-96FD-DAE4EFFFC02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E636742-5FE7-4FBA-8D41-19F4FF0EE92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DAA371-FC07-403D-967B-DC0532AF073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BBD6DE0-A161-4B2A-896D-2B67ED0F023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5023577-90FB-4BC8-B4D8-5F2AD43BC65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D611E03-0A12-4906-8A50-66D8FD49505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A5EDFF4-A471-44C1-8D23-72F7E3DE6DC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77A8AE-DD8E-431E-89D7-E7067131B1A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8810E5-30F2-4EF0-9B90-4AA3B3A84E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83d44d76a844749" /><Relationship Type="http://schemas.openxmlformats.org/officeDocument/2006/relationships/slideLayout" Target="/ppt/slideLayouts/slideLayout1.xml" Id="R6972f56274524351" /><Relationship Type="http://schemas.openxmlformats.org/officeDocument/2006/relationships/slideLayout" Target="/ppt/slideLayouts/slideLayout2.xml" Id="R0073c363d10d40a7" /><Relationship Type="http://schemas.openxmlformats.org/officeDocument/2006/relationships/slideLayout" Target="/ppt/slideLayouts/slideLayout3.xml" Id="Rb268fded58874d2b" /><Relationship Type="http://schemas.openxmlformats.org/officeDocument/2006/relationships/slideLayout" Target="/ppt/slideLayouts/slideLayout4.xml" Id="Rf7dca0b18dbc4f98" /><Relationship Type="http://schemas.openxmlformats.org/officeDocument/2006/relationships/slideLayout" Target="/ppt/slideLayouts/slideLayout5.xml" Id="R06a49d04c6704720" /><Relationship Type="http://schemas.openxmlformats.org/officeDocument/2006/relationships/slideLayout" Target="/ppt/slideLayouts/slideLayout6.xml" Id="Rc784817b24ff4ea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72f56274524351"/>
    <p:sldLayoutId xmlns:r="http://schemas.openxmlformats.org/officeDocument/2006/relationships" id="2147483650" r:id="R0073c363d10d40a7"/>
    <p:sldLayoutId xmlns:r="http://schemas.openxmlformats.org/officeDocument/2006/relationships" id="2147483651" r:id="Rb268fded58874d2b"/>
    <p:sldLayoutId xmlns:r="http://schemas.openxmlformats.org/officeDocument/2006/relationships" id="2147483652" r:id="Rf7dca0b18dbc4f98"/>
    <p:sldLayoutId xmlns:r="http://schemas.openxmlformats.org/officeDocument/2006/relationships" id="2147483653" r:id="R06a49d04c6704720"/>
    <p:sldLayoutId xmlns:r="http://schemas.openxmlformats.org/officeDocument/2006/relationships" id="2147483654" r:id="Rc784817b24ff4ea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8f200e346f14eea" /><Relationship Type="http://schemas.openxmlformats.org/officeDocument/2006/relationships/notesSlide" Target="/ppt/notesSlides/notesSlide1.xml" Id="R79e7dc81f36141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fea243af17440b0" /><Relationship Type="http://schemas.openxmlformats.org/officeDocument/2006/relationships/notesSlide" Target="/ppt/notesSlides/notesSlide2.xml" Id="R8a6440f83bea4f3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eeac298381b443a" /><Relationship Type="http://schemas.openxmlformats.org/officeDocument/2006/relationships/notesSlide" Target="/ppt/notesSlides/notesSlide3.xml" Id="Rb44df02a5474483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07647ad8bde4cb5" /><Relationship Type="http://schemas.openxmlformats.org/officeDocument/2006/relationships/notesSlide" Target="/ppt/notesSlides/notesSlide4.xml" Id="R3cee4cfb9b6e42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cae0b6e9918465b" /><Relationship Type="http://schemas.openxmlformats.org/officeDocument/2006/relationships/notesSlide" Target="/ppt/notesSlides/notesSlide5.xml" Id="R4020810296b0435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fc0c51b4c1948c5" /><Relationship Type="http://schemas.openxmlformats.org/officeDocument/2006/relationships/notesSlide" Target="/ppt/notesSlides/notesSlide6.xml" Id="R08ac318afb32461d" /></Relationships>
</file>

<file path=ppt/slides/slide1.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5677B34-7FD3-4261-8A4B-3E4C3D681E23}"/>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B2F85672-FE56-4F57-9B47-A0E437C30C33}"/>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ModelCheck</a:t>
            </a:r>
          </a:p>
        </p:txBody>
      </p:sp>
      <p:sp>
        <p:nvSpPr>
          <p:cNvPr id="3" name="">
            <a:extLst xmlns:a="http://schemas.openxmlformats.org/drawingml/2006/main">
              <a:ext uri="{FF2B5EF4-FFF2-40B4-BE49-F238E27FC236}">
                <a16:creationId xmlns:a16="http://schemas.microsoft.com/office/drawing/2014/main" id="{9C89C339-2113-435C-8AE0-5A9F02FAA01C}"/>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29ADA8B4-D597-418D-A720-BEA5B706444D}"/>
              </a:ext>
            </a:extLst>
          </p:cNvPr>
          <p:cNvSpPr>
            <a:spLocks xmlns:a="http://schemas.openxmlformats.org/drawingml/2006/main" noGrp="1"/>
          </p:cNvSpPr>
          <p:nvPr/>
        </p:nvSpPr>
        <p:spPr>
          <a:xfrm xmlns:a="http://schemas.openxmlformats.org/drawingml/2006/main">
            <a:off x="723900" y="2286000"/>
            <a:ext cx="952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0">
                <a:solidFill>
                  <a:srgbClr val="146B5F"/>
                </a:solidFill>
                <a:latin typeface="Helvetica Neue"/>
                <a:ea typeface="Helvetica Neue"/>
                <a:cs typeface="Helvetica Neue"/>
              </a:defRPr>
            </a:defPPr>
            <a:lvl1pPr>
              <a:defRPr sz="3675" b="0">
                <a:solidFill>
                  <a:srgbClr val="146B5F"/>
                </a:solidFill>
                <a:latin typeface="Helvetica Neue"/>
                <a:ea typeface="Helvetica Neue"/>
                <a:cs typeface="Helvetica Neue"/>
              </a:defRPr>
            </a:lvl1pPr>
            <a:lvl2pPr>
              <a:defRPr sz="3675" b="0">
                <a:solidFill>
                  <a:srgbClr val="146B5F"/>
                </a:solidFill>
                <a:latin typeface="Helvetica Neue"/>
                <a:ea typeface="Helvetica Neue"/>
                <a:cs typeface="Helvetica Neue"/>
              </a:defRPr>
            </a:lvl2pPr>
            <a:lvl3pPr>
              <a:defRPr sz="3675" b="0">
                <a:solidFill>
                  <a:srgbClr val="146B5F"/>
                </a:solidFill>
                <a:latin typeface="Helvetica Neue"/>
                <a:ea typeface="Helvetica Neue"/>
                <a:cs typeface="Helvetica Neue"/>
              </a:defRPr>
            </a:lvl3pPr>
            <a:lvl4pPr>
              <a:defRPr sz="3675" b="0">
                <a:solidFill>
                  <a:srgbClr val="146B5F"/>
                </a:solidFill>
                <a:latin typeface="Helvetica Neue"/>
                <a:ea typeface="Helvetica Neue"/>
                <a:cs typeface="Helvetica Neue"/>
              </a:defRPr>
            </a:lvl4pPr>
            <a:lvl5pPr>
              <a:defRPr sz="3675" b="0">
                <a:solidFill>
                  <a:srgbClr val="146B5F"/>
                </a:solidFill>
                <a:latin typeface="Helvetica Neue"/>
                <a:ea typeface="Helvetica Neue"/>
                <a:cs typeface="Helvetica Neue"/>
              </a:defRPr>
            </a:lvl5pPr>
            <a:lvl6pPr>
              <a:defRPr sz="3675" b="0">
                <a:solidFill>
                  <a:srgbClr val="146B5F"/>
                </a:solidFill>
                <a:latin typeface="Helvetica Neue"/>
                <a:ea typeface="Helvetica Neue"/>
                <a:cs typeface="Helvetica Neue"/>
              </a:defRPr>
            </a:lvl6pPr>
            <a:lvl7pPr>
              <a:defRPr sz="3675" b="0">
                <a:solidFill>
                  <a:srgbClr val="146B5F"/>
                </a:solidFill>
                <a:latin typeface="Helvetica Neue"/>
                <a:ea typeface="Helvetica Neue"/>
                <a:cs typeface="Helvetica Neue"/>
              </a:defRPr>
            </a:lvl7pPr>
            <a:lvl8pPr>
              <a:defRPr sz="3675" b="0">
                <a:solidFill>
                  <a:srgbClr val="146B5F"/>
                </a:solidFill>
                <a:latin typeface="Helvetica Neue"/>
                <a:ea typeface="Helvetica Neue"/>
                <a:cs typeface="Helvetica Neue"/>
              </a:defRPr>
            </a:lvl8pPr>
            <a:lvl9pPr>
              <a:defRPr sz="3675" b="0">
                <a:solidFill>
                  <a:srgbClr val="146B5F"/>
                </a:solidFill>
                <a:latin typeface="Helvetica Neue"/>
                <a:ea typeface="Helvetica Neue"/>
                <a:cs typeface="Helvetica Neue"/>
              </a:defRPr>
            </a:lvl9pPr>
          </a:lstStyle>
          <a:p xmlns:a="http://schemas.openxmlformats.org/drawingml/2006/main">
            <a:pPr>
              <a:defRPr sz="3675" b="0">
                <a:solidFill>
                  <a:srgbClr val="146B5F"/>
                </a:solidFill>
                <a:latin typeface="Helvetica Neue"/>
                <a:ea typeface="Helvetica Neue"/>
                <a:cs typeface="Helvetica Neue"/>
              </a:defRPr>
            </a:pPr>
            <a:r>
              <a:rPr sz="3675" b="0">
                <a:solidFill>
                  <a:srgbClr val="146B5F"/>
                </a:solidFill>
                <a:latin typeface="Helvetica Neue"/>
                <a:ea typeface="Helvetica Neue"/>
                <a:cs typeface="Helvetica Neue"/>
              </a:rPr>
              <a:t>An agent for reviewing</a:t>
            </a:r>
          </a:p>
          <a:p xmlns:a="http://schemas.openxmlformats.org/drawingml/2006/main">
            <a:pPr>
              <a:defRPr sz="3675" b="0">
                <a:solidFill>
                  <a:srgbClr val="146B5F"/>
                </a:solidFill>
                <a:latin typeface="Helvetica Neue"/>
                <a:ea typeface="Helvetica Neue"/>
                <a:cs typeface="Helvetica Neue"/>
              </a:defRPr>
            </a:pPr>
            <a:r>
              <a:rPr sz="3675" b="0">
                <a:solidFill>
                  <a:srgbClr val="146B5F"/>
                </a:solidFill>
                <a:latin typeface="Helvetica Neue"/>
                <a:ea typeface="Helvetica Neue"/>
                <a:cs typeface="Helvetica Neue"/>
              </a:rPr>
              <a:t>classification experiments</a:t>
            </a:r>
          </a:p>
        </p:txBody>
      </p:sp>
      <p:sp>
        <p:nvSpPr>
          <p:cNvPr id="5" name="">
            <a:extLst xmlns:a="http://schemas.openxmlformats.org/drawingml/2006/main">
              <a:ext uri="{FF2B5EF4-FFF2-40B4-BE49-F238E27FC236}">
                <a16:creationId xmlns:a16="http://schemas.microsoft.com/office/drawing/2014/main" id="{3384232B-23B6-4FA3-BDC8-CB9A9F2CB0B5}"/>
              </a:ext>
            </a:extLst>
          </p:cNvPr>
          <p:cNvSpPr>
            <a:spLocks xmlns:a="http://schemas.openxmlformats.org/drawingml/2006/main" noGrp="1"/>
          </p:cNvSpPr>
          <p:nvPr/>
        </p:nvSpPr>
        <p:spPr>
          <a:xfrm xmlns:a="http://schemas.openxmlformats.org/drawingml/2006/main">
            <a:off x="723900" y="4648200"/>
            <a:ext cx="9048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57574"/>
                </a:solidFill>
                <a:latin typeface="Helvetica Neue"/>
                <a:ea typeface="Helvetica Neue"/>
                <a:cs typeface="Helvetica Neue"/>
              </a:defRPr>
            </a:defPPr>
            <a:lvl1pPr>
              <a:defRPr sz="2025" b="0">
                <a:solidFill>
                  <a:srgbClr val="657574"/>
                </a:solidFill>
                <a:latin typeface="Helvetica Neue"/>
                <a:ea typeface="Helvetica Neue"/>
                <a:cs typeface="Helvetica Neue"/>
              </a:defRPr>
            </a:lvl1pPr>
            <a:lvl2pPr>
              <a:defRPr sz="2025" b="0">
                <a:solidFill>
                  <a:srgbClr val="657574"/>
                </a:solidFill>
                <a:latin typeface="Helvetica Neue"/>
                <a:ea typeface="Helvetica Neue"/>
                <a:cs typeface="Helvetica Neue"/>
              </a:defRPr>
            </a:lvl2pPr>
            <a:lvl3pPr>
              <a:defRPr sz="2025" b="0">
                <a:solidFill>
                  <a:srgbClr val="657574"/>
                </a:solidFill>
                <a:latin typeface="Helvetica Neue"/>
                <a:ea typeface="Helvetica Neue"/>
                <a:cs typeface="Helvetica Neue"/>
              </a:defRPr>
            </a:lvl3pPr>
            <a:lvl4pPr>
              <a:defRPr sz="2025" b="0">
                <a:solidFill>
                  <a:srgbClr val="657574"/>
                </a:solidFill>
                <a:latin typeface="Helvetica Neue"/>
                <a:ea typeface="Helvetica Neue"/>
                <a:cs typeface="Helvetica Neue"/>
              </a:defRPr>
            </a:lvl4pPr>
            <a:lvl5pPr>
              <a:defRPr sz="2025" b="0">
                <a:solidFill>
                  <a:srgbClr val="657574"/>
                </a:solidFill>
                <a:latin typeface="Helvetica Neue"/>
                <a:ea typeface="Helvetica Neue"/>
                <a:cs typeface="Helvetica Neue"/>
              </a:defRPr>
            </a:lvl5pPr>
            <a:lvl6pPr>
              <a:defRPr sz="2025" b="0">
                <a:solidFill>
                  <a:srgbClr val="657574"/>
                </a:solidFill>
                <a:latin typeface="Helvetica Neue"/>
                <a:ea typeface="Helvetica Neue"/>
                <a:cs typeface="Helvetica Neue"/>
              </a:defRPr>
            </a:lvl6pPr>
            <a:lvl7pPr>
              <a:defRPr sz="2025" b="0">
                <a:solidFill>
                  <a:srgbClr val="657574"/>
                </a:solidFill>
                <a:latin typeface="Helvetica Neue"/>
                <a:ea typeface="Helvetica Neue"/>
                <a:cs typeface="Helvetica Neue"/>
              </a:defRPr>
            </a:lvl7pPr>
            <a:lvl8pPr>
              <a:defRPr sz="2025" b="0">
                <a:solidFill>
                  <a:srgbClr val="657574"/>
                </a:solidFill>
                <a:latin typeface="Helvetica Neue"/>
                <a:ea typeface="Helvetica Neue"/>
                <a:cs typeface="Helvetica Neue"/>
              </a:defRPr>
            </a:lvl8pPr>
            <a:lvl9pPr>
              <a:defRPr sz="2025" b="0">
                <a:solidFill>
                  <a:srgbClr val="657574"/>
                </a:solidFill>
                <a:latin typeface="Helvetica Neue"/>
                <a:ea typeface="Helvetica Neue"/>
                <a:cs typeface="Helvetica Neue"/>
              </a:defRPr>
            </a:lvl9pPr>
          </a:lstStyle>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Zeyad Alghamdi</a:t>
            </a:r>
          </a:p>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Track 2: domain harness</a:t>
            </a:r>
          </a:p>
        </p:txBody>
      </p:sp>
    </p:spTree>
    <p:extLst>
      <p:ext uri="{BB962C8B-B14F-4D97-AF65-F5344CB8AC3E}">
        <p14:creationId xmlns:p14="http://schemas.microsoft.com/office/powerpoint/2010/main" val="1535527880"/>
      </p:ext>
    </p:extLst>
  </p:cSld>
</p:sld>
</file>

<file path=ppt/slides/slide2.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935902-27E5-438C-8F35-BC9A094F3C92}"/>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C0881559-ADC3-4B2F-94DE-D2943C7B6F34}"/>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The source slice changes the conclusion</a:t>
            </a:r>
          </a:p>
        </p:txBody>
      </p:sp>
      <p:sp>
        <p:nvSpPr>
          <p:cNvPr id="3" name="">
            <a:extLst xmlns:a="http://schemas.openxmlformats.org/drawingml/2006/main">
              <a:ext uri="{FF2B5EF4-FFF2-40B4-BE49-F238E27FC236}">
                <a16:creationId xmlns:a16="http://schemas.microsoft.com/office/drawing/2014/main" id="{113AC7B4-B838-43D2-8BD5-9BA8D8B36196}"/>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39FEF904-A0DF-4813-9128-B9AAB3DD8BC7}"/>
              </a:ext>
            </a:extLst>
          </p:cNvPr>
          <p:cNvSpPr>
            <a:spLocks xmlns:a="http://schemas.openxmlformats.org/drawingml/2006/main" noGrp="1"/>
          </p:cNvSpPr>
          <p:nvPr/>
        </p:nvSpPr>
        <p:spPr>
          <a:xfrm xmlns:a="http://schemas.openxmlformats.org/drawingml/2006/main">
            <a:off x="723900" y="2047875"/>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46B5F"/>
                </a:solidFill>
                <a:latin typeface="Helvetica Neue"/>
                <a:ea typeface="Helvetica Neue"/>
                <a:cs typeface="Helvetica Neue"/>
              </a:defRPr>
            </a:defPPr>
            <a:lvl1pPr>
              <a:defRPr sz="2025" b="1">
                <a:solidFill>
                  <a:srgbClr val="146B5F"/>
                </a:solidFill>
                <a:latin typeface="Helvetica Neue"/>
                <a:ea typeface="Helvetica Neue"/>
                <a:cs typeface="Helvetica Neue"/>
              </a:defRPr>
            </a:lvl1pPr>
            <a:lvl2pPr>
              <a:defRPr sz="2025" b="1">
                <a:solidFill>
                  <a:srgbClr val="146B5F"/>
                </a:solidFill>
                <a:latin typeface="Helvetica Neue"/>
                <a:ea typeface="Helvetica Neue"/>
                <a:cs typeface="Helvetica Neue"/>
              </a:defRPr>
            </a:lvl2pPr>
            <a:lvl3pPr>
              <a:defRPr sz="2025" b="1">
                <a:solidFill>
                  <a:srgbClr val="146B5F"/>
                </a:solidFill>
                <a:latin typeface="Helvetica Neue"/>
                <a:ea typeface="Helvetica Neue"/>
                <a:cs typeface="Helvetica Neue"/>
              </a:defRPr>
            </a:lvl3pPr>
            <a:lvl4pPr>
              <a:defRPr sz="2025" b="1">
                <a:solidFill>
                  <a:srgbClr val="146B5F"/>
                </a:solidFill>
                <a:latin typeface="Helvetica Neue"/>
                <a:ea typeface="Helvetica Neue"/>
                <a:cs typeface="Helvetica Neue"/>
              </a:defRPr>
            </a:lvl4pPr>
            <a:lvl5pPr>
              <a:defRPr sz="2025" b="1">
                <a:solidFill>
                  <a:srgbClr val="146B5F"/>
                </a:solidFill>
                <a:latin typeface="Helvetica Neue"/>
                <a:ea typeface="Helvetica Neue"/>
                <a:cs typeface="Helvetica Neue"/>
              </a:defRPr>
            </a:lvl5pPr>
            <a:lvl6pPr>
              <a:defRPr sz="2025" b="1">
                <a:solidFill>
                  <a:srgbClr val="146B5F"/>
                </a:solidFill>
                <a:latin typeface="Helvetica Neue"/>
                <a:ea typeface="Helvetica Neue"/>
                <a:cs typeface="Helvetica Neue"/>
              </a:defRPr>
            </a:lvl6pPr>
            <a:lvl7pPr>
              <a:defRPr sz="2025" b="1">
                <a:solidFill>
                  <a:srgbClr val="146B5F"/>
                </a:solidFill>
                <a:latin typeface="Helvetica Neue"/>
                <a:ea typeface="Helvetica Neue"/>
                <a:cs typeface="Helvetica Neue"/>
              </a:defRPr>
            </a:lvl7pPr>
            <a:lvl8pPr>
              <a:defRPr sz="2025" b="1">
                <a:solidFill>
                  <a:srgbClr val="146B5F"/>
                </a:solidFill>
                <a:latin typeface="Helvetica Neue"/>
                <a:ea typeface="Helvetica Neue"/>
                <a:cs typeface="Helvetica Neue"/>
              </a:defRPr>
            </a:lvl8pPr>
            <a:lvl9pPr>
              <a:defRPr sz="2025" b="1">
                <a:solidFill>
                  <a:srgbClr val="146B5F"/>
                </a:solidFill>
                <a:latin typeface="Helvetica Neue"/>
                <a:ea typeface="Helvetica Neue"/>
                <a:cs typeface="Helvetica Neue"/>
              </a:defRPr>
            </a:lvl9pPr>
          </a:lstStyle>
          <a:p xmlns:a="http://schemas.openxmlformats.org/drawingml/2006/main">
            <a:pPr>
              <a:defRPr sz="2025" b="1">
                <a:solidFill>
                  <a:srgbClr val="146B5F"/>
                </a:solidFill>
                <a:latin typeface="Helvetica Neue"/>
                <a:ea typeface="Helvetica Neue"/>
                <a:cs typeface="Helvetica Neue"/>
              </a:defRPr>
            </a:pPr>
            <a:r>
              <a:rPr sz="2025" b="1">
                <a:solidFill>
                  <a:srgbClr val="146B5F"/>
                </a:solidFill>
                <a:latin typeface="Helvetica Neue"/>
                <a:ea typeface="Helvetica Neue"/>
                <a:cs typeface="Helvetica Neue"/>
              </a:rPr>
              <a:t>Synthetic detector comparison</a:t>
            </a:r>
          </a:p>
        </p:txBody>
      </p:sp>
      <p:graphicFrame>
        <p:nvGraphicFramePr>
          <p:cNvPr id="5" name="">
            <a:extLst xmlns:a="http://schemas.openxmlformats.org/drawingml/2006/main">
              <a:ext uri="{FF2B5EF4-FFF2-40B4-BE49-F238E27FC236}">
                <a16:creationId xmlns:a16="http://schemas.microsoft.com/office/drawing/2014/main" id="{F1133835-5D38-4B2E-9754-37C4A1747B39}"/>
              </a:ext>
            </a:extLst>
          </p:cNvPr>
          <p:cNvGraphicFramePr/>
          <p:nvPr/>
        </p:nvGraphicFramePr>
        <p:xfrm>
          <a:off xmlns:a="http://schemas.openxmlformats.org/drawingml/2006/main" x="723900" y="2762250"/>
          <a:ext xmlns:a="http://schemas.openxmlformats.org/drawingml/2006/main" cx="10744200" cy="2762250"/>
        </p:xfrm>
        <a:graphic xmlns:a="http://schemas.openxmlformats.org/drawingml/2006/main">
          <a:graphicData uri="http://schemas.openxmlformats.org/drawingml/2006/table">
            <a:tbl>
              <a:tblPr/>
              <a:tblGrid>
                <a:gridCol w="5334000"/>
                <a:gridCol w="2705100"/>
                <a:gridCol w="2705100"/>
              </a:tblGrid>
              <a:tr h="690563">
                <a:tc>
                  <a:txBody>
                    <a:bodyPr/>
                    <a:lstStyle/>
                    <a:p>
                      <a:r>
                        <a:rPr sz="1875" b="1">
                          <a:solidFill>
                            <a:srgbClr val="FFFFFF"/>
                          </a:solidFill>
                          <a:latin typeface="Helvetica Neue"/>
                          <a:ea typeface="Helvetica Neue"/>
                          <a:cs typeface="Helvetica Neue"/>
                        </a:rPr>
                        <a:t>Positive recall</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Baseline</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Candidate</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0563">
                <a:tc>
                  <a:txBody>
                    <a:bodyPr/>
                    <a:lstStyle/>
                    <a:p>
                      <a:r>
                        <a:rPr sz="1875" b="0">
                          <a:solidFill>
                            <a:srgbClr val="172E32"/>
                          </a:solidFill>
                          <a:latin typeface="Helvetica Neue"/>
                          <a:ea typeface="Helvetica Neue"/>
                          <a:cs typeface="Helvetica Neue"/>
                        </a:rPr>
                        <a:t>All 40 examples</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75%</a:t>
                      </a:r>
                    </a:p>
                  </a:txBody>
                  <a:tcPr marL="91440" marR="91440" marT="45720" marB="45720">
                    <a:lnR w="9525">
                      <a:solidFill>
                        <a:srgbClr val="DFE5DF"/>
                      </a:solidFill>
                      <a:prstDash val="solid"/>
                    </a:lnR>
                    <a:lnB w="9525">
                      <a:solidFill>
                        <a:srgbClr val="DFE5DF"/>
                      </a:solidFill>
                      <a:prstDash val="solid"/>
                    </a:lnB>
                    <a:solidFill>
                      <a:srgbClr val="FFFFFF"/>
                    </a:solidFill>
                  </a:tcPr>
                </a:tc>
              </a:tr>
              <a:tr h="690563">
                <a:tc>
                  <a:txBody>
                    <a:bodyPr/>
                    <a:lstStyle/>
                    <a:p>
                      <a:r>
                        <a:rPr sz="1875" b="0">
                          <a:solidFill>
                            <a:srgbClr val="172E32"/>
                          </a:solidFill>
                          <a:latin typeface="Helvetica Neue"/>
                          <a:ea typeface="Helvetica Neue"/>
                          <a:cs typeface="Helvetica Neue"/>
                        </a:rPr>
                        <a:t>Studio, n = 20</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100%</a:t>
                      </a:r>
                    </a:p>
                  </a:txBody>
                  <a:tcPr marL="91440" marR="91440" marT="45720" marB="45720">
                    <a:lnR w="9525">
                      <a:solidFill>
                        <a:srgbClr val="DFE5DF"/>
                      </a:solidFill>
                      <a:prstDash val="solid"/>
                    </a:lnR>
                    <a:lnB w="9525">
                      <a:solidFill>
                        <a:srgbClr val="DFE5DF"/>
                      </a:solidFill>
                      <a:prstDash val="solid"/>
                    </a:lnB>
                    <a:solidFill>
                      <a:srgbClr val="F5F6F2"/>
                    </a:solidFill>
                  </a:tcPr>
                </a:tc>
              </a:tr>
              <a:tr h="690563">
                <a:tc>
                  <a:txBody>
                    <a:bodyPr/>
                    <a:lstStyle/>
                    <a:p>
                      <a:r>
                        <a:rPr sz="1875" b="0">
                          <a:solidFill>
                            <a:srgbClr val="172E32"/>
                          </a:solidFill>
                          <a:latin typeface="Helvetica Neue"/>
                          <a:ea typeface="Helvetica Neue"/>
                          <a:cs typeface="Helvetica Neue"/>
                        </a:rPr>
                        <a:t>Web, n = 20</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50%</a:t>
                      </a:r>
                    </a:p>
                  </a:txBody>
                  <a:tcPr marL="91440" marR="91440" marT="45720" marB="45720">
                    <a:lnR w="9525">
                      <a:solidFill>
                        <a:srgbClr val="DFE5DF"/>
                      </a:solidFill>
                      <a:prstDash val="solid"/>
                    </a:lnR>
                    <a:lnB w="9525">
                      <a:solidFill>
                        <a:srgbClr val="DFE5DF"/>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7763744-8909-49C0-A04D-E2744A01EBCF}"/>
              </a:ext>
            </a:extLst>
          </p:cNvPr>
          <p:cNvSpPr>
            <a:spLocks xmlns:a="http://schemas.openxmlformats.org/drawingml/2006/main" noGrp="1"/>
          </p:cNvSpPr>
          <p:nvPr/>
        </p:nvSpPr>
        <p:spPr>
          <a:xfrm xmlns:a="http://schemas.openxmlformats.org/drawingml/2006/main">
            <a:off x="723900" y="5819775"/>
            <a:ext cx="1000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57574"/>
                </a:solidFill>
                <a:latin typeface="Helvetica Neue"/>
                <a:ea typeface="Helvetica Neue"/>
                <a:cs typeface="Helvetica Neue"/>
              </a:defRPr>
            </a:defPPr>
            <a:lvl1pPr>
              <a:defRPr sz="1725" b="0">
                <a:solidFill>
                  <a:srgbClr val="657574"/>
                </a:solidFill>
                <a:latin typeface="Helvetica Neue"/>
                <a:ea typeface="Helvetica Neue"/>
                <a:cs typeface="Helvetica Neue"/>
              </a:defRPr>
            </a:lvl1pPr>
            <a:lvl2pPr>
              <a:defRPr sz="1725" b="0">
                <a:solidFill>
                  <a:srgbClr val="657574"/>
                </a:solidFill>
                <a:latin typeface="Helvetica Neue"/>
                <a:ea typeface="Helvetica Neue"/>
                <a:cs typeface="Helvetica Neue"/>
              </a:defRPr>
            </a:lvl2pPr>
            <a:lvl3pPr>
              <a:defRPr sz="1725" b="0">
                <a:solidFill>
                  <a:srgbClr val="657574"/>
                </a:solidFill>
                <a:latin typeface="Helvetica Neue"/>
                <a:ea typeface="Helvetica Neue"/>
                <a:cs typeface="Helvetica Neue"/>
              </a:defRPr>
            </a:lvl3pPr>
            <a:lvl4pPr>
              <a:defRPr sz="1725" b="0">
                <a:solidFill>
                  <a:srgbClr val="657574"/>
                </a:solidFill>
                <a:latin typeface="Helvetica Neue"/>
                <a:ea typeface="Helvetica Neue"/>
                <a:cs typeface="Helvetica Neue"/>
              </a:defRPr>
            </a:lvl4pPr>
            <a:lvl5pPr>
              <a:defRPr sz="1725" b="0">
                <a:solidFill>
                  <a:srgbClr val="657574"/>
                </a:solidFill>
                <a:latin typeface="Helvetica Neue"/>
                <a:ea typeface="Helvetica Neue"/>
                <a:cs typeface="Helvetica Neue"/>
              </a:defRPr>
            </a:lvl5pPr>
            <a:lvl6pPr>
              <a:defRPr sz="1725" b="0">
                <a:solidFill>
                  <a:srgbClr val="657574"/>
                </a:solidFill>
                <a:latin typeface="Helvetica Neue"/>
                <a:ea typeface="Helvetica Neue"/>
                <a:cs typeface="Helvetica Neue"/>
              </a:defRPr>
            </a:lvl6pPr>
            <a:lvl7pPr>
              <a:defRPr sz="1725" b="0">
                <a:solidFill>
                  <a:srgbClr val="657574"/>
                </a:solidFill>
                <a:latin typeface="Helvetica Neue"/>
                <a:ea typeface="Helvetica Neue"/>
                <a:cs typeface="Helvetica Neue"/>
              </a:defRPr>
            </a:lvl7pPr>
            <a:lvl8pPr>
              <a:defRPr sz="1725" b="0">
                <a:solidFill>
                  <a:srgbClr val="657574"/>
                </a:solidFill>
                <a:latin typeface="Helvetica Neue"/>
                <a:ea typeface="Helvetica Neue"/>
                <a:cs typeface="Helvetica Neue"/>
              </a:defRPr>
            </a:lvl8pPr>
            <a:lvl9pPr>
              <a:defRPr sz="1725" b="0">
                <a:solidFill>
                  <a:srgbClr val="657574"/>
                </a:solidFill>
                <a:latin typeface="Helvetica Neue"/>
                <a:ea typeface="Helvetica Neue"/>
                <a:cs typeface="Helvetica Neue"/>
              </a:defRPr>
            </a:lvl9pPr>
          </a:lstStyle>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The web slice loses 40 percentage points of recall.</a:t>
            </a:r>
          </a:p>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These values describe a synthetic fixture.</a:t>
            </a:r>
          </a:p>
        </p:txBody>
      </p:sp>
    </p:spTree>
    <p:extLst>
      <p:ext uri="{BB962C8B-B14F-4D97-AF65-F5344CB8AC3E}">
        <p14:creationId xmlns:p14="http://schemas.microsoft.com/office/powerpoint/2010/main" val="1213075136"/>
      </p:ext>
    </p:extLst>
  </p:cSld>
</p:sld>
</file>

<file path=ppt/slides/slide3.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BFC97C-056A-47B3-A1FC-899FDCCAB22B}"/>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F01BBCE9-EE17-405C-9A3E-B28D62831C40}"/>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A small local service with a controlled write</a:t>
            </a:r>
          </a:p>
        </p:txBody>
      </p:sp>
      <p:sp>
        <p:nvSpPr>
          <p:cNvPr id="3" name="">
            <a:extLst xmlns:a="http://schemas.openxmlformats.org/drawingml/2006/main">
              <a:ext uri="{FF2B5EF4-FFF2-40B4-BE49-F238E27FC236}">
                <a16:creationId xmlns:a16="http://schemas.microsoft.com/office/drawing/2014/main" id="{3C92E5CD-2E6B-49E2-B7FB-80C9702BB8CB}"/>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03</a:t>
            </a:r>
          </a:p>
        </p:txBody>
      </p:sp>
      <p:graphicFrame>
        <p:nvGraphicFramePr>
          <p:cNvPr id="4" name="">
            <a:extLst xmlns:a="http://schemas.openxmlformats.org/drawingml/2006/main">
              <a:ext uri="{FF2B5EF4-FFF2-40B4-BE49-F238E27FC236}">
                <a16:creationId xmlns:a16="http://schemas.microsoft.com/office/drawing/2014/main" id="{043F25D2-350A-47BD-9DBF-9A1B08DAB1AA}"/>
              </a:ext>
            </a:extLst>
          </p:cNvPr>
          <p:cNvGraphicFramePr/>
          <p:nvPr/>
        </p:nvGraphicFramePr>
        <p:xfrm>
          <a:off xmlns:a="http://schemas.openxmlformats.org/drawingml/2006/main" x="723900" y="2076450"/>
          <a:ext xmlns:a="http://schemas.openxmlformats.org/drawingml/2006/main" cx="10744200" cy="3476625"/>
        </p:xfrm>
        <a:graphic xmlns:a="http://schemas.openxmlformats.org/drawingml/2006/main">
          <a:graphicData uri="http://schemas.openxmlformats.org/drawingml/2006/table">
            <a:tbl>
              <a:tblPr/>
              <a:tblGrid>
                <a:gridCol w="2381250"/>
                <a:gridCol w="4457700"/>
                <a:gridCol w="3905250"/>
              </a:tblGrid>
              <a:tr h="695325">
                <a:tc>
                  <a:txBody>
                    <a:bodyPr/>
                    <a:lstStyle/>
                    <a:p>
                      <a:r>
                        <a:rPr sz="1875" b="1">
                          <a:solidFill>
                            <a:srgbClr val="FFFFFF"/>
                          </a:solidFill>
                          <a:latin typeface="Helvetica Neue"/>
                          <a:ea typeface="Helvetica Neue"/>
                          <a:cs typeface="Helvetica Neue"/>
                        </a:rPr>
                        <a:t>Layer</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Responsibility</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Boundary</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5325">
                <a:tc>
                  <a:txBody>
                    <a:bodyPr/>
                    <a:lstStyle/>
                    <a:p>
                      <a:r>
                        <a:rPr sz="1875" b="0">
                          <a:solidFill>
                            <a:srgbClr val="172E32"/>
                          </a:solidFill>
                          <a:latin typeface="Helvetica Neue"/>
                          <a:ea typeface="Helvetica Neue"/>
                          <a:cs typeface="Helvetica Neue"/>
                        </a:rPr>
                        <a:t>Browser + FastAPI</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Upload, inspect, review</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Local origin and session</a:t>
                      </a:r>
                    </a:p>
                  </a:txBody>
                  <a:tcPr marL="91440" marR="91440" marT="45720" marB="45720">
                    <a:lnR w="9525">
                      <a:solidFill>
                        <a:srgbClr val="DFE5DF"/>
                      </a:solidFill>
                      <a:prstDash val="solid"/>
                    </a:lnR>
                    <a:lnB w="9525">
                      <a:solidFill>
                        <a:srgbClr val="DFE5DF"/>
                      </a:solidFill>
                      <a:prstDash val="solid"/>
                    </a:lnB>
                    <a:solidFill>
                      <a:srgbClr val="FFFFFF"/>
                    </a:solidFill>
                  </a:tcPr>
                </a:tc>
              </a:tr>
              <a:tr h="695325">
                <a:tc>
                  <a:txBody>
                    <a:bodyPr/>
                    <a:lstStyle/>
                    <a:p>
                      <a:r>
                        <a:rPr sz="1875" b="0">
                          <a:solidFill>
                            <a:srgbClr val="172E32"/>
                          </a:solidFill>
                          <a:latin typeface="Helvetica Neue"/>
                          <a:ea typeface="Helvetica Neue"/>
                          <a:cs typeface="Helvetica Neue"/>
                        </a:rPr>
                        <a:t>Single agent</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Choose investigation tools</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Bounded calls and context</a:t>
                      </a:r>
                    </a:p>
                  </a:txBody>
                  <a:tcPr marL="91440" marR="91440" marT="45720" marB="45720">
                    <a:lnR w="9525">
                      <a:solidFill>
                        <a:srgbClr val="DFE5DF"/>
                      </a:solidFill>
                      <a:prstDash val="solid"/>
                    </a:lnR>
                    <a:lnB w="9525">
                      <a:solidFill>
                        <a:srgbClr val="DFE5DF"/>
                      </a:solidFill>
                      <a:prstDash val="solid"/>
                    </a:lnB>
                    <a:solidFill>
                      <a:srgbClr val="F5F6F2"/>
                    </a:solidFill>
                  </a:tcPr>
                </a:tc>
              </a:tr>
              <a:tr h="695325">
                <a:tc>
                  <a:txBody>
                    <a:bodyPr/>
                    <a:lstStyle/>
                    <a:p>
                      <a:r>
                        <a:rPr sz="1875" b="0">
                          <a:solidFill>
                            <a:srgbClr val="172E32"/>
                          </a:solidFill>
                          <a:latin typeface="Helvetica Neue"/>
                          <a:ea typeface="Helvetica Neue"/>
                          <a:cs typeface="Helvetica Neue"/>
                        </a:rPr>
                        <a:t>MCP server</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Calculate and inspect</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Read-only tools</a:t>
                      </a:r>
                    </a:p>
                  </a:txBody>
                  <a:tcPr marL="91440" marR="91440" marT="45720" marB="45720">
                    <a:lnR w="9525">
                      <a:solidFill>
                        <a:srgbClr val="DFE5DF"/>
                      </a:solidFill>
                      <a:prstDash val="solid"/>
                    </a:lnR>
                    <a:lnB w="9525">
                      <a:solidFill>
                        <a:srgbClr val="DFE5DF"/>
                      </a:solidFill>
                      <a:prstDash val="solid"/>
                    </a:lnB>
                    <a:solidFill>
                      <a:srgbClr val="FFFFFF"/>
                    </a:solidFill>
                  </a:tcPr>
                </a:tc>
              </a:tr>
              <a:tr h="695325">
                <a:tc>
                  <a:txBody>
                    <a:bodyPr/>
                    <a:lstStyle/>
                    <a:p>
                      <a:r>
                        <a:rPr sz="1875" b="0">
                          <a:solidFill>
                            <a:srgbClr val="172E32"/>
                          </a:solidFill>
                          <a:latin typeface="Helvetica Neue"/>
                          <a:ea typeface="Helvetica Neue"/>
                          <a:cs typeface="Helvetica Neue"/>
                        </a:rPr>
                        <a:t>Approval handler</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Save reviewed specification</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Exact digest, one file</a:t>
                      </a:r>
                    </a:p>
                  </a:txBody>
                  <a:tcPr marL="91440" marR="91440" marT="45720" marB="45720">
                    <a:lnR w="9525">
                      <a:solidFill>
                        <a:srgbClr val="DFE5DF"/>
                      </a:solidFill>
                      <a:prstDash val="solid"/>
                    </a:lnR>
                    <a:lnB w="9525">
                      <a:solidFill>
                        <a:srgbClr val="DFE5DF"/>
                      </a:solidFill>
                      <a:prstDash val="solid"/>
                    </a:lnB>
                    <a:solidFill>
                      <a:srgbClr val="F5F6F2"/>
                    </a:solidFill>
                  </a:tcPr>
                </a:tc>
              </a:tr>
            </a:tbl>
          </a:graphicData>
        </a:graphic>
      </p:graphicFrame>
      <p:sp>
        <p:nvSpPr>
          <p:cNvPr id="5" name="">
            <a:extLst xmlns:a="http://schemas.openxmlformats.org/drawingml/2006/main">
              <a:ext uri="{FF2B5EF4-FFF2-40B4-BE49-F238E27FC236}">
                <a16:creationId xmlns:a16="http://schemas.microsoft.com/office/drawing/2014/main" id="{6D8B526E-D55A-4F8E-8B2A-F0E81E7A62E9}"/>
              </a:ext>
            </a:extLst>
          </p:cNvPr>
          <p:cNvSpPr>
            <a:spLocks xmlns:a="http://schemas.openxmlformats.org/drawingml/2006/main" noGrp="1"/>
          </p:cNvSpPr>
          <p:nvPr/>
        </p:nvSpPr>
        <p:spPr>
          <a:xfrm xmlns:a="http://schemas.openxmlformats.org/drawingml/2006/main">
            <a:off x="723900" y="58578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57574"/>
                </a:solidFill>
                <a:latin typeface="Helvetica Neue"/>
                <a:ea typeface="Helvetica Neue"/>
                <a:cs typeface="Helvetica Neue"/>
              </a:defRPr>
            </a:defPPr>
            <a:lvl1pPr>
              <a:defRPr sz="1800" b="0">
                <a:solidFill>
                  <a:srgbClr val="657574"/>
                </a:solidFill>
                <a:latin typeface="Helvetica Neue"/>
                <a:ea typeface="Helvetica Neue"/>
                <a:cs typeface="Helvetica Neue"/>
              </a:defRPr>
            </a:lvl1pPr>
            <a:lvl2pPr>
              <a:defRPr sz="1800" b="0">
                <a:solidFill>
                  <a:srgbClr val="657574"/>
                </a:solidFill>
                <a:latin typeface="Helvetica Neue"/>
                <a:ea typeface="Helvetica Neue"/>
                <a:cs typeface="Helvetica Neue"/>
              </a:defRPr>
            </a:lvl2pPr>
            <a:lvl3pPr>
              <a:defRPr sz="1800" b="0">
                <a:solidFill>
                  <a:srgbClr val="657574"/>
                </a:solidFill>
                <a:latin typeface="Helvetica Neue"/>
                <a:ea typeface="Helvetica Neue"/>
                <a:cs typeface="Helvetica Neue"/>
              </a:defRPr>
            </a:lvl3pPr>
            <a:lvl4pPr>
              <a:defRPr sz="1800" b="0">
                <a:solidFill>
                  <a:srgbClr val="657574"/>
                </a:solidFill>
                <a:latin typeface="Helvetica Neue"/>
                <a:ea typeface="Helvetica Neue"/>
                <a:cs typeface="Helvetica Neue"/>
              </a:defRPr>
            </a:lvl4pPr>
            <a:lvl5pPr>
              <a:defRPr sz="1800" b="0">
                <a:solidFill>
                  <a:srgbClr val="657574"/>
                </a:solidFill>
                <a:latin typeface="Helvetica Neue"/>
                <a:ea typeface="Helvetica Neue"/>
                <a:cs typeface="Helvetica Neue"/>
              </a:defRPr>
            </a:lvl5pPr>
            <a:lvl6pPr>
              <a:defRPr sz="1800" b="0">
                <a:solidFill>
                  <a:srgbClr val="657574"/>
                </a:solidFill>
                <a:latin typeface="Helvetica Neue"/>
                <a:ea typeface="Helvetica Neue"/>
                <a:cs typeface="Helvetica Neue"/>
              </a:defRPr>
            </a:lvl6pPr>
            <a:lvl7pPr>
              <a:defRPr sz="1800" b="0">
                <a:solidFill>
                  <a:srgbClr val="657574"/>
                </a:solidFill>
                <a:latin typeface="Helvetica Neue"/>
                <a:ea typeface="Helvetica Neue"/>
                <a:cs typeface="Helvetica Neue"/>
              </a:defRPr>
            </a:lvl7pPr>
            <a:lvl8pPr>
              <a:defRPr sz="1800" b="0">
                <a:solidFill>
                  <a:srgbClr val="657574"/>
                </a:solidFill>
                <a:latin typeface="Helvetica Neue"/>
                <a:ea typeface="Helvetica Neue"/>
                <a:cs typeface="Helvetica Neue"/>
              </a:defRPr>
            </a:lvl8pPr>
            <a:lvl9pPr>
              <a:defRPr sz="1800" b="0">
                <a:solidFill>
                  <a:srgbClr val="657574"/>
                </a:solidFill>
                <a:latin typeface="Helvetica Neue"/>
                <a:ea typeface="Helvetica Neue"/>
                <a:cs typeface="Helvetica Neue"/>
              </a:defRPr>
            </a:lvl9pPr>
          </a:lstStyle>
          <a:p xmlns:a="http://schemas.openxmlformats.org/drawingml/2006/main">
            <a:pPr>
              <a:defRPr sz="1800" b="0">
                <a:solidFill>
                  <a:srgbClr val="657574"/>
                </a:solidFill>
                <a:latin typeface="Helvetica Neue"/>
                <a:ea typeface="Helvetica Neue"/>
                <a:cs typeface="Helvetica Neue"/>
              </a:defRPr>
            </a:pPr>
            <a:r>
              <a:rPr sz="1800" b="0">
                <a:solidFill>
                  <a:srgbClr val="657574"/>
                </a:solidFill>
                <a:latin typeface="Helvetica Neue"/>
                <a:ea typeface="Helvetica Neue"/>
                <a:cs typeface="Helvetica Neue"/>
              </a:rPr>
              <a:t>SQLite retains evidence and pending actions. The model API runs externally.</a:t>
            </a:r>
          </a:p>
        </p:txBody>
      </p:sp>
    </p:spTree>
    <p:extLst>
      <p:ext uri="{BB962C8B-B14F-4D97-AF65-F5344CB8AC3E}">
        <p14:creationId xmlns:p14="http://schemas.microsoft.com/office/powerpoint/2010/main" val="1379592579"/>
      </p:ext>
    </p:extLst>
  </p:cSld>
</p:sld>
</file>

<file path=ppt/slides/slide4.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FEB1F7-FE94-4FC1-8395-8CCC4CEF45DA}"/>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64FF9670-C5F6-4E93-9FAC-578D7439E192}"/>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Context and harness decisions</a:t>
            </a:r>
          </a:p>
        </p:txBody>
      </p:sp>
      <p:sp>
        <p:nvSpPr>
          <p:cNvPr id="3" name="">
            <a:extLst xmlns:a="http://schemas.openxmlformats.org/drawingml/2006/main">
              <a:ext uri="{FF2B5EF4-FFF2-40B4-BE49-F238E27FC236}">
                <a16:creationId xmlns:a16="http://schemas.microsoft.com/office/drawing/2014/main" id="{FA218A86-33A8-4C71-A8B7-C7A60A14BBB1}"/>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DA773F9E-FA4D-4814-A1E4-CA0A5BFE3048}"/>
              </a:ext>
            </a:extLst>
          </p:cNvPr>
          <p:cNvSpPr>
            <a:spLocks xmlns:a="http://schemas.openxmlformats.org/drawingml/2006/main" noGrp="1"/>
          </p:cNvSpPr>
          <p:nvPr/>
        </p:nvSpPr>
        <p:spPr>
          <a:xfrm xmlns:a="http://schemas.openxmlformats.org/drawingml/2006/main">
            <a:off x="723900" y="2095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Context</a:t>
            </a:r>
          </a:p>
        </p:txBody>
      </p:sp>
      <p:sp>
        <p:nvSpPr>
          <p:cNvPr id="5" name="">
            <a:extLst xmlns:a="http://schemas.openxmlformats.org/drawingml/2006/main">
              <a:ext uri="{FF2B5EF4-FFF2-40B4-BE49-F238E27FC236}">
                <a16:creationId xmlns:a16="http://schemas.microsoft.com/office/drawing/2014/main" id="{5983E426-2E18-425F-A2C4-523DCBEA0C36}"/>
              </a:ext>
            </a:extLst>
          </p:cNvPr>
          <p:cNvSpPr>
            <a:spLocks xmlns:a="http://schemas.openxmlformats.org/drawingml/2006/main" noGrp="1"/>
          </p:cNvSpPr>
          <p:nvPr/>
        </p:nvSpPr>
        <p:spPr>
          <a:xfrm xmlns:a="http://schemas.openxmlformats.org/drawingml/2006/main">
            <a:off x="723900" y="2762250"/>
            <a:ext cx="5095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defRPr sz="2100" b="0">
                <a:solidFill>
                  <a:srgbClr val="172E32"/>
                </a:solidFill>
                <a:latin typeface="Helvetica Neue"/>
                <a:ea typeface="Helvetica Neue"/>
                <a:cs typeface="Helvetica Neue"/>
              </a:defRPr>
            </a:lvl1pPr>
            <a:lvl2pPr>
              <a:defRPr sz="2100" b="0">
                <a:solidFill>
                  <a:srgbClr val="172E32"/>
                </a:solidFill>
                <a:latin typeface="Helvetica Neue"/>
                <a:ea typeface="Helvetica Neue"/>
                <a:cs typeface="Helvetica Neue"/>
              </a:defRPr>
            </a:lvl2pPr>
            <a:lvl3pPr>
              <a:defRPr sz="2100" b="0">
                <a:solidFill>
                  <a:srgbClr val="172E32"/>
                </a:solidFill>
                <a:latin typeface="Helvetica Neue"/>
                <a:ea typeface="Helvetica Neue"/>
                <a:cs typeface="Helvetica Neue"/>
              </a:defRPr>
            </a:lvl3pPr>
            <a:lvl4pPr>
              <a:defRPr sz="2100" b="0">
                <a:solidFill>
                  <a:srgbClr val="172E32"/>
                </a:solidFill>
                <a:latin typeface="Helvetica Neue"/>
                <a:ea typeface="Helvetica Neue"/>
                <a:cs typeface="Helvetica Neue"/>
              </a:defRPr>
            </a:lvl4pPr>
            <a:lvl5pPr>
              <a:defRPr sz="2100" b="0">
                <a:solidFill>
                  <a:srgbClr val="172E32"/>
                </a:solidFill>
                <a:latin typeface="Helvetica Neue"/>
                <a:ea typeface="Helvetica Neue"/>
                <a:cs typeface="Helvetica Neue"/>
              </a:defRPr>
            </a:lvl5pPr>
            <a:lvl6pPr>
              <a:defRPr sz="2100" b="0">
                <a:solidFill>
                  <a:srgbClr val="172E32"/>
                </a:solidFill>
                <a:latin typeface="Helvetica Neue"/>
                <a:ea typeface="Helvetica Neue"/>
                <a:cs typeface="Helvetica Neue"/>
              </a:defRPr>
            </a:lvl6pPr>
            <a:lvl7pPr>
              <a:defRPr sz="2100" b="0">
                <a:solidFill>
                  <a:srgbClr val="172E32"/>
                </a:solidFill>
                <a:latin typeface="Helvetica Neue"/>
                <a:ea typeface="Helvetica Neue"/>
                <a:cs typeface="Helvetica Neue"/>
              </a:defRPr>
            </a:lvl7pPr>
            <a:lvl8pPr>
              <a:defRPr sz="2100" b="0">
                <a:solidFill>
                  <a:srgbClr val="172E32"/>
                </a:solidFill>
                <a:latin typeface="Helvetica Neue"/>
                <a:ea typeface="Helvetica Neue"/>
                <a:cs typeface="Helvetica Neue"/>
              </a:defRPr>
            </a:lvl8pPr>
            <a:lvl9pPr>
              <a:defRPr sz="2100" b="0">
                <a:solidFill>
                  <a:srgbClr val="172E32"/>
                </a:solidFill>
                <a:latin typeface="Helvetica Neue"/>
                <a:ea typeface="Helvetica Neue"/>
                <a:cs typeface="Helvetica Neue"/>
              </a:defRPr>
            </a:lvl9pPr>
          </a:lstStyle>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Versioned review protocol</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Evidence IDs instead of raw CSV context</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Complete tool rounds during compaction</a:t>
            </a:r>
          </a:p>
        </p:txBody>
      </p:sp>
      <p:sp>
        <p:nvSpPr>
          <p:cNvPr id="6" name="">
            <a:extLst xmlns:a="http://schemas.openxmlformats.org/drawingml/2006/main">
              <a:ext uri="{FF2B5EF4-FFF2-40B4-BE49-F238E27FC236}">
                <a16:creationId xmlns:a16="http://schemas.microsoft.com/office/drawing/2014/main" id="{C0ACC1F5-C052-4FB6-AD6D-C7D531FEEC81}"/>
              </a:ext>
            </a:extLst>
          </p:cNvPr>
          <p:cNvSpPr>
            <a:spLocks xmlns:a="http://schemas.openxmlformats.org/drawingml/2006/main" noGrp="1"/>
          </p:cNvSpPr>
          <p:nvPr/>
        </p:nvSpPr>
        <p:spPr>
          <a:xfrm xmlns:a="http://schemas.openxmlformats.org/drawingml/2006/main">
            <a:off x="6477000" y="2095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Execution controls</a:t>
            </a:r>
          </a:p>
        </p:txBody>
      </p:sp>
      <p:sp>
        <p:nvSpPr>
          <p:cNvPr id="7" name="">
            <a:extLst xmlns:a="http://schemas.openxmlformats.org/drawingml/2006/main">
              <a:ext uri="{FF2B5EF4-FFF2-40B4-BE49-F238E27FC236}">
                <a16:creationId xmlns:a16="http://schemas.microsoft.com/office/drawing/2014/main" id="{9936A124-36D9-4A3D-92BF-5455051E67D1}"/>
              </a:ext>
            </a:extLst>
          </p:cNvPr>
          <p:cNvSpPr>
            <a:spLocks xmlns:a="http://schemas.openxmlformats.org/drawingml/2006/main" noGrp="1"/>
          </p:cNvSpPr>
          <p:nvPr/>
        </p:nvSpPr>
        <p:spPr>
          <a:xfrm xmlns:a="http://schemas.openxmlformats.org/drawingml/2006/main">
            <a:off x="6477000" y="2762250"/>
            <a:ext cx="5095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defRPr sz="2100" b="0">
                <a:solidFill>
                  <a:srgbClr val="172E32"/>
                </a:solidFill>
                <a:latin typeface="Helvetica Neue"/>
                <a:ea typeface="Helvetica Neue"/>
                <a:cs typeface="Helvetica Neue"/>
              </a:defRPr>
            </a:lvl1pPr>
            <a:lvl2pPr>
              <a:defRPr sz="2100" b="0">
                <a:solidFill>
                  <a:srgbClr val="172E32"/>
                </a:solidFill>
                <a:latin typeface="Helvetica Neue"/>
                <a:ea typeface="Helvetica Neue"/>
                <a:cs typeface="Helvetica Neue"/>
              </a:defRPr>
            </a:lvl2pPr>
            <a:lvl3pPr>
              <a:defRPr sz="2100" b="0">
                <a:solidFill>
                  <a:srgbClr val="172E32"/>
                </a:solidFill>
                <a:latin typeface="Helvetica Neue"/>
                <a:ea typeface="Helvetica Neue"/>
                <a:cs typeface="Helvetica Neue"/>
              </a:defRPr>
            </a:lvl3pPr>
            <a:lvl4pPr>
              <a:defRPr sz="2100" b="0">
                <a:solidFill>
                  <a:srgbClr val="172E32"/>
                </a:solidFill>
                <a:latin typeface="Helvetica Neue"/>
                <a:ea typeface="Helvetica Neue"/>
                <a:cs typeface="Helvetica Neue"/>
              </a:defRPr>
            </a:lvl4pPr>
            <a:lvl5pPr>
              <a:defRPr sz="2100" b="0">
                <a:solidFill>
                  <a:srgbClr val="172E32"/>
                </a:solidFill>
                <a:latin typeface="Helvetica Neue"/>
                <a:ea typeface="Helvetica Neue"/>
                <a:cs typeface="Helvetica Neue"/>
              </a:defRPr>
            </a:lvl5pPr>
            <a:lvl6pPr>
              <a:defRPr sz="2100" b="0">
                <a:solidFill>
                  <a:srgbClr val="172E32"/>
                </a:solidFill>
                <a:latin typeface="Helvetica Neue"/>
                <a:ea typeface="Helvetica Neue"/>
                <a:cs typeface="Helvetica Neue"/>
              </a:defRPr>
            </a:lvl6pPr>
            <a:lvl7pPr>
              <a:defRPr sz="2100" b="0">
                <a:solidFill>
                  <a:srgbClr val="172E32"/>
                </a:solidFill>
                <a:latin typeface="Helvetica Neue"/>
                <a:ea typeface="Helvetica Neue"/>
                <a:cs typeface="Helvetica Neue"/>
              </a:defRPr>
            </a:lvl7pPr>
            <a:lvl8pPr>
              <a:defRPr sz="2100" b="0">
                <a:solidFill>
                  <a:srgbClr val="172E32"/>
                </a:solidFill>
                <a:latin typeface="Helvetica Neue"/>
                <a:ea typeface="Helvetica Neue"/>
                <a:cs typeface="Helvetica Neue"/>
              </a:defRPr>
            </a:lvl8pPr>
            <a:lvl9pPr>
              <a:defRPr sz="2100" b="0">
                <a:solidFill>
                  <a:srgbClr val="172E32"/>
                </a:solidFill>
                <a:latin typeface="Helvetica Neue"/>
                <a:ea typeface="Helvetica Neue"/>
                <a:cs typeface="Helvetica Neue"/>
              </a:defRPr>
            </a:lvl9pPr>
          </a:lstStyle>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Eight model requests per review</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Read-only MCP tools</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Human approval before a file save</a:t>
            </a:r>
          </a:p>
        </p:txBody>
      </p:sp>
      <p:sp>
        <p:nvSpPr>
          <p:cNvPr id="8" name="">
            <a:extLst xmlns:a="http://schemas.openxmlformats.org/drawingml/2006/main">
              <a:ext uri="{FF2B5EF4-FFF2-40B4-BE49-F238E27FC236}">
                <a16:creationId xmlns:a16="http://schemas.microsoft.com/office/drawing/2014/main" id="{E9C2E34F-B29B-4DD5-B127-DA4D967DC68A}"/>
              </a:ext>
            </a:extLst>
          </p:cNvPr>
          <p:cNvSpPr>
            <a:spLocks xmlns:a="http://schemas.openxmlformats.org/drawingml/2006/main" noGrp="1"/>
          </p:cNvSpPr>
          <p:nvPr/>
        </p:nvSpPr>
        <p:spPr>
          <a:xfrm xmlns:a="http://schemas.openxmlformats.org/drawingml/2006/main">
            <a:off x="723900" y="5238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57574"/>
                </a:solidFill>
                <a:latin typeface="Helvetica Neue"/>
                <a:ea typeface="Helvetica Neue"/>
                <a:cs typeface="Helvetica Neue"/>
              </a:defRPr>
            </a:defPPr>
            <a:lvl1pPr>
              <a:defRPr sz="1875" b="0">
                <a:solidFill>
                  <a:srgbClr val="657574"/>
                </a:solidFill>
                <a:latin typeface="Helvetica Neue"/>
                <a:ea typeface="Helvetica Neue"/>
                <a:cs typeface="Helvetica Neue"/>
              </a:defRPr>
            </a:lvl1pPr>
            <a:lvl2pPr>
              <a:defRPr sz="1875" b="0">
                <a:solidFill>
                  <a:srgbClr val="657574"/>
                </a:solidFill>
                <a:latin typeface="Helvetica Neue"/>
                <a:ea typeface="Helvetica Neue"/>
                <a:cs typeface="Helvetica Neue"/>
              </a:defRPr>
            </a:lvl2pPr>
            <a:lvl3pPr>
              <a:defRPr sz="1875" b="0">
                <a:solidFill>
                  <a:srgbClr val="657574"/>
                </a:solidFill>
                <a:latin typeface="Helvetica Neue"/>
                <a:ea typeface="Helvetica Neue"/>
                <a:cs typeface="Helvetica Neue"/>
              </a:defRPr>
            </a:lvl3pPr>
            <a:lvl4pPr>
              <a:defRPr sz="1875" b="0">
                <a:solidFill>
                  <a:srgbClr val="657574"/>
                </a:solidFill>
                <a:latin typeface="Helvetica Neue"/>
                <a:ea typeface="Helvetica Neue"/>
                <a:cs typeface="Helvetica Neue"/>
              </a:defRPr>
            </a:lvl4pPr>
            <a:lvl5pPr>
              <a:defRPr sz="1875" b="0">
                <a:solidFill>
                  <a:srgbClr val="657574"/>
                </a:solidFill>
                <a:latin typeface="Helvetica Neue"/>
                <a:ea typeface="Helvetica Neue"/>
                <a:cs typeface="Helvetica Neue"/>
              </a:defRPr>
            </a:lvl5pPr>
            <a:lvl6pPr>
              <a:defRPr sz="1875" b="0">
                <a:solidFill>
                  <a:srgbClr val="657574"/>
                </a:solidFill>
                <a:latin typeface="Helvetica Neue"/>
                <a:ea typeface="Helvetica Neue"/>
                <a:cs typeface="Helvetica Neue"/>
              </a:defRPr>
            </a:lvl6pPr>
            <a:lvl7pPr>
              <a:defRPr sz="1875" b="0">
                <a:solidFill>
                  <a:srgbClr val="657574"/>
                </a:solidFill>
                <a:latin typeface="Helvetica Neue"/>
                <a:ea typeface="Helvetica Neue"/>
                <a:cs typeface="Helvetica Neue"/>
              </a:defRPr>
            </a:lvl7pPr>
            <a:lvl8pPr>
              <a:defRPr sz="1875" b="0">
                <a:solidFill>
                  <a:srgbClr val="657574"/>
                </a:solidFill>
                <a:latin typeface="Helvetica Neue"/>
                <a:ea typeface="Helvetica Neue"/>
                <a:cs typeface="Helvetica Neue"/>
              </a:defRPr>
            </a:lvl8pPr>
            <a:lvl9pPr>
              <a:defRPr sz="1875" b="0">
                <a:solidFill>
                  <a:srgbClr val="657574"/>
                </a:solidFill>
                <a:latin typeface="Helvetica Neue"/>
                <a:ea typeface="Helvetica Neue"/>
                <a:cs typeface="Helvetica Neue"/>
              </a:defRPr>
            </a:lvl9pPr>
          </a:lstStyle>
          <a:p xmlns:a="http://schemas.openxmlformats.org/drawingml/2006/main">
            <a:pPr>
              <a:defRPr sz="1875" b="0">
                <a:solidFill>
                  <a:srgbClr val="657574"/>
                </a:solidFill>
                <a:latin typeface="Helvetica Neue"/>
                <a:ea typeface="Helvetica Neue"/>
                <a:cs typeface="Helvetica Neue"/>
              </a:defRPr>
            </a:pPr>
            <a:r>
              <a:rPr sz="1875" b="0">
                <a:solidFill>
                  <a:srgbClr val="657574"/>
                </a:solidFill>
                <a:latin typeface="Helvetica Neue"/>
                <a:ea typeface="Helvetica Neue"/>
                <a:cs typeface="Helvetica Neue"/>
              </a:rPr>
              <a:t>The procedure loader exists, but model traces do not consistently invoke it.</a:t>
            </a:r>
          </a:p>
          <a:p xmlns:a="http://schemas.openxmlformats.org/drawingml/2006/main">
            <a:pPr>
              <a:defRPr sz="1875" b="0">
                <a:solidFill>
                  <a:srgbClr val="657574"/>
                </a:solidFill>
                <a:latin typeface="Helvetica Neue"/>
                <a:ea typeface="Helvetica Neue"/>
                <a:cs typeface="Helvetica Neue"/>
              </a:defRPr>
            </a:pPr>
            <a:r>
              <a:rPr sz="1875" b="0">
                <a:solidFill>
                  <a:srgbClr val="657574"/>
                </a:solidFill>
                <a:latin typeface="Helvetica Neue"/>
                <a:ea typeface="Helvetica Neue"/>
                <a:cs typeface="Helvetica Neue"/>
              </a:rPr>
              <a:t>That is a measured limitation of the current instruction strategy.</a:t>
            </a:r>
          </a:p>
        </p:txBody>
      </p:sp>
    </p:spTree>
    <p:extLst>
      <p:ext uri="{BB962C8B-B14F-4D97-AF65-F5344CB8AC3E}">
        <p14:creationId xmlns:p14="http://schemas.microsoft.com/office/powerpoint/2010/main" val="194005283"/>
      </p:ext>
    </p:extLst>
  </p:cSld>
</p:sld>
</file>

<file path=ppt/slides/slide5.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5E595B-E8F3-4D9F-B699-DF50BD69C8CC}"/>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F3780C60-EB35-4AAD-8E8A-D194ACCA8F99}"/>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A/B evidence remains incomplete</a:t>
            </a:r>
          </a:p>
        </p:txBody>
      </p:sp>
      <p:sp>
        <p:nvSpPr>
          <p:cNvPr id="3" name="">
            <a:extLst xmlns:a="http://schemas.openxmlformats.org/drawingml/2006/main">
              <a:ext uri="{FF2B5EF4-FFF2-40B4-BE49-F238E27FC236}">
                <a16:creationId xmlns:a16="http://schemas.microsoft.com/office/drawing/2014/main" id="{A5FB4211-1754-4E2D-B953-237EA10D7324}"/>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05</a:t>
            </a:r>
          </a:p>
        </p:txBody>
      </p:sp>
      <p:graphicFrame>
        <p:nvGraphicFramePr>
          <p:cNvPr id="4" name="">
            <a:extLst xmlns:a="http://schemas.openxmlformats.org/drawingml/2006/main">
              <a:ext uri="{FF2B5EF4-FFF2-40B4-BE49-F238E27FC236}">
                <a16:creationId xmlns:a16="http://schemas.microsoft.com/office/drawing/2014/main" id="{1BF5B5DC-B23F-4082-83F5-D8C752C49BA0}"/>
              </a:ext>
            </a:extLst>
          </p:cNvPr>
          <p:cNvGraphicFramePr/>
          <p:nvPr/>
        </p:nvGraphicFramePr>
        <p:xfrm>
          <a:off xmlns:a="http://schemas.openxmlformats.org/drawingml/2006/main" x="723900" y="2143125"/>
          <a:ext xmlns:a="http://schemas.openxmlformats.org/drawingml/2006/main" cx="10744200" cy="2095500"/>
        </p:xfrm>
        <a:graphic xmlns:a="http://schemas.openxmlformats.org/drawingml/2006/main">
          <a:graphicData uri="http://schemas.openxmlformats.org/drawingml/2006/table">
            <a:tbl>
              <a:tblPr/>
              <a:tblGrid>
                <a:gridCol w="4914900"/>
                <a:gridCol w="1943100"/>
                <a:gridCol w="1943100"/>
                <a:gridCol w="1943100"/>
              </a:tblGrid>
              <a:tr h="698500">
                <a:tc>
                  <a:txBody>
                    <a:bodyPr/>
                    <a:lstStyle/>
                    <a:p>
                      <a:r>
                        <a:rPr sz="1875" b="1">
                          <a:solidFill>
                            <a:srgbClr val="FFFFFF"/>
                          </a:solidFill>
                          <a:latin typeface="Helvetica Neue"/>
                          <a:ea typeface="Helvetica Neue"/>
                          <a:cs typeface="Helvetica Neue"/>
                        </a:rPr>
                        <a:t>Reviewer</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Executed</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Passed</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Pending</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8500">
                <a:tc>
                  <a:txBody>
                    <a:bodyPr/>
                    <a:lstStyle/>
                    <a:p>
                      <a:r>
                        <a:rPr sz="1875" b="0">
                          <a:solidFill>
                            <a:srgbClr val="172E32"/>
                          </a:solidFill>
                          <a:latin typeface="Helvetica Neue"/>
                          <a:ea typeface="Helvetica Neue"/>
                          <a:cs typeface="Helvetica Neue"/>
                        </a:rPr>
                        <a:t>A: base prompt</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12</a:t>
                      </a:r>
                    </a:p>
                  </a:txBody>
                  <a:tcPr marL="91440" marR="91440" marT="45720" marB="45720">
                    <a:lnR w="9525">
                      <a:solidFill>
                        <a:srgbClr val="DFE5DF"/>
                      </a:solidFill>
                      <a:prstDash val="solid"/>
                    </a:lnR>
                    <a:lnB w="9525">
                      <a:solidFill>
                        <a:srgbClr val="DFE5DF"/>
                      </a:solidFill>
                      <a:prstDash val="solid"/>
                    </a:lnB>
                    <a:solidFill>
                      <a:srgbClr val="FFFFFF"/>
                    </a:solidFill>
                  </a:tcPr>
                </a:tc>
              </a:tr>
              <a:tr h="698500">
                <a:tc>
                  <a:txBody>
                    <a:bodyPr/>
                    <a:lstStyle/>
                    <a:p>
                      <a:r>
                        <a:rPr sz="1875" b="0">
                          <a:solidFill>
                            <a:srgbClr val="172E32"/>
                          </a:solidFill>
                          <a:latin typeface="Helvetica Neue"/>
                          <a:ea typeface="Helvetica Neue"/>
                          <a:cs typeface="Helvetica Neue"/>
                        </a:rPr>
                        <a:t>B: procedure instruction</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5</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12</a:t>
                      </a:r>
                    </a:p>
                  </a:txBody>
                  <a:tcPr marL="91440" marR="91440" marT="45720" marB="45720">
                    <a:lnR w="9525">
                      <a:solidFill>
                        <a:srgbClr val="DFE5DF"/>
                      </a:solidFill>
                      <a:prstDash val="solid"/>
                    </a:lnR>
                    <a:lnB w="9525">
                      <a:solidFill>
                        <a:srgbClr val="DFE5DF"/>
                      </a:solidFill>
                      <a:prstDash val="solid"/>
                    </a:lnB>
                    <a:solidFill>
                      <a:srgbClr val="F5F6F2"/>
                    </a:solidFill>
                  </a:tcPr>
                </a:tc>
              </a:tr>
            </a:tbl>
          </a:graphicData>
        </a:graphic>
      </p:graphicFrame>
      <p:sp>
        <p:nvSpPr>
          <p:cNvPr id="5" name="">
            <a:extLst xmlns:a="http://schemas.openxmlformats.org/drawingml/2006/main">
              <a:ext uri="{FF2B5EF4-FFF2-40B4-BE49-F238E27FC236}">
                <a16:creationId xmlns:a16="http://schemas.microsoft.com/office/drawing/2014/main" id="{C9A627D3-505D-49EC-91CE-C2D592AF047B}"/>
              </a:ext>
            </a:extLst>
          </p:cNvPr>
          <p:cNvSpPr>
            <a:spLocks xmlns:a="http://schemas.openxmlformats.org/drawingml/2006/main" noGrp="1"/>
          </p:cNvSpPr>
          <p:nvPr/>
        </p:nvSpPr>
        <p:spPr>
          <a:xfrm xmlns:a="http://schemas.openxmlformats.org/drawingml/2006/main">
            <a:off x="723900" y="461962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57574"/>
                </a:solidFill>
                <a:latin typeface="Helvetica Neue"/>
                <a:ea typeface="Helvetica Neue"/>
                <a:cs typeface="Helvetica Neue"/>
              </a:defRPr>
            </a:defPPr>
            <a:lvl1pPr>
              <a:defRPr sz="2025" b="0">
                <a:solidFill>
                  <a:srgbClr val="657574"/>
                </a:solidFill>
                <a:latin typeface="Helvetica Neue"/>
                <a:ea typeface="Helvetica Neue"/>
                <a:cs typeface="Helvetica Neue"/>
              </a:defRPr>
            </a:lvl1pPr>
            <a:lvl2pPr>
              <a:defRPr sz="2025" b="0">
                <a:solidFill>
                  <a:srgbClr val="657574"/>
                </a:solidFill>
                <a:latin typeface="Helvetica Neue"/>
                <a:ea typeface="Helvetica Neue"/>
                <a:cs typeface="Helvetica Neue"/>
              </a:defRPr>
            </a:lvl2pPr>
            <a:lvl3pPr>
              <a:defRPr sz="2025" b="0">
                <a:solidFill>
                  <a:srgbClr val="657574"/>
                </a:solidFill>
                <a:latin typeface="Helvetica Neue"/>
                <a:ea typeface="Helvetica Neue"/>
                <a:cs typeface="Helvetica Neue"/>
              </a:defRPr>
            </a:lvl3pPr>
            <a:lvl4pPr>
              <a:defRPr sz="2025" b="0">
                <a:solidFill>
                  <a:srgbClr val="657574"/>
                </a:solidFill>
                <a:latin typeface="Helvetica Neue"/>
                <a:ea typeface="Helvetica Neue"/>
                <a:cs typeface="Helvetica Neue"/>
              </a:defRPr>
            </a:lvl4pPr>
            <a:lvl5pPr>
              <a:defRPr sz="2025" b="0">
                <a:solidFill>
                  <a:srgbClr val="657574"/>
                </a:solidFill>
                <a:latin typeface="Helvetica Neue"/>
                <a:ea typeface="Helvetica Neue"/>
                <a:cs typeface="Helvetica Neue"/>
              </a:defRPr>
            </a:lvl5pPr>
            <a:lvl6pPr>
              <a:defRPr sz="2025" b="0">
                <a:solidFill>
                  <a:srgbClr val="657574"/>
                </a:solidFill>
                <a:latin typeface="Helvetica Neue"/>
                <a:ea typeface="Helvetica Neue"/>
                <a:cs typeface="Helvetica Neue"/>
              </a:defRPr>
            </a:lvl6pPr>
            <a:lvl7pPr>
              <a:defRPr sz="2025" b="0">
                <a:solidFill>
                  <a:srgbClr val="657574"/>
                </a:solidFill>
                <a:latin typeface="Helvetica Neue"/>
                <a:ea typeface="Helvetica Neue"/>
                <a:cs typeface="Helvetica Neue"/>
              </a:defRPr>
            </a:lvl7pPr>
            <a:lvl8pPr>
              <a:defRPr sz="2025" b="0">
                <a:solidFill>
                  <a:srgbClr val="657574"/>
                </a:solidFill>
                <a:latin typeface="Helvetica Neue"/>
                <a:ea typeface="Helvetica Neue"/>
                <a:cs typeface="Helvetica Neue"/>
              </a:defRPr>
            </a:lvl8pPr>
            <a:lvl9pPr>
              <a:defRPr sz="2025" b="0">
                <a:solidFill>
                  <a:srgbClr val="657574"/>
                </a:solidFill>
                <a:latin typeface="Helvetica Neue"/>
                <a:ea typeface="Helvetica Neue"/>
                <a:cs typeface="Helvetica Neue"/>
              </a:defRPr>
            </a:lvl9pPr>
          </a:lstStyle>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One fresh trial per task. 24 of 36 reviews remain pending under the</a:t>
            </a:r>
          </a:p>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selected daily quota. These are partial-suite counts.</a:t>
            </a:r>
          </a:p>
        </p:txBody>
      </p:sp>
      <p:sp>
        <p:nvSpPr>
          <p:cNvPr id="6" name="">
            <a:extLst xmlns:a="http://schemas.openxmlformats.org/drawingml/2006/main">
              <a:ext uri="{FF2B5EF4-FFF2-40B4-BE49-F238E27FC236}">
                <a16:creationId xmlns:a16="http://schemas.microsoft.com/office/drawing/2014/main" id="{381605EA-C0CF-41F2-9901-5CB86F8F81E3}"/>
              </a:ext>
            </a:extLst>
          </p:cNvPr>
          <p:cNvSpPr>
            <a:spLocks xmlns:a="http://schemas.openxmlformats.org/drawingml/2006/main" noGrp="1"/>
          </p:cNvSpPr>
          <p:nvPr/>
        </p:nvSpPr>
        <p:spPr>
          <a:xfrm xmlns:a="http://schemas.openxmlformats.org/drawingml/2006/main">
            <a:off x="723900" y="561975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E32"/>
                </a:solidFill>
                <a:latin typeface="Helvetica Neue"/>
                <a:ea typeface="Helvetica Neue"/>
                <a:cs typeface="Helvetica Neue"/>
              </a:defRPr>
            </a:defPPr>
            <a:lvl1pPr>
              <a:defRPr sz="1800" b="0">
                <a:solidFill>
                  <a:srgbClr val="172E32"/>
                </a:solidFill>
                <a:latin typeface="Helvetica Neue"/>
                <a:ea typeface="Helvetica Neue"/>
                <a:cs typeface="Helvetica Neue"/>
              </a:defRPr>
            </a:lvl1pPr>
            <a:lvl2pPr>
              <a:defRPr sz="1800" b="0">
                <a:solidFill>
                  <a:srgbClr val="172E32"/>
                </a:solidFill>
                <a:latin typeface="Helvetica Neue"/>
                <a:ea typeface="Helvetica Neue"/>
                <a:cs typeface="Helvetica Neue"/>
              </a:defRPr>
            </a:lvl2pPr>
            <a:lvl3pPr>
              <a:defRPr sz="1800" b="0">
                <a:solidFill>
                  <a:srgbClr val="172E32"/>
                </a:solidFill>
                <a:latin typeface="Helvetica Neue"/>
                <a:ea typeface="Helvetica Neue"/>
                <a:cs typeface="Helvetica Neue"/>
              </a:defRPr>
            </a:lvl3pPr>
            <a:lvl4pPr>
              <a:defRPr sz="1800" b="0">
                <a:solidFill>
                  <a:srgbClr val="172E32"/>
                </a:solidFill>
                <a:latin typeface="Helvetica Neue"/>
                <a:ea typeface="Helvetica Neue"/>
                <a:cs typeface="Helvetica Neue"/>
              </a:defRPr>
            </a:lvl4pPr>
            <a:lvl5pPr>
              <a:defRPr sz="1800" b="0">
                <a:solidFill>
                  <a:srgbClr val="172E32"/>
                </a:solidFill>
                <a:latin typeface="Helvetica Neue"/>
                <a:ea typeface="Helvetica Neue"/>
                <a:cs typeface="Helvetica Neue"/>
              </a:defRPr>
            </a:lvl5pPr>
            <a:lvl6pPr>
              <a:defRPr sz="1800" b="0">
                <a:solidFill>
                  <a:srgbClr val="172E32"/>
                </a:solidFill>
                <a:latin typeface="Helvetica Neue"/>
                <a:ea typeface="Helvetica Neue"/>
                <a:cs typeface="Helvetica Neue"/>
              </a:defRPr>
            </a:lvl6pPr>
            <a:lvl7pPr>
              <a:defRPr sz="1800" b="0">
                <a:solidFill>
                  <a:srgbClr val="172E32"/>
                </a:solidFill>
                <a:latin typeface="Helvetica Neue"/>
                <a:ea typeface="Helvetica Neue"/>
                <a:cs typeface="Helvetica Neue"/>
              </a:defRPr>
            </a:lvl7pPr>
            <a:lvl8pPr>
              <a:defRPr sz="1800" b="0">
                <a:solidFill>
                  <a:srgbClr val="172E32"/>
                </a:solidFill>
                <a:latin typeface="Helvetica Neue"/>
                <a:ea typeface="Helvetica Neue"/>
                <a:cs typeface="Helvetica Neue"/>
              </a:defRPr>
            </a:lvl8pPr>
            <a:lvl9pPr>
              <a:defRPr sz="1800" b="0">
                <a:solidFill>
                  <a:srgbClr val="172E32"/>
                </a:solidFill>
                <a:latin typeface="Helvetica Neue"/>
                <a:ea typeface="Helvetica Neue"/>
                <a:cs typeface="Helvetica Neue"/>
              </a:defRPr>
            </a:lvl9pPr>
          </a:lstStyle>
          <a:p xmlns:a="http://schemas.openxmlformats.org/drawingml/2006/main">
            <a:pPr>
              <a:defRPr sz="1800" b="0">
                <a:solidFill>
                  <a:srgbClr val="172E32"/>
                </a:solidFill>
                <a:latin typeface="Helvetica Neue"/>
                <a:ea typeface="Helvetica Neue"/>
                <a:cs typeface="Helvetica Neue"/>
              </a:defRPr>
            </a:pPr>
            <a:r>
              <a:rPr sz="1800" b="0">
                <a:solidFill>
                  <a:srgbClr val="172E32"/>
                </a:solidFill>
                <a:latin typeface="Helvetica Neue"/>
                <a:ea typeface="Helvetica Neue"/>
                <a:cs typeface="Helvetica Neue"/>
              </a:rPr>
              <a:t>B omitted the required comparison tool in one case.</a:t>
            </a:r>
          </a:p>
          <a:p xmlns:a="http://schemas.openxmlformats.org/drawingml/2006/main">
            <a:pPr>
              <a:defRPr sz="1800" b="0">
                <a:solidFill>
                  <a:srgbClr val="172E32"/>
                </a:solidFill>
                <a:latin typeface="Helvetica Neue"/>
                <a:ea typeface="Helvetica Neue"/>
                <a:cs typeface="Helvetica Neue"/>
              </a:defRPr>
            </a:pPr>
            <a:r>
              <a:rPr sz="1800" b="0">
                <a:solidFill>
                  <a:srgbClr val="172E32"/>
                </a:solidFill>
                <a:latin typeface="Helvetica Neue"/>
                <a:ea typeface="Helvetica Neue"/>
                <a:cs typeface="Helvetica Neue"/>
              </a:rPr>
              <a:t>The numerical delta was correct. No general improvement is established.</a:t>
            </a:r>
          </a:p>
        </p:txBody>
      </p:sp>
    </p:spTree>
    <p:extLst>
      <p:ext uri="{BB962C8B-B14F-4D97-AF65-F5344CB8AC3E}">
        <p14:creationId xmlns:p14="http://schemas.microsoft.com/office/powerpoint/2010/main" val="413752961"/>
      </p:ext>
    </p:extLst>
  </p:cSld>
</p:sld>
</file>

<file path=ppt/slides/slide6.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DA427F7-F7BB-48BE-9994-6F20FB9EE1DC}"/>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FA778563-D586-47F4-AFE3-1F4A318C9962}"/>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Security evidence and remaining work</a:t>
            </a:r>
          </a:p>
        </p:txBody>
      </p:sp>
      <p:sp>
        <p:nvSpPr>
          <p:cNvPr id="3" name="">
            <a:extLst xmlns:a="http://schemas.openxmlformats.org/drawingml/2006/main">
              <a:ext uri="{FF2B5EF4-FFF2-40B4-BE49-F238E27FC236}">
                <a16:creationId xmlns:a16="http://schemas.microsoft.com/office/drawing/2014/main" id="{AFED7EA2-A263-49B1-9B36-CD781F5AB0D0}"/>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33B53640-270E-469C-9DF2-266D239F9E8B}"/>
              </a:ext>
            </a:extLst>
          </p:cNvPr>
          <p:cNvSpPr>
            <a:spLocks xmlns:a="http://schemas.openxmlformats.org/drawingml/2006/main" noGrp="1"/>
          </p:cNvSpPr>
          <p:nvPr/>
        </p:nvSpPr>
        <p:spPr>
          <a:xfrm xmlns:a="http://schemas.openxmlformats.org/drawingml/2006/main">
            <a:off x="723900" y="209550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Observed live attack</a:t>
            </a:r>
          </a:p>
        </p:txBody>
      </p:sp>
      <p:sp>
        <p:nvSpPr>
          <p:cNvPr id="5" name="">
            <a:extLst xmlns:a="http://schemas.openxmlformats.org/drawingml/2006/main">
              <a:ext uri="{FF2B5EF4-FFF2-40B4-BE49-F238E27FC236}">
                <a16:creationId xmlns:a16="http://schemas.microsoft.com/office/drawing/2014/main" id="{F5838BE5-CE9E-4AA0-A1C8-CE4016CB8E57}"/>
              </a:ext>
            </a:extLst>
          </p:cNvPr>
          <p:cNvSpPr>
            <a:spLocks xmlns:a="http://schemas.openxmlformats.org/drawingml/2006/main" noGrp="1"/>
          </p:cNvSpPr>
          <p:nvPr/>
        </p:nvSpPr>
        <p:spPr>
          <a:xfrm xmlns:a="http://schemas.openxmlformats.org/drawingml/2006/main">
            <a:off x="723900" y="26670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2E32"/>
                </a:solidFill>
                <a:latin typeface="Helvetica Neue"/>
                <a:ea typeface="Helvetica Neue"/>
                <a:cs typeface="Helvetica Neue"/>
              </a:defRPr>
            </a:defPPr>
            <a:lvl1pPr>
              <a:defRPr sz="2175" b="0">
                <a:solidFill>
                  <a:srgbClr val="172E32"/>
                </a:solidFill>
                <a:latin typeface="Helvetica Neue"/>
                <a:ea typeface="Helvetica Neue"/>
                <a:cs typeface="Helvetica Neue"/>
              </a:defRPr>
            </a:lvl1pPr>
            <a:lvl2pPr>
              <a:defRPr sz="2175" b="0">
                <a:solidFill>
                  <a:srgbClr val="172E32"/>
                </a:solidFill>
                <a:latin typeface="Helvetica Neue"/>
                <a:ea typeface="Helvetica Neue"/>
                <a:cs typeface="Helvetica Neue"/>
              </a:defRPr>
            </a:lvl2pPr>
            <a:lvl3pPr>
              <a:defRPr sz="2175" b="0">
                <a:solidFill>
                  <a:srgbClr val="172E32"/>
                </a:solidFill>
                <a:latin typeface="Helvetica Neue"/>
                <a:ea typeface="Helvetica Neue"/>
                <a:cs typeface="Helvetica Neue"/>
              </a:defRPr>
            </a:lvl3pPr>
            <a:lvl4pPr>
              <a:defRPr sz="2175" b="0">
                <a:solidFill>
                  <a:srgbClr val="172E32"/>
                </a:solidFill>
                <a:latin typeface="Helvetica Neue"/>
                <a:ea typeface="Helvetica Neue"/>
                <a:cs typeface="Helvetica Neue"/>
              </a:defRPr>
            </a:lvl4pPr>
            <a:lvl5pPr>
              <a:defRPr sz="2175" b="0">
                <a:solidFill>
                  <a:srgbClr val="172E32"/>
                </a:solidFill>
                <a:latin typeface="Helvetica Neue"/>
                <a:ea typeface="Helvetica Neue"/>
                <a:cs typeface="Helvetica Neue"/>
              </a:defRPr>
            </a:lvl5pPr>
            <a:lvl6pPr>
              <a:defRPr sz="2175" b="0">
                <a:solidFill>
                  <a:srgbClr val="172E32"/>
                </a:solidFill>
                <a:latin typeface="Helvetica Neue"/>
                <a:ea typeface="Helvetica Neue"/>
                <a:cs typeface="Helvetica Neue"/>
              </a:defRPr>
            </a:lvl6pPr>
            <a:lvl7pPr>
              <a:defRPr sz="2175" b="0">
                <a:solidFill>
                  <a:srgbClr val="172E32"/>
                </a:solidFill>
                <a:latin typeface="Helvetica Neue"/>
                <a:ea typeface="Helvetica Neue"/>
                <a:cs typeface="Helvetica Neue"/>
              </a:defRPr>
            </a:lvl7pPr>
            <a:lvl8pPr>
              <a:defRPr sz="2175" b="0">
                <a:solidFill>
                  <a:srgbClr val="172E32"/>
                </a:solidFill>
                <a:latin typeface="Helvetica Neue"/>
                <a:ea typeface="Helvetica Neue"/>
                <a:cs typeface="Helvetica Neue"/>
              </a:defRPr>
            </a:lvl8pPr>
            <a:lvl9pPr>
              <a:defRPr sz="2175" b="0">
                <a:solidFill>
                  <a:srgbClr val="172E32"/>
                </a:solidFill>
                <a:latin typeface="Helvetica Neue"/>
                <a:ea typeface="Helvetica Neue"/>
                <a:cs typeface="Helvetica Neue"/>
              </a:defRPr>
            </a:lvl9pPr>
          </a:lstStyle>
          <a:p xmlns:a="http://schemas.openxmlformats.org/drawingml/2006/main">
            <a:pPr>
              <a:defRPr sz="2175" b="0">
                <a:solidFill>
                  <a:srgbClr val="172E32"/>
                </a:solidFill>
                <a:latin typeface="Helvetica Neue"/>
                <a:ea typeface="Helvetica Neue"/>
                <a:cs typeface="Helvetica Neue"/>
              </a:defRPr>
            </a:pPr>
            <a:r>
              <a:rPr sz="2175" b="0">
                <a:solidFill>
                  <a:srgbClr val="172E32"/>
                </a:solidFill>
                <a:latin typeface="Helvetica Neue"/>
                <a:ea typeface="Helvetica Neue"/>
                <a:cs typeface="Helvetica Neue"/>
              </a:rPr>
              <a:t>A run note requested an out-of-root save and bypassed approval.</a:t>
            </a:r>
          </a:p>
          <a:p xmlns:a="http://schemas.openxmlformats.org/drawingml/2006/main">
            <a:pPr>
              <a:defRPr sz="2175" b="0">
                <a:solidFill>
                  <a:srgbClr val="172E32"/>
                </a:solidFill>
                <a:latin typeface="Helvetica Neue"/>
                <a:ea typeface="Helvetica Neue"/>
                <a:cs typeface="Helvetica Neue"/>
              </a:defRPr>
            </a:pPr>
            <a:r>
              <a:rPr sz="2175" b="0">
                <a:solidFill>
                  <a:srgbClr val="172E32"/>
                </a:solidFill>
                <a:latin typeface="Helvetica Neue"/>
                <a:ea typeface="Helvetica Neue"/>
                <a:cs typeface="Helvetica Neue"/>
              </a:rPr>
              <a:t>The live reviewer reported it and created no action or file.</a:t>
            </a:r>
          </a:p>
        </p:txBody>
      </p:sp>
      <p:sp>
        <p:nvSpPr>
          <p:cNvPr id="6" name="">
            <a:extLst xmlns:a="http://schemas.openxmlformats.org/drawingml/2006/main">
              <a:ext uri="{FF2B5EF4-FFF2-40B4-BE49-F238E27FC236}">
                <a16:creationId xmlns:a16="http://schemas.microsoft.com/office/drawing/2014/main" id="{906DDA3C-ED32-4A09-AF92-3D0EA839FE43}"/>
              </a:ext>
            </a:extLst>
          </p:cNvPr>
          <p:cNvSpPr>
            <a:spLocks xmlns:a="http://schemas.openxmlformats.org/drawingml/2006/main" noGrp="1"/>
          </p:cNvSpPr>
          <p:nvPr/>
        </p:nvSpPr>
        <p:spPr>
          <a:xfrm xmlns:a="http://schemas.openxmlformats.org/drawingml/2006/main">
            <a:off x="723900" y="390525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Code-enforced boundary</a:t>
            </a:r>
          </a:p>
        </p:txBody>
      </p:sp>
      <p:sp>
        <p:nvSpPr>
          <p:cNvPr id="7" name="">
            <a:extLst xmlns:a="http://schemas.openxmlformats.org/drawingml/2006/main">
              <a:ext uri="{FF2B5EF4-FFF2-40B4-BE49-F238E27FC236}">
                <a16:creationId xmlns:a16="http://schemas.microsoft.com/office/drawing/2014/main" id="{5E2840AA-7202-403A-B6D4-546675ACC29E}"/>
              </a:ext>
            </a:extLst>
          </p:cNvPr>
          <p:cNvSpPr>
            <a:spLocks xmlns:a="http://schemas.openxmlformats.org/drawingml/2006/main" noGrp="1"/>
          </p:cNvSpPr>
          <p:nvPr/>
        </p:nvSpPr>
        <p:spPr>
          <a:xfrm xmlns:a="http://schemas.openxmlformats.org/drawingml/2006/main">
            <a:off x="723900" y="44767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defRPr sz="2100" b="0">
                <a:solidFill>
                  <a:srgbClr val="172E32"/>
                </a:solidFill>
                <a:latin typeface="Helvetica Neue"/>
                <a:ea typeface="Helvetica Neue"/>
                <a:cs typeface="Helvetica Neue"/>
              </a:defRPr>
            </a:lvl1pPr>
            <a:lvl2pPr>
              <a:defRPr sz="2100" b="0">
                <a:solidFill>
                  <a:srgbClr val="172E32"/>
                </a:solidFill>
                <a:latin typeface="Helvetica Neue"/>
                <a:ea typeface="Helvetica Neue"/>
                <a:cs typeface="Helvetica Neue"/>
              </a:defRPr>
            </a:lvl2pPr>
            <a:lvl3pPr>
              <a:defRPr sz="2100" b="0">
                <a:solidFill>
                  <a:srgbClr val="172E32"/>
                </a:solidFill>
                <a:latin typeface="Helvetica Neue"/>
                <a:ea typeface="Helvetica Neue"/>
                <a:cs typeface="Helvetica Neue"/>
              </a:defRPr>
            </a:lvl3pPr>
            <a:lvl4pPr>
              <a:defRPr sz="2100" b="0">
                <a:solidFill>
                  <a:srgbClr val="172E32"/>
                </a:solidFill>
                <a:latin typeface="Helvetica Neue"/>
                <a:ea typeface="Helvetica Neue"/>
                <a:cs typeface="Helvetica Neue"/>
              </a:defRPr>
            </a:lvl4pPr>
            <a:lvl5pPr>
              <a:defRPr sz="2100" b="0">
                <a:solidFill>
                  <a:srgbClr val="172E32"/>
                </a:solidFill>
                <a:latin typeface="Helvetica Neue"/>
                <a:ea typeface="Helvetica Neue"/>
                <a:cs typeface="Helvetica Neue"/>
              </a:defRPr>
            </a:lvl5pPr>
            <a:lvl6pPr>
              <a:defRPr sz="2100" b="0">
                <a:solidFill>
                  <a:srgbClr val="172E32"/>
                </a:solidFill>
                <a:latin typeface="Helvetica Neue"/>
                <a:ea typeface="Helvetica Neue"/>
                <a:cs typeface="Helvetica Neue"/>
              </a:defRPr>
            </a:lvl6pPr>
            <a:lvl7pPr>
              <a:defRPr sz="2100" b="0">
                <a:solidFill>
                  <a:srgbClr val="172E32"/>
                </a:solidFill>
                <a:latin typeface="Helvetica Neue"/>
                <a:ea typeface="Helvetica Neue"/>
                <a:cs typeface="Helvetica Neue"/>
              </a:defRPr>
            </a:lvl7pPr>
            <a:lvl8pPr>
              <a:defRPr sz="2100" b="0">
                <a:solidFill>
                  <a:srgbClr val="172E32"/>
                </a:solidFill>
                <a:latin typeface="Helvetica Neue"/>
                <a:ea typeface="Helvetica Neue"/>
                <a:cs typeface="Helvetica Neue"/>
              </a:defRPr>
            </a:lvl8pPr>
            <a:lvl9pPr>
              <a:defRPr sz="2100" b="0">
                <a:solidFill>
                  <a:srgbClr val="172E32"/>
                </a:solidFill>
                <a:latin typeface="Helvetica Neue"/>
                <a:ea typeface="Helvetica Neue"/>
                <a:cs typeface="Helvetica Neue"/>
              </a:defRPr>
            </a:lvl9pPr>
          </a:lstStyle>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Handler tests reject path fields, changed digests and foreign sessions.</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A valid approval saves exactly one reviewed specification.</a:t>
            </a:r>
          </a:p>
        </p:txBody>
      </p:sp>
      <p:sp>
        <p:nvSpPr>
          <p:cNvPr id="8" name="">
            <a:extLst xmlns:a="http://schemas.openxmlformats.org/drawingml/2006/main">
              <a:ext uri="{FF2B5EF4-FFF2-40B4-BE49-F238E27FC236}">
                <a16:creationId xmlns:a16="http://schemas.microsoft.com/office/drawing/2014/main" id="{B93C532E-AA97-48F5-B48F-95AD37ECC439}"/>
              </a:ext>
            </a:extLst>
          </p:cNvPr>
          <p:cNvSpPr>
            <a:spLocks xmlns:a="http://schemas.openxmlformats.org/drawingml/2006/main" noGrp="1"/>
          </p:cNvSpPr>
          <p:nvPr/>
        </p:nvSpPr>
        <p:spPr>
          <a:xfrm xmlns:a="http://schemas.openxmlformats.org/drawingml/2006/main">
            <a:off x="723900" y="58102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57574"/>
                </a:solidFill>
                <a:latin typeface="Helvetica Neue"/>
                <a:ea typeface="Helvetica Neue"/>
                <a:cs typeface="Helvetica Neue"/>
              </a:defRPr>
            </a:defPPr>
            <a:lvl1pPr>
              <a:defRPr sz="1725" b="0">
                <a:solidFill>
                  <a:srgbClr val="657574"/>
                </a:solidFill>
                <a:latin typeface="Helvetica Neue"/>
                <a:ea typeface="Helvetica Neue"/>
                <a:cs typeface="Helvetica Neue"/>
              </a:defRPr>
            </a:lvl1pPr>
            <a:lvl2pPr>
              <a:defRPr sz="1725" b="0">
                <a:solidFill>
                  <a:srgbClr val="657574"/>
                </a:solidFill>
                <a:latin typeface="Helvetica Neue"/>
                <a:ea typeface="Helvetica Neue"/>
                <a:cs typeface="Helvetica Neue"/>
              </a:defRPr>
            </a:lvl2pPr>
            <a:lvl3pPr>
              <a:defRPr sz="1725" b="0">
                <a:solidFill>
                  <a:srgbClr val="657574"/>
                </a:solidFill>
                <a:latin typeface="Helvetica Neue"/>
                <a:ea typeface="Helvetica Neue"/>
                <a:cs typeface="Helvetica Neue"/>
              </a:defRPr>
            </a:lvl3pPr>
            <a:lvl4pPr>
              <a:defRPr sz="1725" b="0">
                <a:solidFill>
                  <a:srgbClr val="657574"/>
                </a:solidFill>
                <a:latin typeface="Helvetica Neue"/>
                <a:ea typeface="Helvetica Neue"/>
                <a:cs typeface="Helvetica Neue"/>
              </a:defRPr>
            </a:lvl4pPr>
            <a:lvl5pPr>
              <a:defRPr sz="1725" b="0">
                <a:solidFill>
                  <a:srgbClr val="657574"/>
                </a:solidFill>
                <a:latin typeface="Helvetica Neue"/>
                <a:ea typeface="Helvetica Neue"/>
                <a:cs typeface="Helvetica Neue"/>
              </a:defRPr>
            </a:lvl5pPr>
            <a:lvl6pPr>
              <a:defRPr sz="1725" b="0">
                <a:solidFill>
                  <a:srgbClr val="657574"/>
                </a:solidFill>
                <a:latin typeface="Helvetica Neue"/>
                <a:ea typeface="Helvetica Neue"/>
                <a:cs typeface="Helvetica Neue"/>
              </a:defRPr>
            </a:lvl6pPr>
            <a:lvl7pPr>
              <a:defRPr sz="1725" b="0">
                <a:solidFill>
                  <a:srgbClr val="657574"/>
                </a:solidFill>
                <a:latin typeface="Helvetica Neue"/>
                <a:ea typeface="Helvetica Neue"/>
                <a:cs typeface="Helvetica Neue"/>
              </a:defRPr>
            </a:lvl7pPr>
            <a:lvl8pPr>
              <a:defRPr sz="1725" b="0">
                <a:solidFill>
                  <a:srgbClr val="657574"/>
                </a:solidFill>
                <a:latin typeface="Helvetica Neue"/>
                <a:ea typeface="Helvetica Neue"/>
                <a:cs typeface="Helvetica Neue"/>
              </a:defRPr>
            </a:lvl8pPr>
            <a:lvl9pPr>
              <a:defRPr sz="1725" b="0">
                <a:solidFill>
                  <a:srgbClr val="657574"/>
                </a:solidFill>
                <a:latin typeface="Helvetica Neue"/>
                <a:ea typeface="Helvetica Neue"/>
                <a:cs typeface="Helvetica Neue"/>
              </a:defRPr>
            </a:lvl9pPr>
          </a:lstStyle>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Next: finish pending live evaluations, strengthen procedure invocation,</a:t>
            </a:r>
          </a:p>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and validate real experiment exports with traceable provenance.</a:t>
            </a:r>
          </a:p>
        </p:txBody>
      </p:sp>
    </p:spTree>
    <p:extLst>
      <p:ext uri="{BB962C8B-B14F-4D97-AF65-F5344CB8AC3E}">
        <p14:creationId xmlns:p14="http://schemas.microsoft.com/office/powerpoint/2010/main" val="14457514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2026-10-28T14:48:23.5530000Z</dcterms:created>
  <dcterms:modified xsi:type="dcterms:W3CDTF">2026-10-28T14:48:23.5530000Z</dcterms:modified>
</coreProperties>
</file>