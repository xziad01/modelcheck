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f5e14789912c4d61" /><Relationship Type="http://schemas.openxmlformats.org/officeDocument/2006/relationships/extended-properties" Target="/docProps/app.xml" Id="R17e4241ce26e4d6f" /><Relationship Type="http://schemas.openxmlformats.org/officeDocument/2006/relationships/officeDocument" Target="/ppt/presentation.xml" Id="R272515dc120b4943" /></Relationships>
</file>

<file path=ppt/presentation.xml><?xml version="1.0" encoding="utf-8"?>
<p:presentation xmlns:p="http://schemas.openxmlformats.org/presentationml/2006/main">
  <p:sldMasterIdLst>
    <p:sldMasterId xmlns:r="http://schemas.openxmlformats.org/officeDocument/2006/relationships" id="2147483648" r:id="Raa3bd2e7efd045e3"/>
  </p:sldMasterIdLst>
  <p:notesMasterIdLst>
    <p:notesMasterId xmlns:r="http://schemas.openxmlformats.org/officeDocument/2006/relationships" r:id="R25b5f492226c47a7"/>
  </p:notesMasterIdLst>
  <p:sldIdLst>
    <p:sldId xmlns:r="http://schemas.openxmlformats.org/officeDocument/2006/relationships" id="256" r:id="R1113b8f1c7174f36"/>
    <p:sldId xmlns:r="http://schemas.openxmlformats.org/officeDocument/2006/relationships" id="257" r:id="R4011923905e84c48"/>
    <p:sldId xmlns:r="http://schemas.openxmlformats.org/officeDocument/2006/relationships" id="258" r:id="R67a702c755e740fa"/>
    <p:sldId xmlns:r="http://schemas.openxmlformats.org/officeDocument/2006/relationships" id="259" r:id="Rc77d3a369d2043d6"/>
    <p:sldId xmlns:r="http://schemas.openxmlformats.org/officeDocument/2006/relationships" id="260" r:id="R40cac453eec54f92"/>
    <p:sldId xmlns:r="http://schemas.openxmlformats.org/officeDocument/2006/relationships" id="261" r:id="Raf1112d3b13a4f2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b9da1e6905d49f4" /><Relationship Type="http://schemas.openxmlformats.org/officeDocument/2006/relationships/slideMaster" Target="/ppt/slideMasters/slideMaster1.xml" Id="Raa3bd2e7efd045e3" /><Relationship Type="http://schemas.openxmlformats.org/officeDocument/2006/relationships/notesMaster" Target="/ppt/notesMasters/notesMaster1.xml" Id="R25b5f492226c47a7" /><Relationship Type="http://schemas.openxmlformats.org/officeDocument/2006/relationships/presProps" Target="/ppt/presProps.xml" Id="R65f3e80e920e4cbb" /><Relationship Type="http://schemas.openxmlformats.org/officeDocument/2006/relationships/tableStyles" Target="/ppt/tableStyles.xml" Id="R21fd7c7fc91f4f93" /><Relationship Type="http://schemas.openxmlformats.org/officeDocument/2006/relationships/slide" Target="/ppt/slides/slide1.xml" Id="R1113b8f1c7174f36" /><Relationship Type="http://schemas.openxmlformats.org/officeDocument/2006/relationships/slide" Target="/ppt/slides/slide2.xml" Id="R4011923905e84c48" /><Relationship Type="http://schemas.openxmlformats.org/officeDocument/2006/relationships/slide" Target="/ppt/slides/slide3.xml" Id="R67a702c755e740fa" /><Relationship Type="http://schemas.openxmlformats.org/officeDocument/2006/relationships/slide" Target="/ppt/slides/slide4.xml" Id="Rc77d3a369d2043d6" /><Relationship Type="http://schemas.openxmlformats.org/officeDocument/2006/relationships/slide" Target="/ppt/slides/slide5.xml" Id="R40cac453eec54f92" /><Relationship Type="http://schemas.openxmlformats.org/officeDocument/2006/relationships/slide" Target="/ppt/slides/slide6.xml" Id="Raf1112d3b13a4f2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8559b2449ca40a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0f72e071edd4d5d" /><Relationship Type="http://schemas.openxmlformats.org/officeDocument/2006/relationships/notesMaster" Target="/ppt/notesMasters/notesMaster1.xml" Id="R7e8ce4c2f07e460a" /></Relationships>
</file>

<file path=ppt/notesSlides/_rels/notesSlide2.xml.rels>&#65279;<?xml version="1.0" encoding="utf-8"?><Relationships xmlns="http://schemas.openxmlformats.org/package/2006/relationships"><Relationship Type="http://schemas.openxmlformats.org/officeDocument/2006/relationships/slide" Target="/ppt/slides/slide2.xml" Id="R5a024e51866a428a" /><Relationship Type="http://schemas.openxmlformats.org/officeDocument/2006/relationships/notesMaster" Target="/ppt/notesMasters/notesMaster1.xml" Id="R078c25d0aa7d4440" /></Relationships>
</file>

<file path=ppt/notesSlides/_rels/notesSlide3.xml.rels>&#65279;<?xml version="1.0" encoding="utf-8"?><Relationships xmlns="http://schemas.openxmlformats.org/package/2006/relationships"><Relationship Type="http://schemas.openxmlformats.org/officeDocument/2006/relationships/slide" Target="/ppt/slides/slide3.xml" Id="R87537096c2494918" /><Relationship Type="http://schemas.openxmlformats.org/officeDocument/2006/relationships/notesMaster" Target="/ppt/notesMasters/notesMaster1.xml" Id="R97abd49ae70f4349" /></Relationships>
</file>

<file path=ppt/notesSlides/_rels/notesSlide4.xml.rels>&#65279;<?xml version="1.0" encoding="utf-8"?><Relationships xmlns="http://schemas.openxmlformats.org/package/2006/relationships"><Relationship Type="http://schemas.openxmlformats.org/officeDocument/2006/relationships/slide" Target="/ppt/slides/slide4.xml" Id="Rec56bef0736443e8" /><Relationship Type="http://schemas.openxmlformats.org/officeDocument/2006/relationships/notesMaster" Target="/ppt/notesMasters/notesMaster1.xml" Id="R065cafcd59954100" /></Relationships>
</file>

<file path=ppt/notesSlides/_rels/notesSlide5.xml.rels>&#65279;<?xml version="1.0" encoding="utf-8"?><Relationships xmlns="http://schemas.openxmlformats.org/package/2006/relationships"><Relationship Type="http://schemas.openxmlformats.org/officeDocument/2006/relationships/slide" Target="/ppt/slides/slide5.xml" Id="R374a1a6e0cc6498e" /><Relationship Type="http://schemas.openxmlformats.org/officeDocument/2006/relationships/notesMaster" Target="/ppt/notesMasters/notesMaster1.xml" Id="Rd47e4e7c6ce548ef" /></Relationships>
</file>

<file path=ppt/notesSlides/_rels/notesSlide6.xml.rels>&#65279;<?xml version="1.0" encoding="utf-8"?><Relationships xmlns="http://schemas.openxmlformats.org/package/2006/relationships"><Relationship Type="http://schemas.openxmlformats.org/officeDocument/2006/relationships/slide" Target="/ppt/slides/slide6.xml" Id="R6dc159e0cfa64dac" /><Relationship Type="http://schemas.openxmlformats.org/officeDocument/2006/relationships/notesMaster" Target="/ppt/notesMasters/notesMaster1.xml" Id="R970d1f8f36ee4d7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ModelCheck reviews classification experiment exports for aggregate and source-specific errors, coverage and provenance. Sources: README.md; SDAIA capstone requirements at https://github.com/SDAIAAcademy/agentic-ai/tree/main/labs/capstone.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synthetic fixture contains 40 test examples. Baseline counts: tn 18, fp 2, fn 2, tp 18. Candidate counts: tn 19, fp 1, fn 5, tp 15. The demo supports sample inspection, recorded or live review and an approved validation-only follow-up specification. Source: samples.py and data.py. Differences are descriptive; the fixture provides no causal or statistical-significance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Browser requests pass through the local FastAPI session boundary. Four read tools use stdio MCP. SQLite stores evidence and pending actions; the approval handler controls the exact file save. Live inference sends questions and bounded tool results to OpenRouter. Sources: app.py, bridge.py, mcp_server.py and store.py.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runtime offers on-demand protocol retrieval, evidence IDs and bounded context. Observed protocol invocation is inconsistent. Additional caps: 16 tool executions, 1,200 output tokens per call, 30,000 cumulative reported tokens, 180 seconds and USD 0.05 estimated cost. One unscored development run reached the token budget. Sources: agent.py, store.py, skills/review-experiment/SKILL.md and submission/traces.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Eighteen tasks define 36 scheduled reviews across A and B. Six paired tasks executed. B used two compute_metrics calls for matched-comparison and returned the correct minus-five-percentage-point accuracy delta, but omitted compare_runs. The tool-use and comparison-outcome graders failed. Both configurations use identical application controls. Sources: submission/summary.json, A.csv, B.csv and traces/matched-comparison-B.json.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live malicious-description test used two requests and called inspect_manifest only. It reported the injection and created no pending action or file. Handler tests separately cover path fields, tampered digests, foreign sessions and valid saves. Broader live security and action evaluations remain pending. Sources: submission/security/live-attack.json, SECURITY.md, tests/test_core.py and tests/test_agent.py.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2e8c509d893463c"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5c17fab46de142e0"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a6c7c08b95c14352"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c324493b600e4357"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5f9f178699df4f00"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3ce8277ac2af47c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DAF05B3-FD25-43CA-9487-7D7D4740C78D}"/>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2C4A1F26-03ED-431C-8E39-3540CB5F5489}"/>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1A0B0784-4245-4264-8BFE-944FED781C56}"/>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02B8807-C4CA-4D85-AD67-2546F59D914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6550346C-8B6C-4ED6-AF3F-3B137F90D16C}"/>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DB116AC6-E19A-4D91-99F5-2FB3D6F67A4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23DF8A5-7E22-4D30-92E9-AC8950F5D3FE}"/>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9CCE6DE1-A56D-4A25-80F7-627B5E67D316}"/>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E2144FF-B775-43F6-BA1B-4FFB4BDD8A7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3445C89-D363-4D20-A433-D5F9994C5EED}"/>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1d7449daf43410f" /><Relationship Type="http://schemas.openxmlformats.org/officeDocument/2006/relationships/slideLayout" Target="/ppt/slideLayouts/slideLayout1.xml" Id="R5929986f24c2431b" /><Relationship Type="http://schemas.openxmlformats.org/officeDocument/2006/relationships/slideLayout" Target="/ppt/slideLayouts/slideLayout2.xml" Id="R8c5e24f8923f4f33" /><Relationship Type="http://schemas.openxmlformats.org/officeDocument/2006/relationships/slideLayout" Target="/ppt/slideLayouts/slideLayout3.xml" Id="Rac0f7d8c4fcb4634" /><Relationship Type="http://schemas.openxmlformats.org/officeDocument/2006/relationships/slideLayout" Target="/ppt/slideLayouts/slideLayout4.xml" Id="R050a53ea655d4be6" /><Relationship Type="http://schemas.openxmlformats.org/officeDocument/2006/relationships/slideLayout" Target="/ppt/slideLayouts/slideLayout5.xml" Id="Rb63e435307f741d8" /><Relationship Type="http://schemas.openxmlformats.org/officeDocument/2006/relationships/slideLayout" Target="/ppt/slideLayouts/slideLayout6.xml" Id="R22beb598a3d2456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929986f24c2431b"/>
    <p:sldLayoutId xmlns:r="http://schemas.openxmlformats.org/officeDocument/2006/relationships" id="2147483650" r:id="R8c5e24f8923f4f33"/>
    <p:sldLayoutId xmlns:r="http://schemas.openxmlformats.org/officeDocument/2006/relationships" id="2147483651" r:id="Rac0f7d8c4fcb4634"/>
    <p:sldLayoutId xmlns:r="http://schemas.openxmlformats.org/officeDocument/2006/relationships" id="2147483652" r:id="R050a53ea655d4be6"/>
    <p:sldLayoutId xmlns:r="http://schemas.openxmlformats.org/officeDocument/2006/relationships" id="2147483653" r:id="Rb63e435307f741d8"/>
    <p:sldLayoutId xmlns:r="http://schemas.openxmlformats.org/officeDocument/2006/relationships" id="2147483654" r:id="R22beb598a3d2456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6108a7f95da5451a" /><Relationship Type="http://schemas.openxmlformats.org/officeDocument/2006/relationships/notesSlide" Target="/ppt/notesSlides/notesSlide1.xml" Id="Rc06316ca42a44176"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f3145388002c47a8" /><Relationship Type="http://schemas.openxmlformats.org/officeDocument/2006/relationships/notesSlide" Target="/ppt/notesSlides/notesSlide2.xml" Id="R7ca637349042464e"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709b339982a14c6e" /><Relationship Type="http://schemas.openxmlformats.org/officeDocument/2006/relationships/notesSlide" Target="/ppt/notesSlides/notesSlide3.xml" Id="R75bd744e92cf41ec"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cabc24d876dd4bc3" /><Relationship Type="http://schemas.openxmlformats.org/officeDocument/2006/relationships/notesSlide" Target="/ppt/notesSlides/notesSlide4.xml" Id="R27c0ceda33b3406c"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d686feb1aa514b79" /><Relationship Type="http://schemas.openxmlformats.org/officeDocument/2006/relationships/notesSlide" Target="/ppt/notesSlides/notesSlide5.xml" Id="R185710b1facd48a5"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c99b3939123d4b2f" /><Relationship Type="http://schemas.openxmlformats.org/officeDocument/2006/relationships/notesSlide" Target="/ppt/notesSlides/notesSlide6.xml" Id="R1874dfd1372b4193" /></Relationships>
</file>

<file path=ppt/slides/slide1.xml><?xml version="1.0" encoding="utf-8"?>
<p:sld xmlns:p="http://schemas.openxmlformats.org/presentationml/2006/main">
  <p:cSld>
    <p:bg>
      <p:bgPr>
        <a:solidFill xmlns:a="http://schemas.openxmlformats.org/drawingml/2006/main">
          <a:srgbClr val="F5F6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22BC544D-88D0-400D-B236-66C815D36531}"/>
              </a:ext>
            </a:extLst>
          </p:cNvPr>
          <p:cNvSpPr>
            <a:spLocks xmlns:a="http://schemas.openxmlformats.org/drawingml/2006/main" noGrp="1"/>
          </p:cNvSpPr>
          <p:nvPr/>
        </p:nvSpPr>
        <p:spPr>
          <a:xfrm xmlns:a="http://schemas.openxmlformats.org/drawingml/2006/main">
            <a:off x="7239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1">
                <a:solidFill>
                  <a:srgbClr val="146B5F"/>
                </a:solidFill>
                <a:latin typeface="Helvetica Neue"/>
                <a:ea typeface="Helvetica Neue"/>
                <a:cs typeface="Helvetica Neue"/>
              </a:defRPr>
            </a:defPPr>
            <a:lvl1pPr>
              <a:defRPr sz="1125" b="1">
                <a:solidFill>
                  <a:srgbClr val="146B5F"/>
                </a:solidFill>
                <a:latin typeface="Helvetica Neue"/>
                <a:ea typeface="Helvetica Neue"/>
                <a:cs typeface="Helvetica Neue"/>
              </a:defRPr>
            </a:lvl1pPr>
            <a:lvl2pPr>
              <a:defRPr sz="1125" b="1">
                <a:solidFill>
                  <a:srgbClr val="146B5F"/>
                </a:solidFill>
                <a:latin typeface="Helvetica Neue"/>
                <a:ea typeface="Helvetica Neue"/>
                <a:cs typeface="Helvetica Neue"/>
              </a:defRPr>
            </a:lvl2pPr>
            <a:lvl3pPr>
              <a:defRPr sz="1125" b="1">
                <a:solidFill>
                  <a:srgbClr val="146B5F"/>
                </a:solidFill>
                <a:latin typeface="Helvetica Neue"/>
                <a:ea typeface="Helvetica Neue"/>
                <a:cs typeface="Helvetica Neue"/>
              </a:defRPr>
            </a:lvl3pPr>
            <a:lvl4pPr>
              <a:defRPr sz="1125" b="1">
                <a:solidFill>
                  <a:srgbClr val="146B5F"/>
                </a:solidFill>
                <a:latin typeface="Helvetica Neue"/>
                <a:ea typeface="Helvetica Neue"/>
                <a:cs typeface="Helvetica Neue"/>
              </a:defRPr>
            </a:lvl4pPr>
            <a:lvl5pPr>
              <a:defRPr sz="1125" b="1">
                <a:solidFill>
                  <a:srgbClr val="146B5F"/>
                </a:solidFill>
                <a:latin typeface="Helvetica Neue"/>
                <a:ea typeface="Helvetica Neue"/>
                <a:cs typeface="Helvetica Neue"/>
              </a:defRPr>
            </a:lvl5pPr>
            <a:lvl6pPr>
              <a:defRPr sz="1125" b="1">
                <a:solidFill>
                  <a:srgbClr val="146B5F"/>
                </a:solidFill>
                <a:latin typeface="Helvetica Neue"/>
                <a:ea typeface="Helvetica Neue"/>
                <a:cs typeface="Helvetica Neue"/>
              </a:defRPr>
            </a:lvl6pPr>
            <a:lvl7pPr>
              <a:defRPr sz="1125" b="1">
                <a:solidFill>
                  <a:srgbClr val="146B5F"/>
                </a:solidFill>
                <a:latin typeface="Helvetica Neue"/>
                <a:ea typeface="Helvetica Neue"/>
                <a:cs typeface="Helvetica Neue"/>
              </a:defRPr>
            </a:lvl7pPr>
            <a:lvl8pPr>
              <a:defRPr sz="1125" b="1">
                <a:solidFill>
                  <a:srgbClr val="146B5F"/>
                </a:solidFill>
                <a:latin typeface="Helvetica Neue"/>
                <a:ea typeface="Helvetica Neue"/>
                <a:cs typeface="Helvetica Neue"/>
              </a:defRPr>
            </a:lvl8pPr>
            <a:lvl9pPr>
              <a:defRPr sz="1125" b="1">
                <a:solidFill>
                  <a:srgbClr val="146B5F"/>
                </a:solidFill>
                <a:latin typeface="Helvetica Neue"/>
                <a:ea typeface="Helvetica Neue"/>
                <a:cs typeface="Helvetica Neue"/>
              </a:defRPr>
            </a:lvl9pPr>
          </a:lstStyle>
          <a:p xmlns:a="http://schemas.openxmlformats.org/drawingml/2006/main">
            <a:pPr>
              <a:defRPr sz="1125" b="1">
                <a:solidFill>
                  <a:srgbClr val="146B5F"/>
                </a:solidFill>
                <a:latin typeface="Helvetica Neue"/>
                <a:ea typeface="Helvetica Neue"/>
                <a:cs typeface="Helvetica Neue"/>
              </a:defRPr>
            </a:pPr>
            <a:r>
              <a:rPr sz="1125" b="1">
                <a:solidFill>
                  <a:srgbClr val="146B5F"/>
                </a:solidFill>
                <a:latin typeface="Helvetica Neue"/>
                <a:ea typeface="Helvetica Neue"/>
                <a:cs typeface="Helvetica Neue"/>
              </a:rPr>
              <a:t>MODELCHECK    /    SDAIA CAPSTONE</a:t>
            </a:r>
          </a:p>
        </p:txBody>
      </p:sp>
      <p:sp>
        <p:nvSpPr>
          <p:cNvPr id="2" name="">
            <a:extLst xmlns:a="http://schemas.openxmlformats.org/drawingml/2006/main">
              <a:ext uri="{FF2B5EF4-FFF2-40B4-BE49-F238E27FC236}">
                <a16:creationId xmlns:a16="http://schemas.microsoft.com/office/drawing/2014/main" id="{B5FEB4C0-644A-4B72-BFD3-BE2636A2439A}"/>
              </a:ext>
            </a:extLst>
          </p:cNvPr>
          <p:cNvSpPr>
            <a:spLocks xmlns:a="http://schemas.openxmlformats.org/drawingml/2006/main" noGrp="1"/>
          </p:cNvSpPr>
          <p:nvPr/>
        </p:nvSpPr>
        <p:spPr>
          <a:xfrm xmlns:a="http://schemas.openxmlformats.org/drawingml/2006/main">
            <a:off x="723900" y="990600"/>
            <a:ext cx="107442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825" b="0">
                <a:solidFill>
                  <a:srgbClr val="172E32"/>
                </a:solidFill>
                <a:latin typeface="Helvetica Neue"/>
                <a:ea typeface="Helvetica Neue"/>
                <a:cs typeface="Helvetica Neue"/>
              </a:defRPr>
            </a:defPPr>
            <a:lvl1pPr>
              <a:defRPr sz="3825" b="0">
                <a:solidFill>
                  <a:srgbClr val="172E32"/>
                </a:solidFill>
                <a:latin typeface="Helvetica Neue"/>
                <a:ea typeface="Helvetica Neue"/>
                <a:cs typeface="Helvetica Neue"/>
              </a:defRPr>
            </a:lvl1pPr>
            <a:lvl2pPr>
              <a:defRPr sz="3825" b="0">
                <a:solidFill>
                  <a:srgbClr val="172E32"/>
                </a:solidFill>
                <a:latin typeface="Helvetica Neue"/>
                <a:ea typeface="Helvetica Neue"/>
                <a:cs typeface="Helvetica Neue"/>
              </a:defRPr>
            </a:lvl2pPr>
            <a:lvl3pPr>
              <a:defRPr sz="3825" b="0">
                <a:solidFill>
                  <a:srgbClr val="172E32"/>
                </a:solidFill>
                <a:latin typeface="Helvetica Neue"/>
                <a:ea typeface="Helvetica Neue"/>
                <a:cs typeface="Helvetica Neue"/>
              </a:defRPr>
            </a:lvl3pPr>
            <a:lvl4pPr>
              <a:defRPr sz="3825" b="0">
                <a:solidFill>
                  <a:srgbClr val="172E32"/>
                </a:solidFill>
                <a:latin typeface="Helvetica Neue"/>
                <a:ea typeface="Helvetica Neue"/>
                <a:cs typeface="Helvetica Neue"/>
              </a:defRPr>
            </a:lvl4pPr>
            <a:lvl5pPr>
              <a:defRPr sz="3825" b="0">
                <a:solidFill>
                  <a:srgbClr val="172E32"/>
                </a:solidFill>
                <a:latin typeface="Helvetica Neue"/>
                <a:ea typeface="Helvetica Neue"/>
                <a:cs typeface="Helvetica Neue"/>
              </a:defRPr>
            </a:lvl5pPr>
            <a:lvl6pPr>
              <a:defRPr sz="3825" b="0">
                <a:solidFill>
                  <a:srgbClr val="172E32"/>
                </a:solidFill>
                <a:latin typeface="Helvetica Neue"/>
                <a:ea typeface="Helvetica Neue"/>
                <a:cs typeface="Helvetica Neue"/>
              </a:defRPr>
            </a:lvl6pPr>
            <a:lvl7pPr>
              <a:defRPr sz="3825" b="0">
                <a:solidFill>
                  <a:srgbClr val="172E32"/>
                </a:solidFill>
                <a:latin typeface="Helvetica Neue"/>
                <a:ea typeface="Helvetica Neue"/>
                <a:cs typeface="Helvetica Neue"/>
              </a:defRPr>
            </a:lvl7pPr>
            <a:lvl8pPr>
              <a:defRPr sz="3825" b="0">
                <a:solidFill>
                  <a:srgbClr val="172E32"/>
                </a:solidFill>
                <a:latin typeface="Helvetica Neue"/>
                <a:ea typeface="Helvetica Neue"/>
                <a:cs typeface="Helvetica Neue"/>
              </a:defRPr>
            </a:lvl8pPr>
            <a:lvl9pPr>
              <a:defRPr sz="3825" b="0">
                <a:solidFill>
                  <a:srgbClr val="172E32"/>
                </a:solidFill>
                <a:latin typeface="Helvetica Neue"/>
                <a:ea typeface="Helvetica Neue"/>
                <a:cs typeface="Helvetica Neue"/>
              </a:defRPr>
            </a:lvl9pPr>
          </a:lstStyle>
          <a:p xmlns:a="http://schemas.openxmlformats.org/drawingml/2006/main">
            <a:pPr>
              <a:defRPr sz="3825" b="0">
                <a:solidFill>
                  <a:srgbClr val="172E32"/>
                </a:solidFill>
                <a:latin typeface="Helvetica Neue"/>
                <a:ea typeface="Helvetica Neue"/>
                <a:cs typeface="Helvetica Neue"/>
              </a:defRPr>
            </a:pPr>
            <a:r>
              <a:rPr sz="3825" b="0">
                <a:solidFill>
                  <a:srgbClr val="172E32"/>
                </a:solidFill>
                <a:latin typeface="Helvetica Neue"/>
                <a:ea typeface="Helvetica Neue"/>
                <a:cs typeface="Helvetica Neue"/>
              </a:rPr>
              <a:t>ModelCheck</a:t>
            </a:r>
          </a:p>
        </p:txBody>
      </p:sp>
      <p:sp>
        <p:nvSpPr>
          <p:cNvPr id="3" name="">
            <a:extLst xmlns:a="http://schemas.openxmlformats.org/drawingml/2006/main">
              <a:ext uri="{FF2B5EF4-FFF2-40B4-BE49-F238E27FC236}">
                <a16:creationId xmlns:a16="http://schemas.microsoft.com/office/drawing/2014/main" id="{899D92C5-68A2-4283-90DB-51BFA9292D91}"/>
              </a:ext>
            </a:extLst>
          </p:cNvPr>
          <p:cNvSpPr>
            <a:spLocks xmlns:a="http://schemas.openxmlformats.org/drawingml/2006/main" noGrp="1"/>
          </p:cNvSpPr>
          <p:nvPr/>
        </p:nvSpPr>
        <p:spPr>
          <a:xfrm xmlns:a="http://schemas.openxmlformats.org/drawingml/2006/main">
            <a:off x="11049000" y="6257925"/>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050" b="0">
                <a:solidFill>
                  <a:srgbClr val="657574"/>
                </a:solidFill>
                <a:latin typeface="Helvetica Neue"/>
                <a:ea typeface="Helvetica Neue"/>
                <a:cs typeface="Helvetica Neue"/>
              </a:defRPr>
            </a:defPPr>
            <a:lvl1pPr>
              <a:defRPr sz="1050" b="0">
                <a:solidFill>
                  <a:srgbClr val="657574"/>
                </a:solidFill>
                <a:latin typeface="Helvetica Neue"/>
                <a:ea typeface="Helvetica Neue"/>
                <a:cs typeface="Helvetica Neue"/>
              </a:defRPr>
            </a:lvl1pPr>
            <a:lvl2pPr>
              <a:defRPr sz="1050" b="0">
                <a:solidFill>
                  <a:srgbClr val="657574"/>
                </a:solidFill>
                <a:latin typeface="Helvetica Neue"/>
                <a:ea typeface="Helvetica Neue"/>
                <a:cs typeface="Helvetica Neue"/>
              </a:defRPr>
            </a:lvl2pPr>
            <a:lvl3pPr>
              <a:defRPr sz="1050" b="0">
                <a:solidFill>
                  <a:srgbClr val="657574"/>
                </a:solidFill>
                <a:latin typeface="Helvetica Neue"/>
                <a:ea typeface="Helvetica Neue"/>
                <a:cs typeface="Helvetica Neue"/>
              </a:defRPr>
            </a:lvl3pPr>
            <a:lvl4pPr>
              <a:defRPr sz="1050" b="0">
                <a:solidFill>
                  <a:srgbClr val="657574"/>
                </a:solidFill>
                <a:latin typeface="Helvetica Neue"/>
                <a:ea typeface="Helvetica Neue"/>
                <a:cs typeface="Helvetica Neue"/>
              </a:defRPr>
            </a:lvl4pPr>
            <a:lvl5pPr>
              <a:defRPr sz="1050" b="0">
                <a:solidFill>
                  <a:srgbClr val="657574"/>
                </a:solidFill>
                <a:latin typeface="Helvetica Neue"/>
                <a:ea typeface="Helvetica Neue"/>
                <a:cs typeface="Helvetica Neue"/>
              </a:defRPr>
            </a:lvl5pPr>
            <a:lvl6pPr>
              <a:defRPr sz="1050" b="0">
                <a:solidFill>
                  <a:srgbClr val="657574"/>
                </a:solidFill>
                <a:latin typeface="Helvetica Neue"/>
                <a:ea typeface="Helvetica Neue"/>
                <a:cs typeface="Helvetica Neue"/>
              </a:defRPr>
            </a:lvl6pPr>
            <a:lvl7pPr>
              <a:defRPr sz="1050" b="0">
                <a:solidFill>
                  <a:srgbClr val="657574"/>
                </a:solidFill>
                <a:latin typeface="Helvetica Neue"/>
                <a:ea typeface="Helvetica Neue"/>
                <a:cs typeface="Helvetica Neue"/>
              </a:defRPr>
            </a:lvl7pPr>
            <a:lvl8pPr>
              <a:defRPr sz="1050" b="0">
                <a:solidFill>
                  <a:srgbClr val="657574"/>
                </a:solidFill>
                <a:latin typeface="Helvetica Neue"/>
                <a:ea typeface="Helvetica Neue"/>
                <a:cs typeface="Helvetica Neue"/>
              </a:defRPr>
            </a:lvl8pPr>
            <a:lvl9pPr>
              <a:defRPr sz="1050" b="0">
                <a:solidFill>
                  <a:srgbClr val="657574"/>
                </a:solidFill>
                <a:latin typeface="Helvetica Neue"/>
                <a:ea typeface="Helvetica Neue"/>
                <a:cs typeface="Helvetica Neue"/>
              </a:defRPr>
            </a:lvl9pPr>
          </a:lstStyle>
          <a:p xmlns:a="http://schemas.openxmlformats.org/drawingml/2006/main">
            <a:pPr>
              <a:defRPr sz="1050" b="0">
                <a:solidFill>
                  <a:srgbClr val="657574"/>
                </a:solidFill>
                <a:latin typeface="Helvetica Neue"/>
                <a:ea typeface="Helvetica Neue"/>
                <a:cs typeface="Helvetica Neue"/>
              </a:defRPr>
            </a:pPr>
            <a:r>
              <a:rPr sz="1050" b="0">
                <a:solidFill>
                  <a:srgbClr val="657574"/>
                </a:solidFill>
                <a:latin typeface="Helvetica Neue"/>
                <a:ea typeface="Helvetica Neue"/>
                <a:cs typeface="Helvetica Neue"/>
              </a:rPr>
              <a:t>01</a:t>
            </a:r>
          </a:p>
        </p:txBody>
      </p:sp>
      <p:sp>
        <p:nvSpPr>
          <p:cNvPr id="4" name="">
            <a:extLst xmlns:a="http://schemas.openxmlformats.org/drawingml/2006/main">
              <a:ext uri="{FF2B5EF4-FFF2-40B4-BE49-F238E27FC236}">
                <a16:creationId xmlns:a16="http://schemas.microsoft.com/office/drawing/2014/main" id="{5ECE3725-817D-418F-B129-AB9F49F4FE61}"/>
              </a:ext>
            </a:extLst>
          </p:cNvPr>
          <p:cNvSpPr>
            <a:spLocks xmlns:a="http://schemas.openxmlformats.org/drawingml/2006/main" noGrp="1"/>
          </p:cNvSpPr>
          <p:nvPr/>
        </p:nvSpPr>
        <p:spPr>
          <a:xfrm xmlns:a="http://schemas.openxmlformats.org/drawingml/2006/main">
            <a:off x="723900" y="2286000"/>
            <a:ext cx="952500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75" b="0">
                <a:solidFill>
                  <a:srgbClr val="146B5F"/>
                </a:solidFill>
                <a:latin typeface="Helvetica Neue"/>
                <a:ea typeface="Helvetica Neue"/>
                <a:cs typeface="Helvetica Neue"/>
              </a:defRPr>
            </a:defPPr>
            <a:lvl1pPr>
              <a:defRPr sz="3675" b="0">
                <a:solidFill>
                  <a:srgbClr val="146B5F"/>
                </a:solidFill>
                <a:latin typeface="Helvetica Neue"/>
                <a:ea typeface="Helvetica Neue"/>
                <a:cs typeface="Helvetica Neue"/>
              </a:defRPr>
            </a:lvl1pPr>
            <a:lvl2pPr>
              <a:defRPr sz="3675" b="0">
                <a:solidFill>
                  <a:srgbClr val="146B5F"/>
                </a:solidFill>
                <a:latin typeface="Helvetica Neue"/>
                <a:ea typeface="Helvetica Neue"/>
                <a:cs typeface="Helvetica Neue"/>
              </a:defRPr>
            </a:lvl2pPr>
            <a:lvl3pPr>
              <a:defRPr sz="3675" b="0">
                <a:solidFill>
                  <a:srgbClr val="146B5F"/>
                </a:solidFill>
                <a:latin typeface="Helvetica Neue"/>
                <a:ea typeface="Helvetica Neue"/>
                <a:cs typeface="Helvetica Neue"/>
              </a:defRPr>
            </a:lvl3pPr>
            <a:lvl4pPr>
              <a:defRPr sz="3675" b="0">
                <a:solidFill>
                  <a:srgbClr val="146B5F"/>
                </a:solidFill>
                <a:latin typeface="Helvetica Neue"/>
                <a:ea typeface="Helvetica Neue"/>
                <a:cs typeface="Helvetica Neue"/>
              </a:defRPr>
            </a:lvl4pPr>
            <a:lvl5pPr>
              <a:defRPr sz="3675" b="0">
                <a:solidFill>
                  <a:srgbClr val="146B5F"/>
                </a:solidFill>
                <a:latin typeface="Helvetica Neue"/>
                <a:ea typeface="Helvetica Neue"/>
                <a:cs typeface="Helvetica Neue"/>
              </a:defRPr>
            </a:lvl5pPr>
            <a:lvl6pPr>
              <a:defRPr sz="3675" b="0">
                <a:solidFill>
                  <a:srgbClr val="146B5F"/>
                </a:solidFill>
                <a:latin typeface="Helvetica Neue"/>
                <a:ea typeface="Helvetica Neue"/>
                <a:cs typeface="Helvetica Neue"/>
              </a:defRPr>
            </a:lvl6pPr>
            <a:lvl7pPr>
              <a:defRPr sz="3675" b="0">
                <a:solidFill>
                  <a:srgbClr val="146B5F"/>
                </a:solidFill>
                <a:latin typeface="Helvetica Neue"/>
                <a:ea typeface="Helvetica Neue"/>
                <a:cs typeface="Helvetica Neue"/>
              </a:defRPr>
            </a:lvl7pPr>
            <a:lvl8pPr>
              <a:defRPr sz="3675" b="0">
                <a:solidFill>
                  <a:srgbClr val="146B5F"/>
                </a:solidFill>
                <a:latin typeface="Helvetica Neue"/>
                <a:ea typeface="Helvetica Neue"/>
                <a:cs typeface="Helvetica Neue"/>
              </a:defRPr>
            </a:lvl8pPr>
            <a:lvl9pPr>
              <a:defRPr sz="3675" b="0">
                <a:solidFill>
                  <a:srgbClr val="146B5F"/>
                </a:solidFill>
                <a:latin typeface="Helvetica Neue"/>
                <a:ea typeface="Helvetica Neue"/>
                <a:cs typeface="Helvetica Neue"/>
              </a:defRPr>
            </a:lvl9pPr>
          </a:lstStyle>
          <a:p xmlns:a="http://schemas.openxmlformats.org/drawingml/2006/main">
            <a:pPr>
              <a:defRPr sz="3675" b="0">
                <a:solidFill>
                  <a:srgbClr val="146B5F"/>
                </a:solidFill>
                <a:latin typeface="Helvetica Neue"/>
                <a:ea typeface="Helvetica Neue"/>
                <a:cs typeface="Helvetica Neue"/>
              </a:defRPr>
            </a:pPr>
            <a:r>
              <a:rPr sz="3675" b="0">
                <a:solidFill>
                  <a:srgbClr val="146B5F"/>
                </a:solidFill>
                <a:latin typeface="Helvetica Neue"/>
                <a:ea typeface="Helvetica Neue"/>
                <a:cs typeface="Helvetica Neue"/>
              </a:rPr>
              <a:t>An agent for reviewing</a:t>
            </a:r>
          </a:p>
          <a:p xmlns:a="http://schemas.openxmlformats.org/drawingml/2006/main">
            <a:pPr>
              <a:defRPr sz="3675" b="0">
                <a:solidFill>
                  <a:srgbClr val="146B5F"/>
                </a:solidFill>
                <a:latin typeface="Helvetica Neue"/>
                <a:ea typeface="Helvetica Neue"/>
                <a:cs typeface="Helvetica Neue"/>
              </a:defRPr>
            </a:pPr>
            <a:r>
              <a:rPr sz="3675" b="0">
                <a:solidFill>
                  <a:srgbClr val="146B5F"/>
                </a:solidFill>
                <a:latin typeface="Helvetica Neue"/>
                <a:ea typeface="Helvetica Neue"/>
                <a:cs typeface="Helvetica Neue"/>
              </a:rPr>
              <a:t>classification experiments</a:t>
            </a:r>
          </a:p>
        </p:txBody>
      </p:sp>
      <p:sp>
        <p:nvSpPr>
          <p:cNvPr id="5" name="">
            <a:extLst xmlns:a="http://schemas.openxmlformats.org/drawingml/2006/main">
              <a:ext uri="{FF2B5EF4-FFF2-40B4-BE49-F238E27FC236}">
                <a16:creationId xmlns:a16="http://schemas.microsoft.com/office/drawing/2014/main" id="{BF1992BF-7AA1-4B92-8489-923277D39AF3}"/>
              </a:ext>
            </a:extLst>
          </p:cNvPr>
          <p:cNvSpPr>
            <a:spLocks xmlns:a="http://schemas.openxmlformats.org/drawingml/2006/main" noGrp="1"/>
          </p:cNvSpPr>
          <p:nvPr/>
        </p:nvSpPr>
        <p:spPr>
          <a:xfrm xmlns:a="http://schemas.openxmlformats.org/drawingml/2006/main">
            <a:off x="723900" y="4648200"/>
            <a:ext cx="9048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657574"/>
                </a:solidFill>
                <a:latin typeface="Helvetica Neue"/>
                <a:ea typeface="Helvetica Neue"/>
                <a:cs typeface="Helvetica Neue"/>
              </a:defRPr>
            </a:defPPr>
            <a:lvl1pPr>
              <a:defRPr sz="2025" b="0">
                <a:solidFill>
                  <a:srgbClr val="657574"/>
                </a:solidFill>
                <a:latin typeface="Helvetica Neue"/>
                <a:ea typeface="Helvetica Neue"/>
                <a:cs typeface="Helvetica Neue"/>
              </a:defRPr>
            </a:lvl1pPr>
            <a:lvl2pPr>
              <a:defRPr sz="2025" b="0">
                <a:solidFill>
                  <a:srgbClr val="657574"/>
                </a:solidFill>
                <a:latin typeface="Helvetica Neue"/>
                <a:ea typeface="Helvetica Neue"/>
                <a:cs typeface="Helvetica Neue"/>
              </a:defRPr>
            </a:lvl2pPr>
            <a:lvl3pPr>
              <a:defRPr sz="2025" b="0">
                <a:solidFill>
                  <a:srgbClr val="657574"/>
                </a:solidFill>
                <a:latin typeface="Helvetica Neue"/>
                <a:ea typeface="Helvetica Neue"/>
                <a:cs typeface="Helvetica Neue"/>
              </a:defRPr>
            </a:lvl3pPr>
            <a:lvl4pPr>
              <a:defRPr sz="2025" b="0">
                <a:solidFill>
                  <a:srgbClr val="657574"/>
                </a:solidFill>
                <a:latin typeface="Helvetica Neue"/>
                <a:ea typeface="Helvetica Neue"/>
                <a:cs typeface="Helvetica Neue"/>
              </a:defRPr>
            </a:lvl4pPr>
            <a:lvl5pPr>
              <a:defRPr sz="2025" b="0">
                <a:solidFill>
                  <a:srgbClr val="657574"/>
                </a:solidFill>
                <a:latin typeface="Helvetica Neue"/>
                <a:ea typeface="Helvetica Neue"/>
                <a:cs typeface="Helvetica Neue"/>
              </a:defRPr>
            </a:lvl5pPr>
            <a:lvl6pPr>
              <a:defRPr sz="2025" b="0">
                <a:solidFill>
                  <a:srgbClr val="657574"/>
                </a:solidFill>
                <a:latin typeface="Helvetica Neue"/>
                <a:ea typeface="Helvetica Neue"/>
                <a:cs typeface="Helvetica Neue"/>
              </a:defRPr>
            </a:lvl6pPr>
            <a:lvl7pPr>
              <a:defRPr sz="2025" b="0">
                <a:solidFill>
                  <a:srgbClr val="657574"/>
                </a:solidFill>
                <a:latin typeface="Helvetica Neue"/>
                <a:ea typeface="Helvetica Neue"/>
                <a:cs typeface="Helvetica Neue"/>
              </a:defRPr>
            </a:lvl7pPr>
            <a:lvl8pPr>
              <a:defRPr sz="2025" b="0">
                <a:solidFill>
                  <a:srgbClr val="657574"/>
                </a:solidFill>
                <a:latin typeface="Helvetica Neue"/>
                <a:ea typeface="Helvetica Neue"/>
                <a:cs typeface="Helvetica Neue"/>
              </a:defRPr>
            </a:lvl8pPr>
            <a:lvl9pPr>
              <a:defRPr sz="2025" b="0">
                <a:solidFill>
                  <a:srgbClr val="657574"/>
                </a:solidFill>
                <a:latin typeface="Helvetica Neue"/>
                <a:ea typeface="Helvetica Neue"/>
                <a:cs typeface="Helvetica Neue"/>
              </a:defRPr>
            </a:lvl9pPr>
          </a:lstStyle>
          <a:p xmlns:a="http://schemas.openxmlformats.org/drawingml/2006/main">
            <a:pPr>
              <a:defRPr sz="2025" b="0">
                <a:solidFill>
                  <a:srgbClr val="657574"/>
                </a:solidFill>
                <a:latin typeface="Helvetica Neue"/>
                <a:ea typeface="Helvetica Neue"/>
                <a:cs typeface="Helvetica Neue"/>
              </a:defRPr>
            </a:pPr>
            <a:r>
              <a:rPr sz="2025" b="0">
                <a:solidFill>
                  <a:srgbClr val="657574"/>
                </a:solidFill>
                <a:latin typeface="Helvetica Neue"/>
                <a:ea typeface="Helvetica Neue"/>
                <a:cs typeface="Helvetica Neue"/>
              </a:rPr>
              <a:t>Zeyad Alghamdi</a:t>
            </a:r>
          </a:p>
          <a:p xmlns:a="http://schemas.openxmlformats.org/drawingml/2006/main">
            <a:pPr>
              <a:defRPr sz="2025" b="0">
                <a:solidFill>
                  <a:srgbClr val="657574"/>
                </a:solidFill>
                <a:latin typeface="Helvetica Neue"/>
                <a:ea typeface="Helvetica Neue"/>
                <a:cs typeface="Helvetica Neue"/>
              </a:defRPr>
            </a:pPr>
            <a:r>
              <a:rPr sz="2025" b="0">
                <a:solidFill>
                  <a:srgbClr val="657574"/>
                </a:solidFill>
                <a:latin typeface="Helvetica Neue"/>
                <a:ea typeface="Helvetica Neue"/>
                <a:cs typeface="Helvetica Neue"/>
              </a:rPr>
              <a:t>Track 2: domain harness</a:t>
            </a:r>
          </a:p>
        </p:txBody>
      </p:sp>
    </p:spTree>
    <p:extLst>
      <p:ext uri="{BB962C8B-B14F-4D97-AF65-F5344CB8AC3E}">
        <p14:creationId xmlns:p14="http://schemas.microsoft.com/office/powerpoint/2010/main" val="2003658697"/>
      </p:ext>
    </p:extLst>
  </p:cSld>
</p:sld>
</file>

<file path=ppt/slides/slide2.xml><?xml version="1.0" encoding="utf-8"?>
<p:sld xmlns:p="http://schemas.openxmlformats.org/presentationml/2006/main">
  <p:cSld>
    <p:bg>
      <p:bgPr>
        <a:solidFill xmlns:a="http://schemas.openxmlformats.org/drawingml/2006/main">
          <a:srgbClr val="F5F6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E2C5154-B0F5-48C7-BA42-3F5478021EC3}"/>
              </a:ext>
            </a:extLst>
          </p:cNvPr>
          <p:cNvSpPr>
            <a:spLocks xmlns:a="http://schemas.openxmlformats.org/drawingml/2006/main" noGrp="1"/>
          </p:cNvSpPr>
          <p:nvPr/>
        </p:nvSpPr>
        <p:spPr>
          <a:xfrm xmlns:a="http://schemas.openxmlformats.org/drawingml/2006/main">
            <a:off x="7239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1">
                <a:solidFill>
                  <a:srgbClr val="146B5F"/>
                </a:solidFill>
                <a:latin typeface="Helvetica Neue"/>
                <a:ea typeface="Helvetica Neue"/>
                <a:cs typeface="Helvetica Neue"/>
              </a:defRPr>
            </a:defPPr>
            <a:lvl1pPr>
              <a:defRPr sz="1125" b="1">
                <a:solidFill>
                  <a:srgbClr val="146B5F"/>
                </a:solidFill>
                <a:latin typeface="Helvetica Neue"/>
                <a:ea typeface="Helvetica Neue"/>
                <a:cs typeface="Helvetica Neue"/>
              </a:defRPr>
            </a:lvl1pPr>
            <a:lvl2pPr>
              <a:defRPr sz="1125" b="1">
                <a:solidFill>
                  <a:srgbClr val="146B5F"/>
                </a:solidFill>
                <a:latin typeface="Helvetica Neue"/>
                <a:ea typeface="Helvetica Neue"/>
                <a:cs typeface="Helvetica Neue"/>
              </a:defRPr>
            </a:lvl2pPr>
            <a:lvl3pPr>
              <a:defRPr sz="1125" b="1">
                <a:solidFill>
                  <a:srgbClr val="146B5F"/>
                </a:solidFill>
                <a:latin typeface="Helvetica Neue"/>
                <a:ea typeface="Helvetica Neue"/>
                <a:cs typeface="Helvetica Neue"/>
              </a:defRPr>
            </a:lvl3pPr>
            <a:lvl4pPr>
              <a:defRPr sz="1125" b="1">
                <a:solidFill>
                  <a:srgbClr val="146B5F"/>
                </a:solidFill>
                <a:latin typeface="Helvetica Neue"/>
                <a:ea typeface="Helvetica Neue"/>
                <a:cs typeface="Helvetica Neue"/>
              </a:defRPr>
            </a:lvl4pPr>
            <a:lvl5pPr>
              <a:defRPr sz="1125" b="1">
                <a:solidFill>
                  <a:srgbClr val="146B5F"/>
                </a:solidFill>
                <a:latin typeface="Helvetica Neue"/>
                <a:ea typeface="Helvetica Neue"/>
                <a:cs typeface="Helvetica Neue"/>
              </a:defRPr>
            </a:lvl5pPr>
            <a:lvl6pPr>
              <a:defRPr sz="1125" b="1">
                <a:solidFill>
                  <a:srgbClr val="146B5F"/>
                </a:solidFill>
                <a:latin typeface="Helvetica Neue"/>
                <a:ea typeface="Helvetica Neue"/>
                <a:cs typeface="Helvetica Neue"/>
              </a:defRPr>
            </a:lvl6pPr>
            <a:lvl7pPr>
              <a:defRPr sz="1125" b="1">
                <a:solidFill>
                  <a:srgbClr val="146B5F"/>
                </a:solidFill>
                <a:latin typeface="Helvetica Neue"/>
                <a:ea typeface="Helvetica Neue"/>
                <a:cs typeface="Helvetica Neue"/>
              </a:defRPr>
            </a:lvl7pPr>
            <a:lvl8pPr>
              <a:defRPr sz="1125" b="1">
                <a:solidFill>
                  <a:srgbClr val="146B5F"/>
                </a:solidFill>
                <a:latin typeface="Helvetica Neue"/>
                <a:ea typeface="Helvetica Neue"/>
                <a:cs typeface="Helvetica Neue"/>
              </a:defRPr>
            </a:lvl8pPr>
            <a:lvl9pPr>
              <a:defRPr sz="1125" b="1">
                <a:solidFill>
                  <a:srgbClr val="146B5F"/>
                </a:solidFill>
                <a:latin typeface="Helvetica Neue"/>
                <a:ea typeface="Helvetica Neue"/>
                <a:cs typeface="Helvetica Neue"/>
              </a:defRPr>
            </a:lvl9pPr>
          </a:lstStyle>
          <a:p xmlns:a="http://schemas.openxmlformats.org/drawingml/2006/main">
            <a:pPr>
              <a:defRPr sz="1125" b="1">
                <a:solidFill>
                  <a:srgbClr val="146B5F"/>
                </a:solidFill>
                <a:latin typeface="Helvetica Neue"/>
                <a:ea typeface="Helvetica Neue"/>
                <a:cs typeface="Helvetica Neue"/>
              </a:defRPr>
            </a:pPr>
            <a:r>
              <a:rPr sz="1125" b="1">
                <a:solidFill>
                  <a:srgbClr val="146B5F"/>
                </a:solidFill>
                <a:latin typeface="Helvetica Neue"/>
                <a:ea typeface="Helvetica Neue"/>
                <a:cs typeface="Helvetica Neue"/>
              </a:rPr>
              <a:t>MODELCHECK    /    SDAIA CAPSTONE</a:t>
            </a:r>
          </a:p>
        </p:txBody>
      </p:sp>
      <p:sp>
        <p:nvSpPr>
          <p:cNvPr id="2" name="">
            <a:extLst xmlns:a="http://schemas.openxmlformats.org/drawingml/2006/main">
              <a:ext uri="{FF2B5EF4-FFF2-40B4-BE49-F238E27FC236}">
                <a16:creationId xmlns:a16="http://schemas.microsoft.com/office/drawing/2014/main" id="{576C1B7F-4D95-4392-A864-99F29D175E21}"/>
              </a:ext>
            </a:extLst>
          </p:cNvPr>
          <p:cNvSpPr>
            <a:spLocks xmlns:a="http://schemas.openxmlformats.org/drawingml/2006/main" noGrp="1"/>
          </p:cNvSpPr>
          <p:nvPr/>
        </p:nvSpPr>
        <p:spPr>
          <a:xfrm xmlns:a="http://schemas.openxmlformats.org/drawingml/2006/main">
            <a:off x="723900" y="990600"/>
            <a:ext cx="107442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825" b="0">
                <a:solidFill>
                  <a:srgbClr val="172E32"/>
                </a:solidFill>
                <a:latin typeface="Helvetica Neue"/>
                <a:ea typeface="Helvetica Neue"/>
                <a:cs typeface="Helvetica Neue"/>
              </a:defRPr>
            </a:defPPr>
            <a:lvl1pPr>
              <a:defRPr sz="3825" b="0">
                <a:solidFill>
                  <a:srgbClr val="172E32"/>
                </a:solidFill>
                <a:latin typeface="Helvetica Neue"/>
                <a:ea typeface="Helvetica Neue"/>
                <a:cs typeface="Helvetica Neue"/>
              </a:defRPr>
            </a:lvl1pPr>
            <a:lvl2pPr>
              <a:defRPr sz="3825" b="0">
                <a:solidFill>
                  <a:srgbClr val="172E32"/>
                </a:solidFill>
                <a:latin typeface="Helvetica Neue"/>
                <a:ea typeface="Helvetica Neue"/>
                <a:cs typeface="Helvetica Neue"/>
              </a:defRPr>
            </a:lvl2pPr>
            <a:lvl3pPr>
              <a:defRPr sz="3825" b="0">
                <a:solidFill>
                  <a:srgbClr val="172E32"/>
                </a:solidFill>
                <a:latin typeface="Helvetica Neue"/>
                <a:ea typeface="Helvetica Neue"/>
                <a:cs typeface="Helvetica Neue"/>
              </a:defRPr>
            </a:lvl3pPr>
            <a:lvl4pPr>
              <a:defRPr sz="3825" b="0">
                <a:solidFill>
                  <a:srgbClr val="172E32"/>
                </a:solidFill>
                <a:latin typeface="Helvetica Neue"/>
                <a:ea typeface="Helvetica Neue"/>
                <a:cs typeface="Helvetica Neue"/>
              </a:defRPr>
            </a:lvl4pPr>
            <a:lvl5pPr>
              <a:defRPr sz="3825" b="0">
                <a:solidFill>
                  <a:srgbClr val="172E32"/>
                </a:solidFill>
                <a:latin typeface="Helvetica Neue"/>
                <a:ea typeface="Helvetica Neue"/>
                <a:cs typeface="Helvetica Neue"/>
              </a:defRPr>
            </a:lvl5pPr>
            <a:lvl6pPr>
              <a:defRPr sz="3825" b="0">
                <a:solidFill>
                  <a:srgbClr val="172E32"/>
                </a:solidFill>
                <a:latin typeface="Helvetica Neue"/>
                <a:ea typeface="Helvetica Neue"/>
                <a:cs typeface="Helvetica Neue"/>
              </a:defRPr>
            </a:lvl6pPr>
            <a:lvl7pPr>
              <a:defRPr sz="3825" b="0">
                <a:solidFill>
                  <a:srgbClr val="172E32"/>
                </a:solidFill>
                <a:latin typeface="Helvetica Neue"/>
                <a:ea typeface="Helvetica Neue"/>
                <a:cs typeface="Helvetica Neue"/>
              </a:defRPr>
            </a:lvl7pPr>
            <a:lvl8pPr>
              <a:defRPr sz="3825" b="0">
                <a:solidFill>
                  <a:srgbClr val="172E32"/>
                </a:solidFill>
                <a:latin typeface="Helvetica Neue"/>
                <a:ea typeface="Helvetica Neue"/>
                <a:cs typeface="Helvetica Neue"/>
              </a:defRPr>
            </a:lvl8pPr>
            <a:lvl9pPr>
              <a:defRPr sz="3825" b="0">
                <a:solidFill>
                  <a:srgbClr val="172E32"/>
                </a:solidFill>
                <a:latin typeface="Helvetica Neue"/>
                <a:ea typeface="Helvetica Neue"/>
                <a:cs typeface="Helvetica Neue"/>
              </a:defRPr>
            </a:lvl9pPr>
          </a:lstStyle>
          <a:p xmlns:a="http://schemas.openxmlformats.org/drawingml/2006/main">
            <a:pPr>
              <a:defRPr sz="3825" b="0">
                <a:solidFill>
                  <a:srgbClr val="172E32"/>
                </a:solidFill>
                <a:latin typeface="Helvetica Neue"/>
                <a:ea typeface="Helvetica Neue"/>
                <a:cs typeface="Helvetica Neue"/>
              </a:defRPr>
            </a:pPr>
            <a:r>
              <a:rPr sz="3825" b="0">
                <a:solidFill>
                  <a:srgbClr val="172E32"/>
                </a:solidFill>
                <a:latin typeface="Helvetica Neue"/>
                <a:ea typeface="Helvetica Neue"/>
                <a:cs typeface="Helvetica Neue"/>
              </a:rPr>
              <a:t>The source slice changes the conclusion</a:t>
            </a:r>
          </a:p>
        </p:txBody>
      </p:sp>
      <p:sp>
        <p:nvSpPr>
          <p:cNvPr id="3" name="">
            <a:extLst xmlns:a="http://schemas.openxmlformats.org/drawingml/2006/main">
              <a:ext uri="{FF2B5EF4-FFF2-40B4-BE49-F238E27FC236}">
                <a16:creationId xmlns:a16="http://schemas.microsoft.com/office/drawing/2014/main" id="{5ACDABED-CE7F-4702-9BF6-4831C411B249}"/>
              </a:ext>
            </a:extLst>
          </p:cNvPr>
          <p:cNvSpPr>
            <a:spLocks xmlns:a="http://schemas.openxmlformats.org/drawingml/2006/main" noGrp="1"/>
          </p:cNvSpPr>
          <p:nvPr/>
        </p:nvSpPr>
        <p:spPr>
          <a:xfrm xmlns:a="http://schemas.openxmlformats.org/drawingml/2006/main">
            <a:off x="11049000" y="6257925"/>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050" b="0">
                <a:solidFill>
                  <a:srgbClr val="657574"/>
                </a:solidFill>
                <a:latin typeface="Helvetica Neue"/>
                <a:ea typeface="Helvetica Neue"/>
                <a:cs typeface="Helvetica Neue"/>
              </a:defRPr>
            </a:defPPr>
            <a:lvl1pPr>
              <a:defRPr sz="1050" b="0">
                <a:solidFill>
                  <a:srgbClr val="657574"/>
                </a:solidFill>
                <a:latin typeface="Helvetica Neue"/>
                <a:ea typeface="Helvetica Neue"/>
                <a:cs typeface="Helvetica Neue"/>
              </a:defRPr>
            </a:lvl1pPr>
            <a:lvl2pPr>
              <a:defRPr sz="1050" b="0">
                <a:solidFill>
                  <a:srgbClr val="657574"/>
                </a:solidFill>
                <a:latin typeface="Helvetica Neue"/>
                <a:ea typeface="Helvetica Neue"/>
                <a:cs typeface="Helvetica Neue"/>
              </a:defRPr>
            </a:lvl2pPr>
            <a:lvl3pPr>
              <a:defRPr sz="1050" b="0">
                <a:solidFill>
                  <a:srgbClr val="657574"/>
                </a:solidFill>
                <a:latin typeface="Helvetica Neue"/>
                <a:ea typeface="Helvetica Neue"/>
                <a:cs typeface="Helvetica Neue"/>
              </a:defRPr>
            </a:lvl3pPr>
            <a:lvl4pPr>
              <a:defRPr sz="1050" b="0">
                <a:solidFill>
                  <a:srgbClr val="657574"/>
                </a:solidFill>
                <a:latin typeface="Helvetica Neue"/>
                <a:ea typeface="Helvetica Neue"/>
                <a:cs typeface="Helvetica Neue"/>
              </a:defRPr>
            </a:lvl4pPr>
            <a:lvl5pPr>
              <a:defRPr sz="1050" b="0">
                <a:solidFill>
                  <a:srgbClr val="657574"/>
                </a:solidFill>
                <a:latin typeface="Helvetica Neue"/>
                <a:ea typeface="Helvetica Neue"/>
                <a:cs typeface="Helvetica Neue"/>
              </a:defRPr>
            </a:lvl5pPr>
            <a:lvl6pPr>
              <a:defRPr sz="1050" b="0">
                <a:solidFill>
                  <a:srgbClr val="657574"/>
                </a:solidFill>
                <a:latin typeface="Helvetica Neue"/>
                <a:ea typeface="Helvetica Neue"/>
                <a:cs typeface="Helvetica Neue"/>
              </a:defRPr>
            </a:lvl6pPr>
            <a:lvl7pPr>
              <a:defRPr sz="1050" b="0">
                <a:solidFill>
                  <a:srgbClr val="657574"/>
                </a:solidFill>
                <a:latin typeface="Helvetica Neue"/>
                <a:ea typeface="Helvetica Neue"/>
                <a:cs typeface="Helvetica Neue"/>
              </a:defRPr>
            </a:lvl7pPr>
            <a:lvl8pPr>
              <a:defRPr sz="1050" b="0">
                <a:solidFill>
                  <a:srgbClr val="657574"/>
                </a:solidFill>
                <a:latin typeface="Helvetica Neue"/>
                <a:ea typeface="Helvetica Neue"/>
                <a:cs typeface="Helvetica Neue"/>
              </a:defRPr>
            </a:lvl8pPr>
            <a:lvl9pPr>
              <a:defRPr sz="1050" b="0">
                <a:solidFill>
                  <a:srgbClr val="657574"/>
                </a:solidFill>
                <a:latin typeface="Helvetica Neue"/>
                <a:ea typeface="Helvetica Neue"/>
                <a:cs typeface="Helvetica Neue"/>
              </a:defRPr>
            </a:lvl9pPr>
          </a:lstStyle>
          <a:p xmlns:a="http://schemas.openxmlformats.org/drawingml/2006/main">
            <a:pPr>
              <a:defRPr sz="1050" b="0">
                <a:solidFill>
                  <a:srgbClr val="657574"/>
                </a:solidFill>
                <a:latin typeface="Helvetica Neue"/>
                <a:ea typeface="Helvetica Neue"/>
                <a:cs typeface="Helvetica Neue"/>
              </a:defRPr>
            </a:pPr>
            <a:r>
              <a:rPr sz="1050" b="0">
                <a:solidFill>
                  <a:srgbClr val="657574"/>
                </a:solidFill>
                <a:latin typeface="Helvetica Neue"/>
                <a:ea typeface="Helvetica Neue"/>
                <a:cs typeface="Helvetica Neue"/>
              </a:rPr>
              <a:t>02</a:t>
            </a:r>
          </a:p>
        </p:txBody>
      </p:sp>
      <p:sp>
        <p:nvSpPr>
          <p:cNvPr id="4" name="">
            <a:extLst xmlns:a="http://schemas.openxmlformats.org/drawingml/2006/main">
              <a:ext uri="{FF2B5EF4-FFF2-40B4-BE49-F238E27FC236}">
                <a16:creationId xmlns:a16="http://schemas.microsoft.com/office/drawing/2014/main" id="{F3ACAC91-14DD-476A-BB95-064847F8AD92}"/>
              </a:ext>
            </a:extLst>
          </p:cNvPr>
          <p:cNvSpPr>
            <a:spLocks xmlns:a="http://schemas.openxmlformats.org/drawingml/2006/main" noGrp="1"/>
          </p:cNvSpPr>
          <p:nvPr/>
        </p:nvSpPr>
        <p:spPr>
          <a:xfrm xmlns:a="http://schemas.openxmlformats.org/drawingml/2006/main">
            <a:off x="723900" y="2047875"/>
            <a:ext cx="6191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146B5F"/>
                </a:solidFill>
                <a:latin typeface="Helvetica Neue"/>
                <a:ea typeface="Helvetica Neue"/>
                <a:cs typeface="Helvetica Neue"/>
              </a:defRPr>
            </a:defPPr>
            <a:lvl1pPr>
              <a:defRPr sz="2025" b="1">
                <a:solidFill>
                  <a:srgbClr val="146B5F"/>
                </a:solidFill>
                <a:latin typeface="Helvetica Neue"/>
                <a:ea typeface="Helvetica Neue"/>
                <a:cs typeface="Helvetica Neue"/>
              </a:defRPr>
            </a:lvl1pPr>
            <a:lvl2pPr>
              <a:defRPr sz="2025" b="1">
                <a:solidFill>
                  <a:srgbClr val="146B5F"/>
                </a:solidFill>
                <a:latin typeface="Helvetica Neue"/>
                <a:ea typeface="Helvetica Neue"/>
                <a:cs typeface="Helvetica Neue"/>
              </a:defRPr>
            </a:lvl2pPr>
            <a:lvl3pPr>
              <a:defRPr sz="2025" b="1">
                <a:solidFill>
                  <a:srgbClr val="146B5F"/>
                </a:solidFill>
                <a:latin typeface="Helvetica Neue"/>
                <a:ea typeface="Helvetica Neue"/>
                <a:cs typeface="Helvetica Neue"/>
              </a:defRPr>
            </a:lvl3pPr>
            <a:lvl4pPr>
              <a:defRPr sz="2025" b="1">
                <a:solidFill>
                  <a:srgbClr val="146B5F"/>
                </a:solidFill>
                <a:latin typeface="Helvetica Neue"/>
                <a:ea typeface="Helvetica Neue"/>
                <a:cs typeface="Helvetica Neue"/>
              </a:defRPr>
            </a:lvl4pPr>
            <a:lvl5pPr>
              <a:defRPr sz="2025" b="1">
                <a:solidFill>
                  <a:srgbClr val="146B5F"/>
                </a:solidFill>
                <a:latin typeface="Helvetica Neue"/>
                <a:ea typeface="Helvetica Neue"/>
                <a:cs typeface="Helvetica Neue"/>
              </a:defRPr>
            </a:lvl5pPr>
            <a:lvl6pPr>
              <a:defRPr sz="2025" b="1">
                <a:solidFill>
                  <a:srgbClr val="146B5F"/>
                </a:solidFill>
                <a:latin typeface="Helvetica Neue"/>
                <a:ea typeface="Helvetica Neue"/>
                <a:cs typeface="Helvetica Neue"/>
              </a:defRPr>
            </a:lvl6pPr>
            <a:lvl7pPr>
              <a:defRPr sz="2025" b="1">
                <a:solidFill>
                  <a:srgbClr val="146B5F"/>
                </a:solidFill>
                <a:latin typeface="Helvetica Neue"/>
                <a:ea typeface="Helvetica Neue"/>
                <a:cs typeface="Helvetica Neue"/>
              </a:defRPr>
            </a:lvl7pPr>
            <a:lvl8pPr>
              <a:defRPr sz="2025" b="1">
                <a:solidFill>
                  <a:srgbClr val="146B5F"/>
                </a:solidFill>
                <a:latin typeface="Helvetica Neue"/>
                <a:ea typeface="Helvetica Neue"/>
                <a:cs typeface="Helvetica Neue"/>
              </a:defRPr>
            </a:lvl8pPr>
            <a:lvl9pPr>
              <a:defRPr sz="2025" b="1">
                <a:solidFill>
                  <a:srgbClr val="146B5F"/>
                </a:solidFill>
                <a:latin typeface="Helvetica Neue"/>
                <a:ea typeface="Helvetica Neue"/>
                <a:cs typeface="Helvetica Neue"/>
              </a:defRPr>
            </a:lvl9pPr>
          </a:lstStyle>
          <a:p xmlns:a="http://schemas.openxmlformats.org/drawingml/2006/main">
            <a:pPr>
              <a:defRPr sz="2025" b="1">
                <a:solidFill>
                  <a:srgbClr val="146B5F"/>
                </a:solidFill>
                <a:latin typeface="Helvetica Neue"/>
                <a:ea typeface="Helvetica Neue"/>
                <a:cs typeface="Helvetica Neue"/>
              </a:defRPr>
            </a:pPr>
            <a:r>
              <a:rPr sz="2025" b="1">
                <a:solidFill>
                  <a:srgbClr val="146B5F"/>
                </a:solidFill>
                <a:latin typeface="Helvetica Neue"/>
                <a:ea typeface="Helvetica Neue"/>
                <a:cs typeface="Helvetica Neue"/>
              </a:rPr>
              <a:t>Synthetic detector comparison</a:t>
            </a:r>
          </a:p>
        </p:txBody>
      </p:sp>
      <p:graphicFrame>
        <p:nvGraphicFramePr>
          <p:cNvPr id="5" name="">
            <a:extLst xmlns:a="http://schemas.openxmlformats.org/drawingml/2006/main">
              <a:ext uri="{FF2B5EF4-FFF2-40B4-BE49-F238E27FC236}">
                <a16:creationId xmlns:a16="http://schemas.microsoft.com/office/drawing/2014/main" id="{5973BDDA-7E14-4A68-865B-2539A26ABD8F}"/>
              </a:ext>
            </a:extLst>
          </p:cNvPr>
          <p:cNvGraphicFramePr/>
          <p:nvPr/>
        </p:nvGraphicFramePr>
        <p:xfrm>
          <a:off xmlns:a="http://schemas.openxmlformats.org/drawingml/2006/main" x="723900" y="2762250"/>
          <a:ext xmlns:a="http://schemas.openxmlformats.org/drawingml/2006/main" cx="10744200" cy="2762250"/>
        </p:xfrm>
        <a:graphic xmlns:a="http://schemas.openxmlformats.org/drawingml/2006/main">
          <a:graphicData uri="http://schemas.openxmlformats.org/drawingml/2006/table">
            <a:tbl>
              <a:tblPr/>
              <a:tblGrid>
                <a:gridCol w="5334000"/>
                <a:gridCol w="2705100"/>
                <a:gridCol w="2705100"/>
              </a:tblGrid>
              <a:tr h="690563">
                <a:tc>
                  <a:txBody>
                    <a:bodyPr/>
                    <a:lstStyle/>
                    <a:p>
                      <a:r>
                        <a:rPr sz="1875" b="1">
                          <a:solidFill>
                            <a:srgbClr val="FFFFFF"/>
                          </a:solidFill>
                          <a:latin typeface="Helvetica Neue"/>
                          <a:ea typeface="Helvetica Neue"/>
                          <a:cs typeface="Helvetica Neue"/>
                        </a:rPr>
                        <a:t>Positive recall</a:t>
                      </a:r>
                    </a:p>
                  </a:txBody>
                  <a:tcPr marL="91440" marR="91440" marT="45720" marB="45720">
                    <a:lnL w="9525">
                      <a:solidFill>
                        <a:srgbClr val="DFE5DF"/>
                      </a:solidFill>
                      <a:prstDash val="solid"/>
                    </a:lnL>
                    <a:lnR w="9525">
                      <a:solidFill>
                        <a:srgbClr val="DFE5DF"/>
                      </a:solidFill>
                      <a:prstDash val="solid"/>
                    </a:lnR>
                    <a:lnT w="9525">
                      <a:solidFill>
                        <a:srgbClr val="DFE5DF"/>
                      </a:solidFill>
                      <a:prstDash val="solid"/>
                    </a:lnT>
                    <a:lnB w="9525">
                      <a:solidFill>
                        <a:srgbClr val="DFE5DF"/>
                      </a:solidFill>
                      <a:prstDash val="solid"/>
                    </a:lnB>
                    <a:solidFill>
                      <a:srgbClr val="146B5F"/>
                    </a:solidFill>
                  </a:tcPr>
                </a:tc>
                <a:tc>
                  <a:txBody>
                    <a:bodyPr/>
                    <a:lstStyle/>
                    <a:p>
                      <a:r>
                        <a:rPr sz="1875" b="1">
                          <a:solidFill>
                            <a:srgbClr val="FFFFFF"/>
                          </a:solidFill>
                          <a:latin typeface="Helvetica Neue"/>
                          <a:ea typeface="Helvetica Neue"/>
                          <a:cs typeface="Helvetica Neue"/>
                        </a:rPr>
                        <a:t>Baseline</a:t>
                      </a:r>
                    </a:p>
                  </a:txBody>
                  <a:tcPr marL="91440" marR="91440" marT="45720" marB="45720">
                    <a:lnR w="9525">
                      <a:solidFill>
                        <a:srgbClr val="DFE5DF"/>
                      </a:solidFill>
                      <a:prstDash val="solid"/>
                    </a:lnR>
                    <a:lnT w="9525">
                      <a:solidFill>
                        <a:srgbClr val="DFE5DF"/>
                      </a:solidFill>
                      <a:prstDash val="solid"/>
                    </a:lnT>
                    <a:lnB w="9525">
                      <a:solidFill>
                        <a:srgbClr val="DFE5DF"/>
                      </a:solidFill>
                      <a:prstDash val="solid"/>
                    </a:lnB>
                    <a:solidFill>
                      <a:srgbClr val="146B5F"/>
                    </a:solidFill>
                  </a:tcPr>
                </a:tc>
                <a:tc>
                  <a:txBody>
                    <a:bodyPr/>
                    <a:lstStyle/>
                    <a:p>
                      <a:r>
                        <a:rPr sz="1875" b="1">
                          <a:solidFill>
                            <a:srgbClr val="FFFFFF"/>
                          </a:solidFill>
                          <a:latin typeface="Helvetica Neue"/>
                          <a:ea typeface="Helvetica Neue"/>
                          <a:cs typeface="Helvetica Neue"/>
                        </a:rPr>
                        <a:t>Candidate</a:t>
                      </a:r>
                    </a:p>
                  </a:txBody>
                  <a:tcPr marL="91440" marR="91440" marT="45720" marB="45720">
                    <a:lnR w="9525">
                      <a:solidFill>
                        <a:srgbClr val="DFE5DF"/>
                      </a:solidFill>
                      <a:prstDash val="solid"/>
                    </a:lnR>
                    <a:lnT w="9525">
                      <a:solidFill>
                        <a:srgbClr val="DFE5DF"/>
                      </a:solidFill>
                      <a:prstDash val="solid"/>
                    </a:lnT>
                    <a:lnB w="9525">
                      <a:solidFill>
                        <a:srgbClr val="DFE5DF"/>
                      </a:solidFill>
                      <a:prstDash val="solid"/>
                    </a:lnB>
                    <a:solidFill>
                      <a:srgbClr val="146B5F"/>
                    </a:solidFill>
                  </a:tcPr>
                </a:tc>
              </a:tr>
              <a:tr h="690563">
                <a:tc>
                  <a:txBody>
                    <a:bodyPr/>
                    <a:lstStyle/>
                    <a:p>
                      <a:r>
                        <a:rPr sz="1875" b="0">
                          <a:solidFill>
                            <a:srgbClr val="172E32"/>
                          </a:solidFill>
                          <a:latin typeface="Helvetica Neue"/>
                          <a:ea typeface="Helvetica Neue"/>
                          <a:cs typeface="Helvetica Neue"/>
                        </a:rPr>
                        <a:t>All 40 examples</a:t>
                      </a:r>
                    </a:p>
                  </a:txBody>
                  <a:tcPr marL="91440" marR="91440" marT="45720" marB="45720">
                    <a:lnL w="9525">
                      <a:solidFill>
                        <a:srgbClr val="DFE5DF"/>
                      </a:solidFill>
                      <a:prstDash val="solid"/>
                    </a:lnL>
                    <a:lnR w="9525">
                      <a:solidFill>
                        <a:srgbClr val="DFE5DF"/>
                      </a:solidFill>
                      <a:prstDash val="solid"/>
                    </a:lnR>
                    <a:lnB w="9525">
                      <a:solidFill>
                        <a:srgbClr val="DFE5DF"/>
                      </a:solidFill>
                      <a:prstDash val="solid"/>
                    </a:lnB>
                    <a:solidFill>
                      <a:srgbClr val="FFFFFF"/>
                    </a:solidFill>
                  </a:tcPr>
                </a:tc>
                <a:tc>
                  <a:txBody>
                    <a:bodyPr/>
                    <a:lstStyle/>
                    <a:p>
                      <a:r>
                        <a:rPr sz="1875" b="0">
                          <a:solidFill>
                            <a:srgbClr val="172E32"/>
                          </a:solidFill>
                          <a:latin typeface="Helvetica Neue"/>
                          <a:ea typeface="Helvetica Neue"/>
                          <a:cs typeface="Helvetica Neue"/>
                        </a:rPr>
                        <a:t>90%</a:t>
                      </a:r>
                    </a:p>
                  </a:txBody>
                  <a:tcPr marL="91440" marR="91440" marT="45720" marB="45720">
                    <a:lnR w="9525">
                      <a:solidFill>
                        <a:srgbClr val="DFE5DF"/>
                      </a:solidFill>
                      <a:prstDash val="solid"/>
                    </a:lnR>
                    <a:lnB w="9525">
                      <a:solidFill>
                        <a:srgbClr val="DFE5DF"/>
                      </a:solidFill>
                      <a:prstDash val="solid"/>
                    </a:lnB>
                    <a:solidFill>
                      <a:srgbClr val="FFFFFF"/>
                    </a:solidFill>
                  </a:tcPr>
                </a:tc>
                <a:tc>
                  <a:txBody>
                    <a:bodyPr/>
                    <a:lstStyle/>
                    <a:p>
                      <a:r>
                        <a:rPr sz="1875" b="0">
                          <a:solidFill>
                            <a:srgbClr val="172E32"/>
                          </a:solidFill>
                          <a:latin typeface="Helvetica Neue"/>
                          <a:ea typeface="Helvetica Neue"/>
                          <a:cs typeface="Helvetica Neue"/>
                        </a:rPr>
                        <a:t>75%</a:t>
                      </a:r>
                    </a:p>
                  </a:txBody>
                  <a:tcPr marL="91440" marR="91440" marT="45720" marB="45720">
                    <a:lnR w="9525">
                      <a:solidFill>
                        <a:srgbClr val="DFE5DF"/>
                      </a:solidFill>
                      <a:prstDash val="solid"/>
                    </a:lnR>
                    <a:lnB w="9525">
                      <a:solidFill>
                        <a:srgbClr val="DFE5DF"/>
                      </a:solidFill>
                      <a:prstDash val="solid"/>
                    </a:lnB>
                    <a:solidFill>
                      <a:srgbClr val="FFFFFF"/>
                    </a:solidFill>
                  </a:tcPr>
                </a:tc>
              </a:tr>
              <a:tr h="690563">
                <a:tc>
                  <a:txBody>
                    <a:bodyPr/>
                    <a:lstStyle/>
                    <a:p>
                      <a:r>
                        <a:rPr sz="1875" b="0">
                          <a:solidFill>
                            <a:srgbClr val="172E32"/>
                          </a:solidFill>
                          <a:latin typeface="Helvetica Neue"/>
                          <a:ea typeface="Helvetica Neue"/>
                          <a:cs typeface="Helvetica Neue"/>
                        </a:rPr>
                        <a:t>Studio, n = 20</a:t>
                      </a:r>
                    </a:p>
                  </a:txBody>
                  <a:tcPr marL="91440" marR="91440" marT="45720" marB="45720">
                    <a:lnL w="9525">
                      <a:solidFill>
                        <a:srgbClr val="DFE5DF"/>
                      </a:solidFill>
                      <a:prstDash val="solid"/>
                    </a:lnL>
                    <a:lnR w="9525">
                      <a:solidFill>
                        <a:srgbClr val="DFE5DF"/>
                      </a:solidFill>
                      <a:prstDash val="solid"/>
                    </a:lnR>
                    <a:lnB w="9525">
                      <a:solidFill>
                        <a:srgbClr val="DFE5DF"/>
                      </a:solidFill>
                      <a:prstDash val="solid"/>
                    </a:lnB>
                    <a:solidFill>
                      <a:srgbClr val="F5F6F2"/>
                    </a:solidFill>
                  </a:tcPr>
                </a:tc>
                <a:tc>
                  <a:txBody>
                    <a:bodyPr/>
                    <a:lstStyle/>
                    <a:p>
                      <a:r>
                        <a:rPr sz="1875" b="0">
                          <a:solidFill>
                            <a:srgbClr val="172E32"/>
                          </a:solidFill>
                          <a:latin typeface="Helvetica Neue"/>
                          <a:ea typeface="Helvetica Neue"/>
                          <a:cs typeface="Helvetica Neue"/>
                        </a:rPr>
                        <a:t>90%</a:t>
                      </a:r>
                    </a:p>
                  </a:txBody>
                  <a:tcPr marL="91440" marR="91440" marT="45720" marB="45720">
                    <a:lnR w="9525">
                      <a:solidFill>
                        <a:srgbClr val="DFE5DF"/>
                      </a:solidFill>
                      <a:prstDash val="solid"/>
                    </a:lnR>
                    <a:lnB w="9525">
                      <a:solidFill>
                        <a:srgbClr val="DFE5DF"/>
                      </a:solidFill>
                      <a:prstDash val="solid"/>
                    </a:lnB>
                    <a:solidFill>
                      <a:srgbClr val="F5F6F2"/>
                    </a:solidFill>
                  </a:tcPr>
                </a:tc>
                <a:tc>
                  <a:txBody>
                    <a:bodyPr/>
                    <a:lstStyle/>
                    <a:p>
                      <a:r>
                        <a:rPr sz="1875" b="0">
                          <a:solidFill>
                            <a:srgbClr val="172E32"/>
                          </a:solidFill>
                          <a:latin typeface="Helvetica Neue"/>
                          <a:ea typeface="Helvetica Neue"/>
                          <a:cs typeface="Helvetica Neue"/>
                        </a:rPr>
                        <a:t>100%</a:t>
                      </a:r>
                    </a:p>
                  </a:txBody>
                  <a:tcPr marL="91440" marR="91440" marT="45720" marB="45720">
                    <a:lnR w="9525">
                      <a:solidFill>
                        <a:srgbClr val="DFE5DF"/>
                      </a:solidFill>
                      <a:prstDash val="solid"/>
                    </a:lnR>
                    <a:lnB w="9525">
                      <a:solidFill>
                        <a:srgbClr val="DFE5DF"/>
                      </a:solidFill>
                      <a:prstDash val="solid"/>
                    </a:lnB>
                    <a:solidFill>
                      <a:srgbClr val="F5F6F2"/>
                    </a:solidFill>
                  </a:tcPr>
                </a:tc>
              </a:tr>
              <a:tr h="690563">
                <a:tc>
                  <a:txBody>
                    <a:bodyPr/>
                    <a:lstStyle/>
                    <a:p>
                      <a:r>
                        <a:rPr sz="1875" b="0">
                          <a:solidFill>
                            <a:srgbClr val="172E32"/>
                          </a:solidFill>
                          <a:latin typeface="Helvetica Neue"/>
                          <a:ea typeface="Helvetica Neue"/>
                          <a:cs typeface="Helvetica Neue"/>
                        </a:rPr>
                        <a:t>Web, n = 20</a:t>
                      </a:r>
                    </a:p>
                  </a:txBody>
                  <a:tcPr marL="91440" marR="91440" marT="45720" marB="45720">
                    <a:lnL w="9525">
                      <a:solidFill>
                        <a:srgbClr val="DFE5DF"/>
                      </a:solidFill>
                      <a:prstDash val="solid"/>
                    </a:lnL>
                    <a:lnR w="9525">
                      <a:solidFill>
                        <a:srgbClr val="DFE5DF"/>
                      </a:solidFill>
                      <a:prstDash val="solid"/>
                    </a:lnR>
                    <a:lnB w="9525">
                      <a:solidFill>
                        <a:srgbClr val="DFE5DF"/>
                      </a:solidFill>
                      <a:prstDash val="solid"/>
                    </a:lnB>
                    <a:solidFill>
                      <a:srgbClr val="FFFFFF"/>
                    </a:solidFill>
                  </a:tcPr>
                </a:tc>
                <a:tc>
                  <a:txBody>
                    <a:bodyPr/>
                    <a:lstStyle/>
                    <a:p>
                      <a:r>
                        <a:rPr sz="1875" b="0">
                          <a:solidFill>
                            <a:srgbClr val="172E32"/>
                          </a:solidFill>
                          <a:latin typeface="Helvetica Neue"/>
                          <a:ea typeface="Helvetica Neue"/>
                          <a:cs typeface="Helvetica Neue"/>
                        </a:rPr>
                        <a:t>90%</a:t>
                      </a:r>
                    </a:p>
                  </a:txBody>
                  <a:tcPr marL="91440" marR="91440" marT="45720" marB="45720">
                    <a:lnR w="9525">
                      <a:solidFill>
                        <a:srgbClr val="DFE5DF"/>
                      </a:solidFill>
                      <a:prstDash val="solid"/>
                    </a:lnR>
                    <a:lnB w="9525">
                      <a:solidFill>
                        <a:srgbClr val="DFE5DF"/>
                      </a:solidFill>
                      <a:prstDash val="solid"/>
                    </a:lnB>
                    <a:solidFill>
                      <a:srgbClr val="FFFFFF"/>
                    </a:solidFill>
                  </a:tcPr>
                </a:tc>
                <a:tc>
                  <a:txBody>
                    <a:bodyPr/>
                    <a:lstStyle/>
                    <a:p>
                      <a:r>
                        <a:rPr sz="1875" b="0">
                          <a:solidFill>
                            <a:srgbClr val="172E32"/>
                          </a:solidFill>
                          <a:latin typeface="Helvetica Neue"/>
                          <a:ea typeface="Helvetica Neue"/>
                          <a:cs typeface="Helvetica Neue"/>
                        </a:rPr>
                        <a:t>50%</a:t>
                      </a:r>
                    </a:p>
                  </a:txBody>
                  <a:tcPr marL="91440" marR="91440" marT="45720" marB="45720">
                    <a:lnR w="9525">
                      <a:solidFill>
                        <a:srgbClr val="DFE5DF"/>
                      </a:solidFill>
                      <a:prstDash val="solid"/>
                    </a:lnR>
                    <a:lnB w="9525">
                      <a:solidFill>
                        <a:srgbClr val="DFE5DF"/>
                      </a:solidFill>
                      <a:prstDash val="solid"/>
                    </a:lnB>
                    <a:solidFill>
                      <a:srgbClr val="FFFFFF"/>
                    </a:solidFill>
                  </a:tcPr>
                </a:tc>
              </a:tr>
            </a:tbl>
          </a:graphicData>
        </a:graphic>
      </p:graphicFrame>
      <p:sp>
        <p:nvSpPr>
          <p:cNvPr id="6" name="">
            <a:extLst xmlns:a="http://schemas.openxmlformats.org/drawingml/2006/main">
              <a:ext uri="{FF2B5EF4-FFF2-40B4-BE49-F238E27FC236}">
                <a16:creationId xmlns:a16="http://schemas.microsoft.com/office/drawing/2014/main" id="{B009466B-279B-4D2D-8378-2413EE6B376F}"/>
              </a:ext>
            </a:extLst>
          </p:cNvPr>
          <p:cNvSpPr>
            <a:spLocks xmlns:a="http://schemas.openxmlformats.org/drawingml/2006/main" noGrp="1"/>
          </p:cNvSpPr>
          <p:nvPr/>
        </p:nvSpPr>
        <p:spPr>
          <a:xfrm xmlns:a="http://schemas.openxmlformats.org/drawingml/2006/main">
            <a:off x="723900" y="5819775"/>
            <a:ext cx="10001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657574"/>
                </a:solidFill>
                <a:latin typeface="Helvetica Neue"/>
                <a:ea typeface="Helvetica Neue"/>
                <a:cs typeface="Helvetica Neue"/>
              </a:defRPr>
            </a:defPPr>
            <a:lvl1pPr>
              <a:defRPr sz="1725" b="0">
                <a:solidFill>
                  <a:srgbClr val="657574"/>
                </a:solidFill>
                <a:latin typeface="Helvetica Neue"/>
                <a:ea typeface="Helvetica Neue"/>
                <a:cs typeface="Helvetica Neue"/>
              </a:defRPr>
            </a:lvl1pPr>
            <a:lvl2pPr>
              <a:defRPr sz="1725" b="0">
                <a:solidFill>
                  <a:srgbClr val="657574"/>
                </a:solidFill>
                <a:latin typeface="Helvetica Neue"/>
                <a:ea typeface="Helvetica Neue"/>
                <a:cs typeface="Helvetica Neue"/>
              </a:defRPr>
            </a:lvl2pPr>
            <a:lvl3pPr>
              <a:defRPr sz="1725" b="0">
                <a:solidFill>
                  <a:srgbClr val="657574"/>
                </a:solidFill>
                <a:latin typeface="Helvetica Neue"/>
                <a:ea typeface="Helvetica Neue"/>
                <a:cs typeface="Helvetica Neue"/>
              </a:defRPr>
            </a:lvl3pPr>
            <a:lvl4pPr>
              <a:defRPr sz="1725" b="0">
                <a:solidFill>
                  <a:srgbClr val="657574"/>
                </a:solidFill>
                <a:latin typeface="Helvetica Neue"/>
                <a:ea typeface="Helvetica Neue"/>
                <a:cs typeface="Helvetica Neue"/>
              </a:defRPr>
            </a:lvl4pPr>
            <a:lvl5pPr>
              <a:defRPr sz="1725" b="0">
                <a:solidFill>
                  <a:srgbClr val="657574"/>
                </a:solidFill>
                <a:latin typeface="Helvetica Neue"/>
                <a:ea typeface="Helvetica Neue"/>
                <a:cs typeface="Helvetica Neue"/>
              </a:defRPr>
            </a:lvl5pPr>
            <a:lvl6pPr>
              <a:defRPr sz="1725" b="0">
                <a:solidFill>
                  <a:srgbClr val="657574"/>
                </a:solidFill>
                <a:latin typeface="Helvetica Neue"/>
                <a:ea typeface="Helvetica Neue"/>
                <a:cs typeface="Helvetica Neue"/>
              </a:defRPr>
            </a:lvl6pPr>
            <a:lvl7pPr>
              <a:defRPr sz="1725" b="0">
                <a:solidFill>
                  <a:srgbClr val="657574"/>
                </a:solidFill>
                <a:latin typeface="Helvetica Neue"/>
                <a:ea typeface="Helvetica Neue"/>
                <a:cs typeface="Helvetica Neue"/>
              </a:defRPr>
            </a:lvl7pPr>
            <a:lvl8pPr>
              <a:defRPr sz="1725" b="0">
                <a:solidFill>
                  <a:srgbClr val="657574"/>
                </a:solidFill>
                <a:latin typeface="Helvetica Neue"/>
                <a:ea typeface="Helvetica Neue"/>
                <a:cs typeface="Helvetica Neue"/>
              </a:defRPr>
            </a:lvl8pPr>
            <a:lvl9pPr>
              <a:defRPr sz="1725" b="0">
                <a:solidFill>
                  <a:srgbClr val="657574"/>
                </a:solidFill>
                <a:latin typeface="Helvetica Neue"/>
                <a:ea typeface="Helvetica Neue"/>
                <a:cs typeface="Helvetica Neue"/>
              </a:defRPr>
            </a:lvl9pPr>
          </a:lstStyle>
          <a:p xmlns:a="http://schemas.openxmlformats.org/drawingml/2006/main">
            <a:pPr>
              <a:defRPr sz="1725" b="0">
                <a:solidFill>
                  <a:srgbClr val="657574"/>
                </a:solidFill>
                <a:latin typeface="Helvetica Neue"/>
                <a:ea typeface="Helvetica Neue"/>
                <a:cs typeface="Helvetica Neue"/>
              </a:defRPr>
            </a:pPr>
            <a:r>
              <a:rPr sz="1725" b="0">
                <a:solidFill>
                  <a:srgbClr val="657574"/>
                </a:solidFill>
                <a:latin typeface="Helvetica Neue"/>
                <a:ea typeface="Helvetica Neue"/>
                <a:cs typeface="Helvetica Neue"/>
              </a:rPr>
              <a:t>The web slice loses 40 percentage points of recall.</a:t>
            </a:r>
          </a:p>
          <a:p xmlns:a="http://schemas.openxmlformats.org/drawingml/2006/main">
            <a:pPr>
              <a:defRPr sz="1725" b="0">
                <a:solidFill>
                  <a:srgbClr val="657574"/>
                </a:solidFill>
                <a:latin typeface="Helvetica Neue"/>
                <a:ea typeface="Helvetica Neue"/>
                <a:cs typeface="Helvetica Neue"/>
              </a:defRPr>
            </a:pPr>
            <a:r>
              <a:rPr sz="1725" b="0">
                <a:solidFill>
                  <a:srgbClr val="657574"/>
                </a:solidFill>
                <a:latin typeface="Helvetica Neue"/>
                <a:ea typeface="Helvetica Neue"/>
                <a:cs typeface="Helvetica Neue"/>
              </a:rPr>
              <a:t>These values describe a synthetic fixture.</a:t>
            </a:r>
          </a:p>
        </p:txBody>
      </p:sp>
    </p:spTree>
    <p:extLst>
      <p:ext uri="{BB962C8B-B14F-4D97-AF65-F5344CB8AC3E}">
        <p14:creationId xmlns:p14="http://schemas.microsoft.com/office/powerpoint/2010/main" val="571809844"/>
      </p:ext>
    </p:extLst>
  </p:cSld>
</p:sld>
</file>

<file path=ppt/slides/slide3.xml><?xml version="1.0" encoding="utf-8"?>
<p:sld xmlns:p="http://schemas.openxmlformats.org/presentationml/2006/main">
  <p:cSld>
    <p:bg>
      <p:bgPr>
        <a:solidFill xmlns:a="http://schemas.openxmlformats.org/drawingml/2006/main">
          <a:srgbClr val="F5F6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4B0AECDA-6C3E-4F56-8500-CB4892C4131C}"/>
              </a:ext>
            </a:extLst>
          </p:cNvPr>
          <p:cNvSpPr>
            <a:spLocks xmlns:a="http://schemas.openxmlformats.org/drawingml/2006/main" noGrp="1"/>
          </p:cNvSpPr>
          <p:nvPr/>
        </p:nvSpPr>
        <p:spPr>
          <a:xfrm xmlns:a="http://schemas.openxmlformats.org/drawingml/2006/main">
            <a:off x="7239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1">
                <a:solidFill>
                  <a:srgbClr val="146B5F"/>
                </a:solidFill>
                <a:latin typeface="Helvetica Neue"/>
                <a:ea typeface="Helvetica Neue"/>
                <a:cs typeface="Helvetica Neue"/>
              </a:defRPr>
            </a:defPPr>
            <a:lvl1pPr>
              <a:defRPr sz="1125" b="1">
                <a:solidFill>
                  <a:srgbClr val="146B5F"/>
                </a:solidFill>
                <a:latin typeface="Helvetica Neue"/>
                <a:ea typeface="Helvetica Neue"/>
                <a:cs typeface="Helvetica Neue"/>
              </a:defRPr>
            </a:lvl1pPr>
            <a:lvl2pPr>
              <a:defRPr sz="1125" b="1">
                <a:solidFill>
                  <a:srgbClr val="146B5F"/>
                </a:solidFill>
                <a:latin typeface="Helvetica Neue"/>
                <a:ea typeface="Helvetica Neue"/>
                <a:cs typeface="Helvetica Neue"/>
              </a:defRPr>
            </a:lvl2pPr>
            <a:lvl3pPr>
              <a:defRPr sz="1125" b="1">
                <a:solidFill>
                  <a:srgbClr val="146B5F"/>
                </a:solidFill>
                <a:latin typeface="Helvetica Neue"/>
                <a:ea typeface="Helvetica Neue"/>
                <a:cs typeface="Helvetica Neue"/>
              </a:defRPr>
            </a:lvl3pPr>
            <a:lvl4pPr>
              <a:defRPr sz="1125" b="1">
                <a:solidFill>
                  <a:srgbClr val="146B5F"/>
                </a:solidFill>
                <a:latin typeface="Helvetica Neue"/>
                <a:ea typeface="Helvetica Neue"/>
                <a:cs typeface="Helvetica Neue"/>
              </a:defRPr>
            </a:lvl4pPr>
            <a:lvl5pPr>
              <a:defRPr sz="1125" b="1">
                <a:solidFill>
                  <a:srgbClr val="146B5F"/>
                </a:solidFill>
                <a:latin typeface="Helvetica Neue"/>
                <a:ea typeface="Helvetica Neue"/>
                <a:cs typeface="Helvetica Neue"/>
              </a:defRPr>
            </a:lvl5pPr>
            <a:lvl6pPr>
              <a:defRPr sz="1125" b="1">
                <a:solidFill>
                  <a:srgbClr val="146B5F"/>
                </a:solidFill>
                <a:latin typeface="Helvetica Neue"/>
                <a:ea typeface="Helvetica Neue"/>
                <a:cs typeface="Helvetica Neue"/>
              </a:defRPr>
            </a:lvl6pPr>
            <a:lvl7pPr>
              <a:defRPr sz="1125" b="1">
                <a:solidFill>
                  <a:srgbClr val="146B5F"/>
                </a:solidFill>
                <a:latin typeface="Helvetica Neue"/>
                <a:ea typeface="Helvetica Neue"/>
                <a:cs typeface="Helvetica Neue"/>
              </a:defRPr>
            </a:lvl7pPr>
            <a:lvl8pPr>
              <a:defRPr sz="1125" b="1">
                <a:solidFill>
                  <a:srgbClr val="146B5F"/>
                </a:solidFill>
                <a:latin typeface="Helvetica Neue"/>
                <a:ea typeface="Helvetica Neue"/>
                <a:cs typeface="Helvetica Neue"/>
              </a:defRPr>
            </a:lvl8pPr>
            <a:lvl9pPr>
              <a:defRPr sz="1125" b="1">
                <a:solidFill>
                  <a:srgbClr val="146B5F"/>
                </a:solidFill>
                <a:latin typeface="Helvetica Neue"/>
                <a:ea typeface="Helvetica Neue"/>
                <a:cs typeface="Helvetica Neue"/>
              </a:defRPr>
            </a:lvl9pPr>
          </a:lstStyle>
          <a:p xmlns:a="http://schemas.openxmlformats.org/drawingml/2006/main">
            <a:pPr>
              <a:defRPr sz="1125" b="1">
                <a:solidFill>
                  <a:srgbClr val="146B5F"/>
                </a:solidFill>
                <a:latin typeface="Helvetica Neue"/>
                <a:ea typeface="Helvetica Neue"/>
                <a:cs typeface="Helvetica Neue"/>
              </a:defRPr>
            </a:pPr>
            <a:r>
              <a:rPr sz="1125" b="1">
                <a:solidFill>
                  <a:srgbClr val="146B5F"/>
                </a:solidFill>
                <a:latin typeface="Helvetica Neue"/>
                <a:ea typeface="Helvetica Neue"/>
                <a:cs typeface="Helvetica Neue"/>
              </a:rPr>
              <a:t>MODELCHECK    /    SDAIA CAPSTONE</a:t>
            </a:r>
          </a:p>
        </p:txBody>
      </p:sp>
      <p:sp>
        <p:nvSpPr>
          <p:cNvPr id="2" name="">
            <a:extLst xmlns:a="http://schemas.openxmlformats.org/drawingml/2006/main">
              <a:ext uri="{FF2B5EF4-FFF2-40B4-BE49-F238E27FC236}">
                <a16:creationId xmlns:a16="http://schemas.microsoft.com/office/drawing/2014/main" id="{E47D1EC3-4D1C-4066-AED4-76AF042AD8B9}"/>
              </a:ext>
            </a:extLst>
          </p:cNvPr>
          <p:cNvSpPr>
            <a:spLocks xmlns:a="http://schemas.openxmlformats.org/drawingml/2006/main" noGrp="1"/>
          </p:cNvSpPr>
          <p:nvPr/>
        </p:nvSpPr>
        <p:spPr>
          <a:xfrm xmlns:a="http://schemas.openxmlformats.org/drawingml/2006/main">
            <a:off x="723900" y="990600"/>
            <a:ext cx="107442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825" b="0">
                <a:solidFill>
                  <a:srgbClr val="172E32"/>
                </a:solidFill>
                <a:latin typeface="Helvetica Neue"/>
                <a:ea typeface="Helvetica Neue"/>
                <a:cs typeface="Helvetica Neue"/>
              </a:defRPr>
            </a:defPPr>
            <a:lvl1pPr>
              <a:defRPr sz="3825" b="0">
                <a:solidFill>
                  <a:srgbClr val="172E32"/>
                </a:solidFill>
                <a:latin typeface="Helvetica Neue"/>
                <a:ea typeface="Helvetica Neue"/>
                <a:cs typeface="Helvetica Neue"/>
              </a:defRPr>
            </a:lvl1pPr>
            <a:lvl2pPr>
              <a:defRPr sz="3825" b="0">
                <a:solidFill>
                  <a:srgbClr val="172E32"/>
                </a:solidFill>
                <a:latin typeface="Helvetica Neue"/>
                <a:ea typeface="Helvetica Neue"/>
                <a:cs typeface="Helvetica Neue"/>
              </a:defRPr>
            </a:lvl2pPr>
            <a:lvl3pPr>
              <a:defRPr sz="3825" b="0">
                <a:solidFill>
                  <a:srgbClr val="172E32"/>
                </a:solidFill>
                <a:latin typeface="Helvetica Neue"/>
                <a:ea typeface="Helvetica Neue"/>
                <a:cs typeface="Helvetica Neue"/>
              </a:defRPr>
            </a:lvl3pPr>
            <a:lvl4pPr>
              <a:defRPr sz="3825" b="0">
                <a:solidFill>
                  <a:srgbClr val="172E32"/>
                </a:solidFill>
                <a:latin typeface="Helvetica Neue"/>
                <a:ea typeface="Helvetica Neue"/>
                <a:cs typeface="Helvetica Neue"/>
              </a:defRPr>
            </a:lvl4pPr>
            <a:lvl5pPr>
              <a:defRPr sz="3825" b="0">
                <a:solidFill>
                  <a:srgbClr val="172E32"/>
                </a:solidFill>
                <a:latin typeface="Helvetica Neue"/>
                <a:ea typeface="Helvetica Neue"/>
                <a:cs typeface="Helvetica Neue"/>
              </a:defRPr>
            </a:lvl5pPr>
            <a:lvl6pPr>
              <a:defRPr sz="3825" b="0">
                <a:solidFill>
                  <a:srgbClr val="172E32"/>
                </a:solidFill>
                <a:latin typeface="Helvetica Neue"/>
                <a:ea typeface="Helvetica Neue"/>
                <a:cs typeface="Helvetica Neue"/>
              </a:defRPr>
            </a:lvl6pPr>
            <a:lvl7pPr>
              <a:defRPr sz="3825" b="0">
                <a:solidFill>
                  <a:srgbClr val="172E32"/>
                </a:solidFill>
                <a:latin typeface="Helvetica Neue"/>
                <a:ea typeface="Helvetica Neue"/>
                <a:cs typeface="Helvetica Neue"/>
              </a:defRPr>
            </a:lvl7pPr>
            <a:lvl8pPr>
              <a:defRPr sz="3825" b="0">
                <a:solidFill>
                  <a:srgbClr val="172E32"/>
                </a:solidFill>
                <a:latin typeface="Helvetica Neue"/>
                <a:ea typeface="Helvetica Neue"/>
                <a:cs typeface="Helvetica Neue"/>
              </a:defRPr>
            </a:lvl8pPr>
            <a:lvl9pPr>
              <a:defRPr sz="3825" b="0">
                <a:solidFill>
                  <a:srgbClr val="172E32"/>
                </a:solidFill>
                <a:latin typeface="Helvetica Neue"/>
                <a:ea typeface="Helvetica Neue"/>
                <a:cs typeface="Helvetica Neue"/>
              </a:defRPr>
            </a:lvl9pPr>
          </a:lstStyle>
          <a:p xmlns:a="http://schemas.openxmlformats.org/drawingml/2006/main">
            <a:pPr>
              <a:defRPr sz="3825" b="0">
                <a:solidFill>
                  <a:srgbClr val="172E32"/>
                </a:solidFill>
                <a:latin typeface="Helvetica Neue"/>
                <a:ea typeface="Helvetica Neue"/>
                <a:cs typeface="Helvetica Neue"/>
              </a:defRPr>
            </a:pPr>
            <a:r>
              <a:rPr sz="3825" b="0">
                <a:solidFill>
                  <a:srgbClr val="172E32"/>
                </a:solidFill>
                <a:latin typeface="Helvetica Neue"/>
                <a:ea typeface="Helvetica Neue"/>
                <a:cs typeface="Helvetica Neue"/>
              </a:rPr>
              <a:t>A small local service with a controlled write</a:t>
            </a:r>
          </a:p>
        </p:txBody>
      </p:sp>
      <p:sp>
        <p:nvSpPr>
          <p:cNvPr id="3" name="">
            <a:extLst xmlns:a="http://schemas.openxmlformats.org/drawingml/2006/main">
              <a:ext uri="{FF2B5EF4-FFF2-40B4-BE49-F238E27FC236}">
                <a16:creationId xmlns:a16="http://schemas.microsoft.com/office/drawing/2014/main" id="{68199EC2-4DEB-469C-8AB4-108105DCB611}"/>
              </a:ext>
            </a:extLst>
          </p:cNvPr>
          <p:cNvSpPr>
            <a:spLocks xmlns:a="http://schemas.openxmlformats.org/drawingml/2006/main" noGrp="1"/>
          </p:cNvSpPr>
          <p:nvPr/>
        </p:nvSpPr>
        <p:spPr>
          <a:xfrm xmlns:a="http://schemas.openxmlformats.org/drawingml/2006/main">
            <a:off x="11049000" y="6257925"/>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050" b="0">
                <a:solidFill>
                  <a:srgbClr val="657574"/>
                </a:solidFill>
                <a:latin typeface="Helvetica Neue"/>
                <a:ea typeface="Helvetica Neue"/>
                <a:cs typeface="Helvetica Neue"/>
              </a:defRPr>
            </a:defPPr>
            <a:lvl1pPr>
              <a:defRPr sz="1050" b="0">
                <a:solidFill>
                  <a:srgbClr val="657574"/>
                </a:solidFill>
                <a:latin typeface="Helvetica Neue"/>
                <a:ea typeface="Helvetica Neue"/>
                <a:cs typeface="Helvetica Neue"/>
              </a:defRPr>
            </a:lvl1pPr>
            <a:lvl2pPr>
              <a:defRPr sz="1050" b="0">
                <a:solidFill>
                  <a:srgbClr val="657574"/>
                </a:solidFill>
                <a:latin typeface="Helvetica Neue"/>
                <a:ea typeface="Helvetica Neue"/>
                <a:cs typeface="Helvetica Neue"/>
              </a:defRPr>
            </a:lvl2pPr>
            <a:lvl3pPr>
              <a:defRPr sz="1050" b="0">
                <a:solidFill>
                  <a:srgbClr val="657574"/>
                </a:solidFill>
                <a:latin typeface="Helvetica Neue"/>
                <a:ea typeface="Helvetica Neue"/>
                <a:cs typeface="Helvetica Neue"/>
              </a:defRPr>
            </a:lvl3pPr>
            <a:lvl4pPr>
              <a:defRPr sz="1050" b="0">
                <a:solidFill>
                  <a:srgbClr val="657574"/>
                </a:solidFill>
                <a:latin typeface="Helvetica Neue"/>
                <a:ea typeface="Helvetica Neue"/>
                <a:cs typeface="Helvetica Neue"/>
              </a:defRPr>
            </a:lvl4pPr>
            <a:lvl5pPr>
              <a:defRPr sz="1050" b="0">
                <a:solidFill>
                  <a:srgbClr val="657574"/>
                </a:solidFill>
                <a:latin typeface="Helvetica Neue"/>
                <a:ea typeface="Helvetica Neue"/>
                <a:cs typeface="Helvetica Neue"/>
              </a:defRPr>
            </a:lvl5pPr>
            <a:lvl6pPr>
              <a:defRPr sz="1050" b="0">
                <a:solidFill>
                  <a:srgbClr val="657574"/>
                </a:solidFill>
                <a:latin typeface="Helvetica Neue"/>
                <a:ea typeface="Helvetica Neue"/>
                <a:cs typeface="Helvetica Neue"/>
              </a:defRPr>
            </a:lvl6pPr>
            <a:lvl7pPr>
              <a:defRPr sz="1050" b="0">
                <a:solidFill>
                  <a:srgbClr val="657574"/>
                </a:solidFill>
                <a:latin typeface="Helvetica Neue"/>
                <a:ea typeface="Helvetica Neue"/>
                <a:cs typeface="Helvetica Neue"/>
              </a:defRPr>
            </a:lvl7pPr>
            <a:lvl8pPr>
              <a:defRPr sz="1050" b="0">
                <a:solidFill>
                  <a:srgbClr val="657574"/>
                </a:solidFill>
                <a:latin typeface="Helvetica Neue"/>
                <a:ea typeface="Helvetica Neue"/>
                <a:cs typeface="Helvetica Neue"/>
              </a:defRPr>
            </a:lvl8pPr>
            <a:lvl9pPr>
              <a:defRPr sz="1050" b="0">
                <a:solidFill>
                  <a:srgbClr val="657574"/>
                </a:solidFill>
                <a:latin typeface="Helvetica Neue"/>
                <a:ea typeface="Helvetica Neue"/>
                <a:cs typeface="Helvetica Neue"/>
              </a:defRPr>
            </a:lvl9pPr>
          </a:lstStyle>
          <a:p xmlns:a="http://schemas.openxmlformats.org/drawingml/2006/main">
            <a:pPr>
              <a:defRPr sz="1050" b="0">
                <a:solidFill>
                  <a:srgbClr val="657574"/>
                </a:solidFill>
                <a:latin typeface="Helvetica Neue"/>
                <a:ea typeface="Helvetica Neue"/>
                <a:cs typeface="Helvetica Neue"/>
              </a:defRPr>
            </a:pPr>
            <a:r>
              <a:rPr sz="1050" b="0">
                <a:solidFill>
                  <a:srgbClr val="657574"/>
                </a:solidFill>
                <a:latin typeface="Helvetica Neue"/>
                <a:ea typeface="Helvetica Neue"/>
                <a:cs typeface="Helvetica Neue"/>
              </a:rPr>
              <a:t>03</a:t>
            </a:r>
          </a:p>
        </p:txBody>
      </p:sp>
      <p:graphicFrame>
        <p:nvGraphicFramePr>
          <p:cNvPr id="4" name="">
            <a:extLst xmlns:a="http://schemas.openxmlformats.org/drawingml/2006/main">
              <a:ext uri="{FF2B5EF4-FFF2-40B4-BE49-F238E27FC236}">
                <a16:creationId xmlns:a16="http://schemas.microsoft.com/office/drawing/2014/main" id="{D374D7CF-4226-4E8B-BA9B-BDA9651F86BD}"/>
              </a:ext>
            </a:extLst>
          </p:cNvPr>
          <p:cNvGraphicFramePr/>
          <p:nvPr/>
        </p:nvGraphicFramePr>
        <p:xfrm>
          <a:off xmlns:a="http://schemas.openxmlformats.org/drawingml/2006/main" x="723900" y="2076450"/>
          <a:ext xmlns:a="http://schemas.openxmlformats.org/drawingml/2006/main" cx="10744200" cy="3476625"/>
        </p:xfrm>
        <a:graphic xmlns:a="http://schemas.openxmlformats.org/drawingml/2006/main">
          <a:graphicData uri="http://schemas.openxmlformats.org/drawingml/2006/table">
            <a:tbl>
              <a:tblPr/>
              <a:tblGrid>
                <a:gridCol w="2381250"/>
                <a:gridCol w="4457700"/>
                <a:gridCol w="3905250"/>
              </a:tblGrid>
              <a:tr h="695325">
                <a:tc>
                  <a:txBody>
                    <a:bodyPr/>
                    <a:lstStyle/>
                    <a:p>
                      <a:r>
                        <a:rPr sz="1875" b="1">
                          <a:solidFill>
                            <a:srgbClr val="FFFFFF"/>
                          </a:solidFill>
                          <a:latin typeface="Helvetica Neue"/>
                          <a:ea typeface="Helvetica Neue"/>
                          <a:cs typeface="Helvetica Neue"/>
                        </a:rPr>
                        <a:t>Layer</a:t>
                      </a:r>
                    </a:p>
                  </a:txBody>
                  <a:tcPr marL="91440" marR="91440" marT="45720" marB="45720">
                    <a:lnL w="9525">
                      <a:solidFill>
                        <a:srgbClr val="DFE5DF"/>
                      </a:solidFill>
                      <a:prstDash val="solid"/>
                    </a:lnL>
                    <a:lnR w="9525">
                      <a:solidFill>
                        <a:srgbClr val="DFE5DF"/>
                      </a:solidFill>
                      <a:prstDash val="solid"/>
                    </a:lnR>
                    <a:lnT w="9525">
                      <a:solidFill>
                        <a:srgbClr val="DFE5DF"/>
                      </a:solidFill>
                      <a:prstDash val="solid"/>
                    </a:lnT>
                    <a:lnB w="9525">
                      <a:solidFill>
                        <a:srgbClr val="DFE5DF"/>
                      </a:solidFill>
                      <a:prstDash val="solid"/>
                    </a:lnB>
                    <a:solidFill>
                      <a:srgbClr val="146B5F"/>
                    </a:solidFill>
                  </a:tcPr>
                </a:tc>
                <a:tc>
                  <a:txBody>
                    <a:bodyPr/>
                    <a:lstStyle/>
                    <a:p>
                      <a:r>
                        <a:rPr sz="1875" b="1">
                          <a:solidFill>
                            <a:srgbClr val="FFFFFF"/>
                          </a:solidFill>
                          <a:latin typeface="Helvetica Neue"/>
                          <a:ea typeface="Helvetica Neue"/>
                          <a:cs typeface="Helvetica Neue"/>
                        </a:rPr>
                        <a:t>Responsibility</a:t>
                      </a:r>
                    </a:p>
                  </a:txBody>
                  <a:tcPr marL="91440" marR="91440" marT="45720" marB="45720">
                    <a:lnR w="9525">
                      <a:solidFill>
                        <a:srgbClr val="DFE5DF"/>
                      </a:solidFill>
                      <a:prstDash val="solid"/>
                    </a:lnR>
                    <a:lnT w="9525">
                      <a:solidFill>
                        <a:srgbClr val="DFE5DF"/>
                      </a:solidFill>
                      <a:prstDash val="solid"/>
                    </a:lnT>
                    <a:lnB w="9525">
                      <a:solidFill>
                        <a:srgbClr val="DFE5DF"/>
                      </a:solidFill>
                      <a:prstDash val="solid"/>
                    </a:lnB>
                    <a:solidFill>
                      <a:srgbClr val="146B5F"/>
                    </a:solidFill>
                  </a:tcPr>
                </a:tc>
                <a:tc>
                  <a:txBody>
                    <a:bodyPr/>
                    <a:lstStyle/>
                    <a:p>
                      <a:r>
                        <a:rPr sz="1875" b="1">
                          <a:solidFill>
                            <a:srgbClr val="FFFFFF"/>
                          </a:solidFill>
                          <a:latin typeface="Helvetica Neue"/>
                          <a:ea typeface="Helvetica Neue"/>
                          <a:cs typeface="Helvetica Neue"/>
                        </a:rPr>
                        <a:t>Boundary</a:t>
                      </a:r>
                    </a:p>
                  </a:txBody>
                  <a:tcPr marL="91440" marR="91440" marT="45720" marB="45720">
                    <a:lnR w="9525">
                      <a:solidFill>
                        <a:srgbClr val="DFE5DF"/>
                      </a:solidFill>
                      <a:prstDash val="solid"/>
                    </a:lnR>
                    <a:lnT w="9525">
                      <a:solidFill>
                        <a:srgbClr val="DFE5DF"/>
                      </a:solidFill>
                      <a:prstDash val="solid"/>
                    </a:lnT>
                    <a:lnB w="9525">
                      <a:solidFill>
                        <a:srgbClr val="DFE5DF"/>
                      </a:solidFill>
                      <a:prstDash val="solid"/>
                    </a:lnB>
                    <a:solidFill>
                      <a:srgbClr val="146B5F"/>
                    </a:solidFill>
                  </a:tcPr>
                </a:tc>
              </a:tr>
              <a:tr h="695325">
                <a:tc>
                  <a:txBody>
                    <a:bodyPr/>
                    <a:lstStyle/>
                    <a:p>
                      <a:r>
                        <a:rPr sz="1875" b="0">
                          <a:solidFill>
                            <a:srgbClr val="172E32"/>
                          </a:solidFill>
                          <a:latin typeface="Helvetica Neue"/>
                          <a:ea typeface="Helvetica Neue"/>
                          <a:cs typeface="Helvetica Neue"/>
                        </a:rPr>
                        <a:t>Browser + FastAPI</a:t>
                      </a:r>
                    </a:p>
                  </a:txBody>
                  <a:tcPr marL="91440" marR="91440" marT="45720" marB="45720">
                    <a:lnL w="9525">
                      <a:solidFill>
                        <a:srgbClr val="DFE5DF"/>
                      </a:solidFill>
                      <a:prstDash val="solid"/>
                    </a:lnL>
                    <a:lnR w="9525">
                      <a:solidFill>
                        <a:srgbClr val="DFE5DF"/>
                      </a:solidFill>
                      <a:prstDash val="solid"/>
                    </a:lnR>
                    <a:lnB w="9525">
                      <a:solidFill>
                        <a:srgbClr val="DFE5DF"/>
                      </a:solidFill>
                      <a:prstDash val="solid"/>
                    </a:lnB>
                    <a:solidFill>
                      <a:srgbClr val="FFFFFF"/>
                    </a:solidFill>
                  </a:tcPr>
                </a:tc>
                <a:tc>
                  <a:txBody>
                    <a:bodyPr/>
                    <a:lstStyle/>
                    <a:p>
                      <a:r>
                        <a:rPr sz="1875" b="0">
                          <a:solidFill>
                            <a:srgbClr val="172E32"/>
                          </a:solidFill>
                          <a:latin typeface="Helvetica Neue"/>
                          <a:ea typeface="Helvetica Neue"/>
                          <a:cs typeface="Helvetica Neue"/>
                        </a:rPr>
                        <a:t>Upload, inspect, review</a:t>
                      </a:r>
                    </a:p>
                  </a:txBody>
                  <a:tcPr marL="91440" marR="91440" marT="45720" marB="45720">
                    <a:lnR w="9525">
                      <a:solidFill>
                        <a:srgbClr val="DFE5DF"/>
                      </a:solidFill>
                      <a:prstDash val="solid"/>
                    </a:lnR>
                    <a:lnB w="9525">
                      <a:solidFill>
                        <a:srgbClr val="DFE5DF"/>
                      </a:solidFill>
                      <a:prstDash val="solid"/>
                    </a:lnB>
                    <a:solidFill>
                      <a:srgbClr val="FFFFFF"/>
                    </a:solidFill>
                  </a:tcPr>
                </a:tc>
                <a:tc>
                  <a:txBody>
                    <a:bodyPr/>
                    <a:lstStyle/>
                    <a:p>
                      <a:r>
                        <a:rPr sz="1875" b="0">
                          <a:solidFill>
                            <a:srgbClr val="172E32"/>
                          </a:solidFill>
                          <a:latin typeface="Helvetica Neue"/>
                          <a:ea typeface="Helvetica Neue"/>
                          <a:cs typeface="Helvetica Neue"/>
                        </a:rPr>
                        <a:t>Local origin and session</a:t>
                      </a:r>
                    </a:p>
                  </a:txBody>
                  <a:tcPr marL="91440" marR="91440" marT="45720" marB="45720">
                    <a:lnR w="9525">
                      <a:solidFill>
                        <a:srgbClr val="DFE5DF"/>
                      </a:solidFill>
                      <a:prstDash val="solid"/>
                    </a:lnR>
                    <a:lnB w="9525">
                      <a:solidFill>
                        <a:srgbClr val="DFE5DF"/>
                      </a:solidFill>
                      <a:prstDash val="solid"/>
                    </a:lnB>
                    <a:solidFill>
                      <a:srgbClr val="FFFFFF"/>
                    </a:solidFill>
                  </a:tcPr>
                </a:tc>
              </a:tr>
              <a:tr h="695325">
                <a:tc>
                  <a:txBody>
                    <a:bodyPr/>
                    <a:lstStyle/>
                    <a:p>
                      <a:r>
                        <a:rPr sz="1875" b="0">
                          <a:solidFill>
                            <a:srgbClr val="172E32"/>
                          </a:solidFill>
                          <a:latin typeface="Helvetica Neue"/>
                          <a:ea typeface="Helvetica Neue"/>
                          <a:cs typeface="Helvetica Neue"/>
                        </a:rPr>
                        <a:t>Single agent</a:t>
                      </a:r>
                    </a:p>
                  </a:txBody>
                  <a:tcPr marL="91440" marR="91440" marT="45720" marB="45720">
                    <a:lnL w="9525">
                      <a:solidFill>
                        <a:srgbClr val="DFE5DF"/>
                      </a:solidFill>
                      <a:prstDash val="solid"/>
                    </a:lnL>
                    <a:lnR w="9525">
                      <a:solidFill>
                        <a:srgbClr val="DFE5DF"/>
                      </a:solidFill>
                      <a:prstDash val="solid"/>
                    </a:lnR>
                    <a:lnB w="9525">
                      <a:solidFill>
                        <a:srgbClr val="DFE5DF"/>
                      </a:solidFill>
                      <a:prstDash val="solid"/>
                    </a:lnB>
                    <a:solidFill>
                      <a:srgbClr val="F5F6F2"/>
                    </a:solidFill>
                  </a:tcPr>
                </a:tc>
                <a:tc>
                  <a:txBody>
                    <a:bodyPr/>
                    <a:lstStyle/>
                    <a:p>
                      <a:r>
                        <a:rPr sz="1875" b="0">
                          <a:solidFill>
                            <a:srgbClr val="172E32"/>
                          </a:solidFill>
                          <a:latin typeface="Helvetica Neue"/>
                          <a:ea typeface="Helvetica Neue"/>
                          <a:cs typeface="Helvetica Neue"/>
                        </a:rPr>
                        <a:t>Choose investigation tools</a:t>
                      </a:r>
                    </a:p>
                  </a:txBody>
                  <a:tcPr marL="91440" marR="91440" marT="45720" marB="45720">
                    <a:lnR w="9525">
                      <a:solidFill>
                        <a:srgbClr val="DFE5DF"/>
                      </a:solidFill>
                      <a:prstDash val="solid"/>
                    </a:lnR>
                    <a:lnB w="9525">
                      <a:solidFill>
                        <a:srgbClr val="DFE5DF"/>
                      </a:solidFill>
                      <a:prstDash val="solid"/>
                    </a:lnB>
                    <a:solidFill>
                      <a:srgbClr val="F5F6F2"/>
                    </a:solidFill>
                  </a:tcPr>
                </a:tc>
                <a:tc>
                  <a:txBody>
                    <a:bodyPr/>
                    <a:lstStyle/>
                    <a:p>
                      <a:r>
                        <a:rPr sz="1875" b="0">
                          <a:solidFill>
                            <a:srgbClr val="172E32"/>
                          </a:solidFill>
                          <a:latin typeface="Helvetica Neue"/>
                          <a:ea typeface="Helvetica Neue"/>
                          <a:cs typeface="Helvetica Neue"/>
                        </a:rPr>
                        <a:t>Bounded calls and context</a:t>
                      </a:r>
                    </a:p>
                  </a:txBody>
                  <a:tcPr marL="91440" marR="91440" marT="45720" marB="45720">
                    <a:lnR w="9525">
                      <a:solidFill>
                        <a:srgbClr val="DFE5DF"/>
                      </a:solidFill>
                      <a:prstDash val="solid"/>
                    </a:lnR>
                    <a:lnB w="9525">
                      <a:solidFill>
                        <a:srgbClr val="DFE5DF"/>
                      </a:solidFill>
                      <a:prstDash val="solid"/>
                    </a:lnB>
                    <a:solidFill>
                      <a:srgbClr val="F5F6F2"/>
                    </a:solidFill>
                  </a:tcPr>
                </a:tc>
              </a:tr>
              <a:tr h="695325">
                <a:tc>
                  <a:txBody>
                    <a:bodyPr/>
                    <a:lstStyle/>
                    <a:p>
                      <a:r>
                        <a:rPr sz="1875" b="0">
                          <a:solidFill>
                            <a:srgbClr val="172E32"/>
                          </a:solidFill>
                          <a:latin typeface="Helvetica Neue"/>
                          <a:ea typeface="Helvetica Neue"/>
                          <a:cs typeface="Helvetica Neue"/>
                        </a:rPr>
                        <a:t>MCP server</a:t>
                      </a:r>
                    </a:p>
                  </a:txBody>
                  <a:tcPr marL="91440" marR="91440" marT="45720" marB="45720">
                    <a:lnL w="9525">
                      <a:solidFill>
                        <a:srgbClr val="DFE5DF"/>
                      </a:solidFill>
                      <a:prstDash val="solid"/>
                    </a:lnL>
                    <a:lnR w="9525">
                      <a:solidFill>
                        <a:srgbClr val="DFE5DF"/>
                      </a:solidFill>
                      <a:prstDash val="solid"/>
                    </a:lnR>
                    <a:lnB w="9525">
                      <a:solidFill>
                        <a:srgbClr val="DFE5DF"/>
                      </a:solidFill>
                      <a:prstDash val="solid"/>
                    </a:lnB>
                    <a:solidFill>
                      <a:srgbClr val="FFFFFF"/>
                    </a:solidFill>
                  </a:tcPr>
                </a:tc>
                <a:tc>
                  <a:txBody>
                    <a:bodyPr/>
                    <a:lstStyle/>
                    <a:p>
                      <a:r>
                        <a:rPr sz="1875" b="0">
                          <a:solidFill>
                            <a:srgbClr val="172E32"/>
                          </a:solidFill>
                          <a:latin typeface="Helvetica Neue"/>
                          <a:ea typeface="Helvetica Neue"/>
                          <a:cs typeface="Helvetica Neue"/>
                        </a:rPr>
                        <a:t>Calculate and inspect</a:t>
                      </a:r>
                    </a:p>
                  </a:txBody>
                  <a:tcPr marL="91440" marR="91440" marT="45720" marB="45720">
                    <a:lnR w="9525">
                      <a:solidFill>
                        <a:srgbClr val="DFE5DF"/>
                      </a:solidFill>
                      <a:prstDash val="solid"/>
                    </a:lnR>
                    <a:lnB w="9525">
                      <a:solidFill>
                        <a:srgbClr val="DFE5DF"/>
                      </a:solidFill>
                      <a:prstDash val="solid"/>
                    </a:lnB>
                    <a:solidFill>
                      <a:srgbClr val="FFFFFF"/>
                    </a:solidFill>
                  </a:tcPr>
                </a:tc>
                <a:tc>
                  <a:txBody>
                    <a:bodyPr/>
                    <a:lstStyle/>
                    <a:p>
                      <a:r>
                        <a:rPr sz="1875" b="0">
                          <a:solidFill>
                            <a:srgbClr val="172E32"/>
                          </a:solidFill>
                          <a:latin typeface="Helvetica Neue"/>
                          <a:ea typeface="Helvetica Neue"/>
                          <a:cs typeface="Helvetica Neue"/>
                        </a:rPr>
                        <a:t>Read-only tools</a:t>
                      </a:r>
                    </a:p>
                  </a:txBody>
                  <a:tcPr marL="91440" marR="91440" marT="45720" marB="45720">
                    <a:lnR w="9525">
                      <a:solidFill>
                        <a:srgbClr val="DFE5DF"/>
                      </a:solidFill>
                      <a:prstDash val="solid"/>
                    </a:lnR>
                    <a:lnB w="9525">
                      <a:solidFill>
                        <a:srgbClr val="DFE5DF"/>
                      </a:solidFill>
                      <a:prstDash val="solid"/>
                    </a:lnB>
                    <a:solidFill>
                      <a:srgbClr val="FFFFFF"/>
                    </a:solidFill>
                  </a:tcPr>
                </a:tc>
              </a:tr>
              <a:tr h="695325">
                <a:tc>
                  <a:txBody>
                    <a:bodyPr/>
                    <a:lstStyle/>
                    <a:p>
                      <a:r>
                        <a:rPr sz="1875" b="0">
                          <a:solidFill>
                            <a:srgbClr val="172E32"/>
                          </a:solidFill>
                          <a:latin typeface="Helvetica Neue"/>
                          <a:ea typeface="Helvetica Neue"/>
                          <a:cs typeface="Helvetica Neue"/>
                        </a:rPr>
                        <a:t>Approval handler</a:t>
                      </a:r>
                    </a:p>
                  </a:txBody>
                  <a:tcPr marL="91440" marR="91440" marT="45720" marB="45720">
                    <a:lnL w="9525">
                      <a:solidFill>
                        <a:srgbClr val="DFE5DF"/>
                      </a:solidFill>
                      <a:prstDash val="solid"/>
                    </a:lnL>
                    <a:lnR w="9525">
                      <a:solidFill>
                        <a:srgbClr val="DFE5DF"/>
                      </a:solidFill>
                      <a:prstDash val="solid"/>
                    </a:lnR>
                    <a:lnB w="9525">
                      <a:solidFill>
                        <a:srgbClr val="DFE5DF"/>
                      </a:solidFill>
                      <a:prstDash val="solid"/>
                    </a:lnB>
                    <a:solidFill>
                      <a:srgbClr val="F5F6F2"/>
                    </a:solidFill>
                  </a:tcPr>
                </a:tc>
                <a:tc>
                  <a:txBody>
                    <a:bodyPr/>
                    <a:lstStyle/>
                    <a:p>
                      <a:r>
                        <a:rPr sz="1875" b="0">
                          <a:solidFill>
                            <a:srgbClr val="172E32"/>
                          </a:solidFill>
                          <a:latin typeface="Helvetica Neue"/>
                          <a:ea typeface="Helvetica Neue"/>
                          <a:cs typeface="Helvetica Neue"/>
                        </a:rPr>
                        <a:t>Save reviewed specification</a:t>
                      </a:r>
                    </a:p>
                  </a:txBody>
                  <a:tcPr marL="91440" marR="91440" marT="45720" marB="45720">
                    <a:lnR w="9525">
                      <a:solidFill>
                        <a:srgbClr val="DFE5DF"/>
                      </a:solidFill>
                      <a:prstDash val="solid"/>
                    </a:lnR>
                    <a:lnB w="9525">
                      <a:solidFill>
                        <a:srgbClr val="DFE5DF"/>
                      </a:solidFill>
                      <a:prstDash val="solid"/>
                    </a:lnB>
                    <a:solidFill>
                      <a:srgbClr val="F5F6F2"/>
                    </a:solidFill>
                  </a:tcPr>
                </a:tc>
                <a:tc>
                  <a:txBody>
                    <a:bodyPr/>
                    <a:lstStyle/>
                    <a:p>
                      <a:r>
                        <a:rPr sz="1875" b="0">
                          <a:solidFill>
                            <a:srgbClr val="172E32"/>
                          </a:solidFill>
                          <a:latin typeface="Helvetica Neue"/>
                          <a:ea typeface="Helvetica Neue"/>
                          <a:cs typeface="Helvetica Neue"/>
                        </a:rPr>
                        <a:t>Exact digest, one file</a:t>
                      </a:r>
                    </a:p>
                  </a:txBody>
                  <a:tcPr marL="91440" marR="91440" marT="45720" marB="45720">
                    <a:lnR w="9525">
                      <a:solidFill>
                        <a:srgbClr val="DFE5DF"/>
                      </a:solidFill>
                      <a:prstDash val="solid"/>
                    </a:lnR>
                    <a:lnB w="9525">
                      <a:solidFill>
                        <a:srgbClr val="DFE5DF"/>
                      </a:solidFill>
                      <a:prstDash val="solid"/>
                    </a:lnB>
                    <a:solidFill>
                      <a:srgbClr val="F5F6F2"/>
                    </a:solidFill>
                  </a:tcPr>
                </a:tc>
              </a:tr>
            </a:tbl>
          </a:graphicData>
        </a:graphic>
      </p:graphicFrame>
      <p:sp>
        <p:nvSpPr>
          <p:cNvPr id="5" name="">
            <a:extLst xmlns:a="http://schemas.openxmlformats.org/drawingml/2006/main">
              <a:ext uri="{FF2B5EF4-FFF2-40B4-BE49-F238E27FC236}">
                <a16:creationId xmlns:a16="http://schemas.microsoft.com/office/drawing/2014/main" id="{48B37A41-9598-4611-8DC4-71C5216F4FCF}"/>
              </a:ext>
            </a:extLst>
          </p:cNvPr>
          <p:cNvSpPr>
            <a:spLocks xmlns:a="http://schemas.openxmlformats.org/drawingml/2006/main" noGrp="1"/>
          </p:cNvSpPr>
          <p:nvPr/>
        </p:nvSpPr>
        <p:spPr>
          <a:xfrm xmlns:a="http://schemas.openxmlformats.org/drawingml/2006/main">
            <a:off x="723900" y="5857875"/>
            <a:ext cx="1047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657574"/>
                </a:solidFill>
                <a:latin typeface="Helvetica Neue"/>
                <a:ea typeface="Helvetica Neue"/>
                <a:cs typeface="Helvetica Neue"/>
              </a:defRPr>
            </a:defPPr>
            <a:lvl1pPr>
              <a:defRPr sz="1800" b="0">
                <a:solidFill>
                  <a:srgbClr val="657574"/>
                </a:solidFill>
                <a:latin typeface="Helvetica Neue"/>
                <a:ea typeface="Helvetica Neue"/>
                <a:cs typeface="Helvetica Neue"/>
              </a:defRPr>
            </a:lvl1pPr>
            <a:lvl2pPr>
              <a:defRPr sz="1800" b="0">
                <a:solidFill>
                  <a:srgbClr val="657574"/>
                </a:solidFill>
                <a:latin typeface="Helvetica Neue"/>
                <a:ea typeface="Helvetica Neue"/>
                <a:cs typeface="Helvetica Neue"/>
              </a:defRPr>
            </a:lvl2pPr>
            <a:lvl3pPr>
              <a:defRPr sz="1800" b="0">
                <a:solidFill>
                  <a:srgbClr val="657574"/>
                </a:solidFill>
                <a:latin typeface="Helvetica Neue"/>
                <a:ea typeface="Helvetica Neue"/>
                <a:cs typeface="Helvetica Neue"/>
              </a:defRPr>
            </a:lvl3pPr>
            <a:lvl4pPr>
              <a:defRPr sz="1800" b="0">
                <a:solidFill>
                  <a:srgbClr val="657574"/>
                </a:solidFill>
                <a:latin typeface="Helvetica Neue"/>
                <a:ea typeface="Helvetica Neue"/>
                <a:cs typeface="Helvetica Neue"/>
              </a:defRPr>
            </a:lvl4pPr>
            <a:lvl5pPr>
              <a:defRPr sz="1800" b="0">
                <a:solidFill>
                  <a:srgbClr val="657574"/>
                </a:solidFill>
                <a:latin typeface="Helvetica Neue"/>
                <a:ea typeface="Helvetica Neue"/>
                <a:cs typeface="Helvetica Neue"/>
              </a:defRPr>
            </a:lvl5pPr>
            <a:lvl6pPr>
              <a:defRPr sz="1800" b="0">
                <a:solidFill>
                  <a:srgbClr val="657574"/>
                </a:solidFill>
                <a:latin typeface="Helvetica Neue"/>
                <a:ea typeface="Helvetica Neue"/>
                <a:cs typeface="Helvetica Neue"/>
              </a:defRPr>
            </a:lvl6pPr>
            <a:lvl7pPr>
              <a:defRPr sz="1800" b="0">
                <a:solidFill>
                  <a:srgbClr val="657574"/>
                </a:solidFill>
                <a:latin typeface="Helvetica Neue"/>
                <a:ea typeface="Helvetica Neue"/>
                <a:cs typeface="Helvetica Neue"/>
              </a:defRPr>
            </a:lvl7pPr>
            <a:lvl8pPr>
              <a:defRPr sz="1800" b="0">
                <a:solidFill>
                  <a:srgbClr val="657574"/>
                </a:solidFill>
                <a:latin typeface="Helvetica Neue"/>
                <a:ea typeface="Helvetica Neue"/>
                <a:cs typeface="Helvetica Neue"/>
              </a:defRPr>
            </a:lvl8pPr>
            <a:lvl9pPr>
              <a:defRPr sz="1800" b="0">
                <a:solidFill>
                  <a:srgbClr val="657574"/>
                </a:solidFill>
                <a:latin typeface="Helvetica Neue"/>
                <a:ea typeface="Helvetica Neue"/>
                <a:cs typeface="Helvetica Neue"/>
              </a:defRPr>
            </a:lvl9pPr>
          </a:lstStyle>
          <a:p xmlns:a="http://schemas.openxmlformats.org/drawingml/2006/main">
            <a:pPr>
              <a:defRPr sz="1800" b="0">
                <a:solidFill>
                  <a:srgbClr val="657574"/>
                </a:solidFill>
                <a:latin typeface="Helvetica Neue"/>
                <a:ea typeface="Helvetica Neue"/>
                <a:cs typeface="Helvetica Neue"/>
              </a:defRPr>
            </a:pPr>
            <a:r>
              <a:rPr sz="1800" b="0">
                <a:solidFill>
                  <a:srgbClr val="657574"/>
                </a:solidFill>
                <a:latin typeface="Helvetica Neue"/>
                <a:ea typeface="Helvetica Neue"/>
                <a:cs typeface="Helvetica Neue"/>
              </a:rPr>
              <a:t>SQLite retains evidence and pending actions. The model API runs externally.</a:t>
            </a:r>
          </a:p>
        </p:txBody>
      </p:sp>
    </p:spTree>
    <p:extLst>
      <p:ext uri="{BB962C8B-B14F-4D97-AF65-F5344CB8AC3E}">
        <p14:creationId xmlns:p14="http://schemas.microsoft.com/office/powerpoint/2010/main" val="1660574062"/>
      </p:ext>
    </p:extLst>
  </p:cSld>
</p:sld>
</file>

<file path=ppt/slides/slide4.xml><?xml version="1.0" encoding="utf-8"?>
<p:sld xmlns:p="http://schemas.openxmlformats.org/presentationml/2006/main">
  <p:cSld>
    <p:bg>
      <p:bgPr>
        <a:solidFill xmlns:a="http://schemas.openxmlformats.org/drawingml/2006/main">
          <a:srgbClr val="F5F6F2"/>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AEB0710-4B5F-4877-A589-DC0A9C468666}"/>
              </a:ext>
            </a:extLst>
          </p:cNvPr>
          <p:cNvSpPr>
            <a:spLocks xmlns:a="http://schemas.openxmlformats.org/drawingml/2006/main" noGrp="1"/>
          </p:cNvSpPr>
          <p:nvPr/>
        </p:nvSpPr>
        <p:spPr>
          <a:xfrm xmlns:a="http://schemas.openxmlformats.org/drawingml/2006/main">
            <a:off x="7239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1">
                <a:solidFill>
                  <a:srgbClr val="146B5F"/>
                </a:solidFill>
                <a:latin typeface="Helvetica Neue"/>
                <a:ea typeface="Helvetica Neue"/>
                <a:cs typeface="Helvetica Neue"/>
              </a:defRPr>
            </a:defPPr>
            <a:lvl1pPr>
              <a:defRPr sz="1125" b="1">
                <a:solidFill>
                  <a:srgbClr val="146B5F"/>
                </a:solidFill>
                <a:latin typeface="Helvetica Neue"/>
                <a:ea typeface="Helvetica Neue"/>
                <a:cs typeface="Helvetica Neue"/>
              </a:defRPr>
            </a:lvl1pPr>
            <a:lvl2pPr>
              <a:defRPr sz="1125" b="1">
                <a:solidFill>
                  <a:srgbClr val="146B5F"/>
                </a:solidFill>
                <a:latin typeface="Helvetica Neue"/>
                <a:ea typeface="Helvetica Neue"/>
                <a:cs typeface="Helvetica Neue"/>
              </a:defRPr>
            </a:lvl2pPr>
            <a:lvl3pPr>
              <a:defRPr sz="1125" b="1">
                <a:solidFill>
                  <a:srgbClr val="146B5F"/>
                </a:solidFill>
                <a:latin typeface="Helvetica Neue"/>
                <a:ea typeface="Helvetica Neue"/>
                <a:cs typeface="Helvetica Neue"/>
              </a:defRPr>
            </a:lvl3pPr>
            <a:lvl4pPr>
              <a:defRPr sz="1125" b="1">
                <a:solidFill>
                  <a:srgbClr val="146B5F"/>
                </a:solidFill>
                <a:latin typeface="Helvetica Neue"/>
                <a:ea typeface="Helvetica Neue"/>
                <a:cs typeface="Helvetica Neue"/>
              </a:defRPr>
            </a:lvl4pPr>
            <a:lvl5pPr>
              <a:defRPr sz="1125" b="1">
                <a:solidFill>
                  <a:srgbClr val="146B5F"/>
                </a:solidFill>
                <a:latin typeface="Helvetica Neue"/>
                <a:ea typeface="Helvetica Neue"/>
                <a:cs typeface="Helvetica Neue"/>
              </a:defRPr>
            </a:lvl5pPr>
            <a:lvl6pPr>
              <a:defRPr sz="1125" b="1">
                <a:solidFill>
                  <a:srgbClr val="146B5F"/>
                </a:solidFill>
                <a:latin typeface="Helvetica Neue"/>
                <a:ea typeface="Helvetica Neue"/>
                <a:cs typeface="Helvetica Neue"/>
              </a:defRPr>
            </a:lvl6pPr>
            <a:lvl7pPr>
              <a:defRPr sz="1125" b="1">
                <a:solidFill>
                  <a:srgbClr val="146B5F"/>
                </a:solidFill>
                <a:latin typeface="Helvetica Neue"/>
                <a:ea typeface="Helvetica Neue"/>
                <a:cs typeface="Helvetica Neue"/>
              </a:defRPr>
            </a:lvl7pPr>
            <a:lvl8pPr>
              <a:defRPr sz="1125" b="1">
                <a:solidFill>
                  <a:srgbClr val="146B5F"/>
                </a:solidFill>
                <a:latin typeface="Helvetica Neue"/>
                <a:ea typeface="Helvetica Neue"/>
                <a:cs typeface="Helvetica Neue"/>
              </a:defRPr>
            </a:lvl8pPr>
            <a:lvl9pPr>
              <a:defRPr sz="1125" b="1">
                <a:solidFill>
                  <a:srgbClr val="146B5F"/>
                </a:solidFill>
                <a:latin typeface="Helvetica Neue"/>
                <a:ea typeface="Helvetica Neue"/>
                <a:cs typeface="Helvetica Neue"/>
              </a:defRPr>
            </a:lvl9pPr>
          </a:lstStyle>
          <a:p xmlns:a="http://schemas.openxmlformats.org/drawingml/2006/main">
            <a:pPr>
              <a:defRPr sz="1125" b="1">
                <a:solidFill>
                  <a:srgbClr val="146B5F"/>
                </a:solidFill>
                <a:latin typeface="Helvetica Neue"/>
                <a:ea typeface="Helvetica Neue"/>
                <a:cs typeface="Helvetica Neue"/>
              </a:defRPr>
            </a:pPr>
            <a:r>
              <a:rPr sz="1125" b="1">
                <a:solidFill>
                  <a:srgbClr val="146B5F"/>
                </a:solidFill>
                <a:latin typeface="Helvetica Neue"/>
                <a:ea typeface="Helvetica Neue"/>
                <a:cs typeface="Helvetica Neue"/>
              </a:rPr>
              <a:t>MODELCHECK    /    SDAIA CAPSTONE</a:t>
            </a:r>
          </a:p>
        </p:txBody>
      </p:sp>
      <p:sp>
        <p:nvSpPr>
          <p:cNvPr id="2" name="">
            <a:extLst xmlns:a="http://schemas.openxmlformats.org/drawingml/2006/main">
              <a:ext uri="{FF2B5EF4-FFF2-40B4-BE49-F238E27FC236}">
                <a16:creationId xmlns:a16="http://schemas.microsoft.com/office/drawing/2014/main" id="{437CC711-641E-41D8-B554-6296CD07657F}"/>
              </a:ext>
            </a:extLst>
          </p:cNvPr>
          <p:cNvSpPr>
            <a:spLocks xmlns:a="http://schemas.openxmlformats.org/drawingml/2006/main" noGrp="1"/>
          </p:cNvSpPr>
          <p:nvPr/>
        </p:nvSpPr>
        <p:spPr>
          <a:xfrm xmlns:a="http://schemas.openxmlformats.org/drawingml/2006/main">
            <a:off x="723900" y="990600"/>
            <a:ext cx="107442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825" b="0">
                <a:solidFill>
                  <a:srgbClr val="172E32"/>
                </a:solidFill>
                <a:latin typeface="Helvetica Neue"/>
                <a:ea typeface="Helvetica Neue"/>
                <a:cs typeface="Helvetica Neue"/>
              </a:defRPr>
            </a:defPPr>
            <a:lvl1pPr>
              <a:defRPr sz="3825" b="0">
                <a:solidFill>
                  <a:srgbClr val="172E32"/>
                </a:solidFill>
                <a:latin typeface="Helvetica Neue"/>
                <a:ea typeface="Helvetica Neue"/>
                <a:cs typeface="Helvetica Neue"/>
              </a:defRPr>
            </a:lvl1pPr>
            <a:lvl2pPr>
              <a:defRPr sz="3825" b="0">
                <a:solidFill>
                  <a:srgbClr val="172E32"/>
                </a:solidFill>
                <a:latin typeface="Helvetica Neue"/>
                <a:ea typeface="Helvetica Neue"/>
                <a:cs typeface="Helvetica Neue"/>
              </a:defRPr>
            </a:lvl2pPr>
            <a:lvl3pPr>
              <a:defRPr sz="3825" b="0">
                <a:solidFill>
                  <a:srgbClr val="172E32"/>
                </a:solidFill>
                <a:latin typeface="Helvetica Neue"/>
                <a:ea typeface="Helvetica Neue"/>
                <a:cs typeface="Helvetica Neue"/>
              </a:defRPr>
            </a:lvl3pPr>
            <a:lvl4pPr>
              <a:defRPr sz="3825" b="0">
                <a:solidFill>
                  <a:srgbClr val="172E32"/>
                </a:solidFill>
                <a:latin typeface="Helvetica Neue"/>
                <a:ea typeface="Helvetica Neue"/>
                <a:cs typeface="Helvetica Neue"/>
              </a:defRPr>
            </a:lvl4pPr>
            <a:lvl5pPr>
              <a:defRPr sz="3825" b="0">
                <a:solidFill>
                  <a:srgbClr val="172E32"/>
                </a:solidFill>
                <a:latin typeface="Helvetica Neue"/>
                <a:ea typeface="Helvetica Neue"/>
                <a:cs typeface="Helvetica Neue"/>
              </a:defRPr>
            </a:lvl5pPr>
            <a:lvl6pPr>
              <a:defRPr sz="3825" b="0">
                <a:solidFill>
                  <a:srgbClr val="172E32"/>
                </a:solidFill>
                <a:latin typeface="Helvetica Neue"/>
                <a:ea typeface="Helvetica Neue"/>
                <a:cs typeface="Helvetica Neue"/>
              </a:defRPr>
            </a:lvl6pPr>
            <a:lvl7pPr>
              <a:defRPr sz="3825" b="0">
                <a:solidFill>
                  <a:srgbClr val="172E32"/>
                </a:solidFill>
                <a:latin typeface="Helvetica Neue"/>
                <a:ea typeface="Helvetica Neue"/>
                <a:cs typeface="Helvetica Neue"/>
              </a:defRPr>
            </a:lvl7pPr>
            <a:lvl8pPr>
              <a:defRPr sz="3825" b="0">
                <a:solidFill>
                  <a:srgbClr val="172E32"/>
                </a:solidFill>
                <a:latin typeface="Helvetica Neue"/>
                <a:ea typeface="Helvetica Neue"/>
                <a:cs typeface="Helvetica Neue"/>
              </a:defRPr>
            </a:lvl8pPr>
            <a:lvl9pPr>
              <a:defRPr sz="3825" b="0">
                <a:solidFill>
                  <a:srgbClr val="172E32"/>
                </a:solidFill>
                <a:latin typeface="Helvetica Neue"/>
                <a:ea typeface="Helvetica Neue"/>
                <a:cs typeface="Helvetica Neue"/>
              </a:defRPr>
            </a:lvl9pPr>
          </a:lstStyle>
          <a:p xmlns:a="http://schemas.openxmlformats.org/drawingml/2006/main">
            <a:pPr>
              <a:defRPr sz="3825" b="0">
                <a:solidFill>
                  <a:srgbClr val="172E32"/>
                </a:solidFill>
                <a:latin typeface="Helvetica Neue"/>
                <a:ea typeface="Helvetica Neue"/>
                <a:cs typeface="Helvetica Neue"/>
              </a:defRPr>
            </a:pPr>
            <a:r>
              <a:rPr sz="3825" b="0">
                <a:solidFill>
                  <a:srgbClr val="172E32"/>
                </a:solidFill>
                <a:latin typeface="Helvetica Neue"/>
                <a:ea typeface="Helvetica Neue"/>
                <a:cs typeface="Helvetica Neue"/>
              </a:rPr>
              <a:t>Context and harness decisions</a:t>
            </a:r>
          </a:p>
        </p:txBody>
      </p:sp>
      <p:sp>
        <p:nvSpPr>
          <p:cNvPr id="3" name="">
            <a:extLst xmlns:a="http://schemas.openxmlformats.org/drawingml/2006/main">
              <a:ext uri="{FF2B5EF4-FFF2-40B4-BE49-F238E27FC236}">
                <a16:creationId xmlns:a16="http://schemas.microsoft.com/office/drawing/2014/main" id="{F9AAE78E-CAFD-46D9-B2FC-A254D23C3171}"/>
              </a:ext>
            </a:extLst>
          </p:cNvPr>
          <p:cNvSpPr>
            <a:spLocks xmlns:a="http://schemas.openxmlformats.org/drawingml/2006/main" noGrp="1"/>
          </p:cNvSpPr>
          <p:nvPr/>
        </p:nvSpPr>
        <p:spPr>
          <a:xfrm xmlns:a="http://schemas.openxmlformats.org/drawingml/2006/main">
            <a:off x="11049000" y="6257925"/>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050" b="0">
                <a:solidFill>
                  <a:srgbClr val="657574"/>
                </a:solidFill>
                <a:latin typeface="Helvetica Neue"/>
                <a:ea typeface="Helvetica Neue"/>
                <a:cs typeface="Helvetica Neue"/>
              </a:defRPr>
            </a:defPPr>
            <a:lvl1pPr>
              <a:defRPr sz="1050" b="0">
                <a:solidFill>
                  <a:srgbClr val="657574"/>
                </a:solidFill>
                <a:latin typeface="Helvetica Neue"/>
                <a:ea typeface="Helvetica Neue"/>
                <a:cs typeface="Helvetica Neue"/>
              </a:defRPr>
            </a:lvl1pPr>
            <a:lvl2pPr>
              <a:defRPr sz="1050" b="0">
                <a:solidFill>
                  <a:srgbClr val="657574"/>
                </a:solidFill>
                <a:latin typeface="Helvetica Neue"/>
                <a:ea typeface="Helvetica Neue"/>
                <a:cs typeface="Helvetica Neue"/>
              </a:defRPr>
            </a:lvl2pPr>
            <a:lvl3pPr>
              <a:defRPr sz="1050" b="0">
                <a:solidFill>
                  <a:srgbClr val="657574"/>
                </a:solidFill>
                <a:latin typeface="Helvetica Neue"/>
                <a:ea typeface="Helvetica Neue"/>
                <a:cs typeface="Helvetica Neue"/>
              </a:defRPr>
            </a:lvl3pPr>
            <a:lvl4pPr>
              <a:defRPr sz="1050" b="0">
                <a:solidFill>
                  <a:srgbClr val="657574"/>
                </a:solidFill>
                <a:latin typeface="Helvetica Neue"/>
                <a:ea typeface="Helvetica Neue"/>
                <a:cs typeface="Helvetica Neue"/>
              </a:defRPr>
            </a:lvl4pPr>
            <a:lvl5pPr>
              <a:defRPr sz="1050" b="0">
                <a:solidFill>
                  <a:srgbClr val="657574"/>
                </a:solidFill>
                <a:latin typeface="Helvetica Neue"/>
                <a:ea typeface="Helvetica Neue"/>
                <a:cs typeface="Helvetica Neue"/>
              </a:defRPr>
            </a:lvl5pPr>
            <a:lvl6pPr>
              <a:defRPr sz="1050" b="0">
                <a:solidFill>
                  <a:srgbClr val="657574"/>
                </a:solidFill>
                <a:latin typeface="Helvetica Neue"/>
                <a:ea typeface="Helvetica Neue"/>
                <a:cs typeface="Helvetica Neue"/>
              </a:defRPr>
            </a:lvl6pPr>
            <a:lvl7pPr>
              <a:defRPr sz="1050" b="0">
                <a:solidFill>
                  <a:srgbClr val="657574"/>
                </a:solidFill>
                <a:latin typeface="Helvetica Neue"/>
                <a:ea typeface="Helvetica Neue"/>
                <a:cs typeface="Helvetica Neue"/>
              </a:defRPr>
            </a:lvl7pPr>
            <a:lvl8pPr>
              <a:defRPr sz="1050" b="0">
                <a:solidFill>
                  <a:srgbClr val="657574"/>
                </a:solidFill>
                <a:latin typeface="Helvetica Neue"/>
                <a:ea typeface="Helvetica Neue"/>
                <a:cs typeface="Helvetica Neue"/>
              </a:defRPr>
            </a:lvl8pPr>
            <a:lvl9pPr>
              <a:defRPr sz="1050" b="0">
                <a:solidFill>
                  <a:srgbClr val="657574"/>
                </a:solidFill>
                <a:latin typeface="Helvetica Neue"/>
                <a:ea typeface="Helvetica Neue"/>
                <a:cs typeface="Helvetica Neue"/>
              </a:defRPr>
            </a:lvl9pPr>
          </a:lstStyle>
          <a:p xmlns:a="http://schemas.openxmlformats.org/drawingml/2006/main">
            <a:pPr>
              <a:defRPr sz="1050" b="0">
                <a:solidFill>
                  <a:srgbClr val="657574"/>
                </a:solidFill>
                <a:latin typeface="Helvetica Neue"/>
                <a:ea typeface="Helvetica Neue"/>
                <a:cs typeface="Helvetica Neue"/>
              </a:defRPr>
            </a:pPr>
            <a:r>
              <a:rPr sz="1050" b="0">
                <a:solidFill>
                  <a:srgbClr val="657574"/>
                </a:solidFill>
                <a:latin typeface="Helvetica Neue"/>
                <a:ea typeface="Helvetica Neue"/>
                <a:cs typeface="Helvetica Neue"/>
              </a:rPr>
              <a:t>04</a:t>
            </a:r>
          </a:p>
        </p:txBody>
      </p:sp>
      <p:sp>
        <p:nvSpPr>
          <p:cNvPr id="4" name="">
            <a:extLst xmlns:a="http://schemas.openxmlformats.org/drawingml/2006/main">
              <a:ext uri="{FF2B5EF4-FFF2-40B4-BE49-F238E27FC236}">
                <a16:creationId xmlns:a16="http://schemas.microsoft.com/office/drawing/2014/main" id="{A24068C1-9198-4CEA-8A34-FBB015CF0DE6}"/>
              </a:ext>
            </a:extLst>
          </p:cNvPr>
          <p:cNvSpPr>
            <a:spLocks xmlns:a="http://schemas.openxmlformats.org/drawingml/2006/main" noGrp="1"/>
          </p:cNvSpPr>
          <p:nvPr/>
        </p:nvSpPr>
        <p:spPr>
          <a:xfrm xmlns:a="http://schemas.openxmlformats.org/drawingml/2006/main">
            <a:off x="723900" y="2095500"/>
            <a:ext cx="4762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1">
                <a:solidFill>
                  <a:srgbClr val="146B5F"/>
                </a:solidFill>
                <a:latin typeface="Helvetica Neue"/>
                <a:ea typeface="Helvetica Neue"/>
                <a:cs typeface="Helvetica Neue"/>
              </a:defRPr>
            </a:defPPr>
            <a:lvl1pPr>
              <a:defRPr sz="2325" b="1">
                <a:solidFill>
                  <a:srgbClr val="146B5F"/>
                </a:solidFill>
                <a:latin typeface="Helvetica Neue"/>
                <a:ea typeface="Helvetica Neue"/>
                <a:cs typeface="Helvetica Neue"/>
              </a:defRPr>
            </a:lvl1pPr>
            <a:lvl2pPr>
              <a:defRPr sz="2325" b="1">
                <a:solidFill>
                  <a:srgbClr val="146B5F"/>
                </a:solidFill>
                <a:latin typeface="Helvetica Neue"/>
                <a:ea typeface="Helvetica Neue"/>
                <a:cs typeface="Helvetica Neue"/>
              </a:defRPr>
            </a:lvl2pPr>
            <a:lvl3pPr>
              <a:defRPr sz="2325" b="1">
                <a:solidFill>
                  <a:srgbClr val="146B5F"/>
                </a:solidFill>
                <a:latin typeface="Helvetica Neue"/>
                <a:ea typeface="Helvetica Neue"/>
                <a:cs typeface="Helvetica Neue"/>
              </a:defRPr>
            </a:lvl3pPr>
            <a:lvl4pPr>
              <a:defRPr sz="2325" b="1">
                <a:solidFill>
                  <a:srgbClr val="146B5F"/>
                </a:solidFill>
                <a:latin typeface="Helvetica Neue"/>
                <a:ea typeface="Helvetica Neue"/>
                <a:cs typeface="Helvetica Neue"/>
              </a:defRPr>
            </a:lvl4pPr>
            <a:lvl5pPr>
              <a:defRPr sz="2325" b="1">
                <a:solidFill>
                  <a:srgbClr val="146B5F"/>
                </a:solidFill>
                <a:latin typeface="Helvetica Neue"/>
                <a:ea typeface="Helvetica Neue"/>
                <a:cs typeface="Helvetica Neue"/>
              </a:defRPr>
            </a:lvl5pPr>
            <a:lvl6pPr>
              <a:defRPr sz="2325" b="1">
                <a:solidFill>
                  <a:srgbClr val="146B5F"/>
                </a:solidFill>
                <a:latin typeface="Helvetica Neue"/>
                <a:ea typeface="Helvetica Neue"/>
                <a:cs typeface="Helvetica Neue"/>
              </a:defRPr>
            </a:lvl6pPr>
            <a:lvl7pPr>
              <a:defRPr sz="2325" b="1">
                <a:solidFill>
                  <a:srgbClr val="146B5F"/>
                </a:solidFill>
                <a:latin typeface="Helvetica Neue"/>
                <a:ea typeface="Helvetica Neue"/>
                <a:cs typeface="Helvetica Neue"/>
              </a:defRPr>
            </a:lvl7pPr>
            <a:lvl8pPr>
              <a:defRPr sz="2325" b="1">
                <a:solidFill>
                  <a:srgbClr val="146B5F"/>
                </a:solidFill>
                <a:latin typeface="Helvetica Neue"/>
                <a:ea typeface="Helvetica Neue"/>
                <a:cs typeface="Helvetica Neue"/>
              </a:defRPr>
            </a:lvl8pPr>
            <a:lvl9pPr>
              <a:defRPr sz="2325" b="1">
                <a:solidFill>
                  <a:srgbClr val="146B5F"/>
                </a:solidFill>
                <a:latin typeface="Helvetica Neue"/>
                <a:ea typeface="Helvetica Neue"/>
                <a:cs typeface="Helvetica Neue"/>
              </a:defRPr>
            </a:lvl9pPr>
          </a:lstStyle>
          <a:p xmlns:a="http://schemas.openxmlformats.org/drawingml/2006/main">
            <a:pPr>
              <a:defRPr sz="2325" b="1">
                <a:solidFill>
                  <a:srgbClr val="146B5F"/>
                </a:solidFill>
                <a:latin typeface="Helvetica Neue"/>
                <a:ea typeface="Helvetica Neue"/>
                <a:cs typeface="Helvetica Neue"/>
              </a:defRPr>
            </a:pPr>
            <a:r>
              <a:rPr sz="2325" b="1">
                <a:solidFill>
                  <a:srgbClr val="146B5F"/>
                </a:solidFill>
                <a:latin typeface="Helvetica Neue"/>
                <a:ea typeface="Helvetica Neue"/>
                <a:cs typeface="Helvetica Neue"/>
              </a:rPr>
              <a:t>Context</a:t>
            </a:r>
          </a:p>
        </p:txBody>
      </p:sp>
      <p:sp>
        <p:nvSpPr>
          <p:cNvPr id="5" name="">
            <a:extLst xmlns:a="http://schemas.openxmlformats.org/drawingml/2006/main">
              <a:ext uri="{FF2B5EF4-FFF2-40B4-BE49-F238E27FC236}">
                <a16:creationId xmlns:a16="http://schemas.microsoft.com/office/drawing/2014/main" id="{5635992D-8874-47C4-8570-56A55C721C13}"/>
              </a:ext>
            </a:extLst>
          </p:cNvPr>
          <p:cNvSpPr>
            <a:spLocks xmlns:a="http://schemas.openxmlformats.org/drawingml/2006/main" noGrp="1"/>
          </p:cNvSpPr>
          <p:nvPr/>
        </p:nvSpPr>
        <p:spPr>
          <a:xfrm xmlns:a="http://schemas.openxmlformats.org/drawingml/2006/main">
            <a:off x="723900" y="2762250"/>
            <a:ext cx="5095875"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72E32"/>
                </a:solidFill>
                <a:latin typeface="Helvetica Neue"/>
                <a:ea typeface="Helvetica Neue"/>
                <a:cs typeface="Helvetica Neue"/>
              </a:defRPr>
            </a:defPPr>
            <a:lvl1pPr>
              <a:defRPr sz="2100" b="0">
                <a:solidFill>
                  <a:srgbClr val="172E32"/>
                </a:solidFill>
                <a:latin typeface="Helvetica Neue"/>
                <a:ea typeface="Helvetica Neue"/>
                <a:cs typeface="Helvetica Neue"/>
              </a:defRPr>
            </a:lvl1pPr>
            <a:lvl2pPr>
              <a:defRPr sz="2100" b="0">
                <a:solidFill>
                  <a:srgbClr val="172E32"/>
                </a:solidFill>
                <a:latin typeface="Helvetica Neue"/>
                <a:ea typeface="Helvetica Neue"/>
                <a:cs typeface="Helvetica Neue"/>
              </a:defRPr>
            </a:lvl2pPr>
            <a:lvl3pPr>
              <a:defRPr sz="2100" b="0">
                <a:solidFill>
                  <a:srgbClr val="172E32"/>
                </a:solidFill>
                <a:latin typeface="Helvetica Neue"/>
                <a:ea typeface="Helvetica Neue"/>
                <a:cs typeface="Helvetica Neue"/>
              </a:defRPr>
            </a:lvl3pPr>
            <a:lvl4pPr>
              <a:defRPr sz="2100" b="0">
                <a:solidFill>
                  <a:srgbClr val="172E32"/>
                </a:solidFill>
                <a:latin typeface="Helvetica Neue"/>
                <a:ea typeface="Helvetica Neue"/>
                <a:cs typeface="Helvetica Neue"/>
              </a:defRPr>
            </a:lvl4pPr>
            <a:lvl5pPr>
              <a:defRPr sz="2100" b="0">
                <a:solidFill>
                  <a:srgbClr val="172E32"/>
                </a:solidFill>
                <a:latin typeface="Helvetica Neue"/>
                <a:ea typeface="Helvetica Neue"/>
                <a:cs typeface="Helvetica Neue"/>
              </a:defRPr>
            </a:lvl5pPr>
            <a:lvl6pPr>
              <a:defRPr sz="2100" b="0">
                <a:solidFill>
                  <a:srgbClr val="172E32"/>
                </a:solidFill>
                <a:latin typeface="Helvetica Neue"/>
                <a:ea typeface="Helvetica Neue"/>
                <a:cs typeface="Helvetica Neue"/>
              </a:defRPr>
            </a:lvl6pPr>
            <a:lvl7pPr>
              <a:defRPr sz="2100" b="0">
                <a:solidFill>
                  <a:srgbClr val="172E32"/>
                </a:solidFill>
                <a:latin typeface="Helvetica Neue"/>
                <a:ea typeface="Helvetica Neue"/>
                <a:cs typeface="Helvetica Neue"/>
              </a:defRPr>
            </a:lvl7pPr>
            <a:lvl8pPr>
              <a:defRPr sz="2100" b="0">
                <a:solidFill>
                  <a:srgbClr val="172E32"/>
                </a:solidFill>
                <a:latin typeface="Helvetica Neue"/>
                <a:ea typeface="Helvetica Neue"/>
                <a:cs typeface="Helvetica Neue"/>
              </a:defRPr>
            </a:lvl8pPr>
            <a:lvl9pPr>
              <a:defRPr sz="2100" b="0">
                <a:solidFill>
                  <a:srgbClr val="172E32"/>
                </a:solidFill>
                <a:latin typeface="Helvetica Neue"/>
                <a:ea typeface="Helvetica Neue"/>
                <a:cs typeface="Helvetica Neue"/>
              </a:defRPr>
            </a:lvl9pPr>
          </a:lstStyle>
          <a:p xmlns:a="http://schemas.openxmlformats.org/drawingml/2006/main">
            <a:pPr>
              <a:defRPr sz="2100" b="0">
                <a:solidFill>
                  <a:srgbClr val="172E32"/>
                </a:solidFill>
                <a:latin typeface="Helvetica Neue"/>
                <a:ea typeface="Helvetica Neue"/>
                <a:cs typeface="Helvetica Neue"/>
              </a:defRPr>
            </a:pPr>
            <a:r>
              <a:rPr sz="2100" b="0">
                <a:solidFill>
                  <a:srgbClr val="172E32"/>
                </a:solidFill>
                <a:latin typeface="Helvetica Neue"/>
                <a:ea typeface="Helvetica Neue"/>
                <a:cs typeface="Helvetica Neue"/>
              </a:rPr>
              <a:t>Versioned review protocol</a:t>
            </a:r>
          </a:p>
          <a:p xmlns:a="http://schemas.openxmlformats.org/drawingml/2006/main">
            <a:pPr>
              <a:defRPr sz="2100" b="0">
                <a:solidFill>
                  <a:srgbClr val="172E32"/>
                </a:solidFill>
                <a:latin typeface="Helvetica Neue"/>
                <a:ea typeface="Helvetica Neue"/>
                <a:cs typeface="Helvetica Neue"/>
              </a:defRPr>
            </a:pPr>
            <a:r>
              <a:rPr sz="2100" b="0">
                <a:solidFill>
                  <a:srgbClr val="172E32"/>
                </a:solidFill>
                <a:latin typeface="Helvetica Neue"/>
                <a:ea typeface="Helvetica Neue"/>
                <a:cs typeface="Helvetica Neue"/>
              </a:rPr>
              <a:t>Evidence IDs instead of raw CSV context</a:t>
            </a:r>
          </a:p>
          <a:p xmlns:a="http://schemas.openxmlformats.org/drawingml/2006/main">
            <a:pPr>
              <a:defRPr sz="2100" b="0">
                <a:solidFill>
                  <a:srgbClr val="172E32"/>
                </a:solidFill>
                <a:latin typeface="Helvetica Neue"/>
                <a:ea typeface="Helvetica Neue"/>
                <a:cs typeface="Helvetica Neue"/>
              </a:defRPr>
            </a:pPr>
            <a:r>
              <a:rPr sz="2100" b="0">
                <a:solidFill>
                  <a:srgbClr val="172E32"/>
                </a:solidFill>
                <a:latin typeface="Helvetica Neue"/>
                <a:ea typeface="Helvetica Neue"/>
                <a:cs typeface="Helvetica Neue"/>
              </a:rPr>
              <a:t>Complete tool rounds during compaction</a:t>
            </a:r>
          </a:p>
        </p:txBody>
      </p:sp>
      <p:sp>
        <p:nvSpPr>
          <p:cNvPr id="6" name="">
            <a:extLst xmlns:a="http://schemas.openxmlformats.org/drawingml/2006/main">
              <a:ext uri="{FF2B5EF4-FFF2-40B4-BE49-F238E27FC236}">
                <a16:creationId xmlns:a16="http://schemas.microsoft.com/office/drawing/2014/main" id="{31018EF1-998C-42D6-BA30-1C0A546605C8}"/>
              </a:ext>
            </a:extLst>
          </p:cNvPr>
          <p:cNvSpPr>
            <a:spLocks xmlns:a="http://schemas.openxmlformats.org/drawingml/2006/main" noGrp="1"/>
          </p:cNvSpPr>
          <p:nvPr/>
        </p:nvSpPr>
        <p:spPr>
          <a:xfrm xmlns:a="http://schemas.openxmlformats.org/drawingml/2006/main">
            <a:off x="6477000" y="2095500"/>
            <a:ext cx="4762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1">
                <a:solidFill>
                  <a:srgbClr val="146B5F"/>
                </a:solidFill>
                <a:latin typeface="Helvetica Neue"/>
                <a:ea typeface="Helvetica Neue"/>
                <a:cs typeface="Helvetica Neue"/>
              </a:defRPr>
            </a:defPPr>
            <a:lvl1pPr>
              <a:defRPr sz="2325" b="1">
                <a:solidFill>
                  <a:srgbClr val="146B5F"/>
                </a:solidFill>
                <a:latin typeface="Helvetica Neue"/>
                <a:ea typeface="Helvetica Neue"/>
                <a:cs typeface="Helvetica Neue"/>
              </a:defRPr>
            </a:lvl1pPr>
            <a:lvl2pPr>
              <a:defRPr sz="2325" b="1">
                <a:solidFill>
                  <a:srgbClr val="146B5F"/>
                </a:solidFill>
                <a:latin typeface="Helvetica Neue"/>
                <a:ea typeface="Helvetica Neue"/>
                <a:cs typeface="Helvetica Neue"/>
              </a:defRPr>
            </a:lvl2pPr>
            <a:lvl3pPr>
              <a:defRPr sz="2325" b="1">
                <a:solidFill>
                  <a:srgbClr val="146B5F"/>
                </a:solidFill>
                <a:latin typeface="Helvetica Neue"/>
                <a:ea typeface="Helvetica Neue"/>
                <a:cs typeface="Helvetica Neue"/>
              </a:defRPr>
            </a:lvl3pPr>
            <a:lvl4pPr>
              <a:defRPr sz="2325" b="1">
                <a:solidFill>
                  <a:srgbClr val="146B5F"/>
                </a:solidFill>
                <a:latin typeface="Helvetica Neue"/>
                <a:ea typeface="Helvetica Neue"/>
                <a:cs typeface="Helvetica Neue"/>
              </a:defRPr>
            </a:lvl4pPr>
            <a:lvl5pPr>
              <a:defRPr sz="2325" b="1">
                <a:solidFill>
                  <a:srgbClr val="146B5F"/>
                </a:solidFill>
                <a:latin typeface="Helvetica Neue"/>
                <a:ea typeface="Helvetica Neue"/>
                <a:cs typeface="Helvetica Neue"/>
              </a:defRPr>
            </a:lvl5pPr>
            <a:lvl6pPr>
              <a:defRPr sz="2325" b="1">
                <a:solidFill>
                  <a:srgbClr val="146B5F"/>
                </a:solidFill>
                <a:latin typeface="Helvetica Neue"/>
                <a:ea typeface="Helvetica Neue"/>
                <a:cs typeface="Helvetica Neue"/>
              </a:defRPr>
            </a:lvl6pPr>
            <a:lvl7pPr>
              <a:defRPr sz="2325" b="1">
                <a:solidFill>
                  <a:srgbClr val="146B5F"/>
                </a:solidFill>
                <a:latin typeface="Helvetica Neue"/>
                <a:ea typeface="Helvetica Neue"/>
                <a:cs typeface="Helvetica Neue"/>
              </a:defRPr>
            </a:lvl7pPr>
            <a:lvl8pPr>
              <a:defRPr sz="2325" b="1">
                <a:solidFill>
                  <a:srgbClr val="146B5F"/>
                </a:solidFill>
                <a:latin typeface="Helvetica Neue"/>
                <a:ea typeface="Helvetica Neue"/>
                <a:cs typeface="Helvetica Neue"/>
              </a:defRPr>
            </a:lvl8pPr>
            <a:lvl9pPr>
              <a:defRPr sz="2325" b="1">
                <a:solidFill>
                  <a:srgbClr val="146B5F"/>
                </a:solidFill>
                <a:latin typeface="Helvetica Neue"/>
                <a:ea typeface="Helvetica Neue"/>
                <a:cs typeface="Helvetica Neue"/>
              </a:defRPr>
            </a:lvl9pPr>
          </a:lstStyle>
          <a:p xmlns:a="http://schemas.openxmlformats.org/drawingml/2006/main">
            <a:pPr>
              <a:defRPr sz="2325" b="1">
                <a:solidFill>
                  <a:srgbClr val="146B5F"/>
                </a:solidFill>
                <a:latin typeface="Helvetica Neue"/>
                <a:ea typeface="Helvetica Neue"/>
                <a:cs typeface="Helvetica Neue"/>
              </a:defRPr>
            </a:pPr>
            <a:r>
              <a:rPr sz="2325" b="1">
                <a:solidFill>
                  <a:srgbClr val="146B5F"/>
                </a:solidFill>
                <a:latin typeface="Helvetica Neue"/>
                <a:ea typeface="Helvetica Neue"/>
                <a:cs typeface="Helvetica Neue"/>
              </a:rPr>
              <a:t>Execution controls</a:t>
            </a:r>
          </a:p>
        </p:txBody>
      </p:sp>
      <p:sp>
        <p:nvSpPr>
          <p:cNvPr id="7" name="">
            <a:extLst xmlns:a="http://schemas.openxmlformats.org/drawingml/2006/main">
              <a:ext uri="{FF2B5EF4-FFF2-40B4-BE49-F238E27FC236}">
                <a16:creationId xmlns:a16="http://schemas.microsoft.com/office/drawing/2014/main" id="{127AE2B2-CE0B-4685-A57D-E0C61D597977}"/>
              </a:ext>
            </a:extLst>
          </p:cNvPr>
          <p:cNvSpPr>
            <a:spLocks xmlns:a="http://schemas.openxmlformats.org/drawingml/2006/main" noGrp="1"/>
          </p:cNvSpPr>
          <p:nvPr/>
        </p:nvSpPr>
        <p:spPr>
          <a:xfrm xmlns:a="http://schemas.openxmlformats.org/drawingml/2006/main">
            <a:off x="6477000" y="2762250"/>
            <a:ext cx="5095875"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72E32"/>
                </a:solidFill>
                <a:latin typeface="Helvetica Neue"/>
                <a:ea typeface="Helvetica Neue"/>
                <a:cs typeface="Helvetica Neue"/>
              </a:defRPr>
            </a:defPPr>
            <a:lvl1pPr>
              <a:defRPr sz="2100" b="0">
                <a:solidFill>
                  <a:srgbClr val="172E32"/>
                </a:solidFill>
                <a:latin typeface="Helvetica Neue"/>
                <a:ea typeface="Helvetica Neue"/>
                <a:cs typeface="Helvetica Neue"/>
              </a:defRPr>
            </a:lvl1pPr>
            <a:lvl2pPr>
              <a:defRPr sz="2100" b="0">
                <a:solidFill>
                  <a:srgbClr val="172E32"/>
                </a:solidFill>
                <a:latin typeface="Helvetica Neue"/>
                <a:ea typeface="Helvetica Neue"/>
                <a:cs typeface="Helvetica Neue"/>
              </a:defRPr>
            </a:lvl2pPr>
            <a:lvl3pPr>
              <a:defRPr sz="2100" b="0">
                <a:solidFill>
                  <a:srgbClr val="172E32"/>
                </a:solidFill>
                <a:latin typeface="Helvetica Neue"/>
                <a:ea typeface="Helvetica Neue"/>
                <a:cs typeface="Helvetica Neue"/>
              </a:defRPr>
            </a:lvl3pPr>
            <a:lvl4pPr>
              <a:defRPr sz="2100" b="0">
                <a:solidFill>
                  <a:srgbClr val="172E32"/>
                </a:solidFill>
                <a:latin typeface="Helvetica Neue"/>
                <a:ea typeface="Helvetica Neue"/>
                <a:cs typeface="Helvetica Neue"/>
              </a:defRPr>
            </a:lvl4pPr>
            <a:lvl5pPr>
              <a:defRPr sz="2100" b="0">
                <a:solidFill>
                  <a:srgbClr val="172E32"/>
                </a:solidFill>
                <a:latin typeface="Helvetica Neue"/>
                <a:ea typeface="Helvetica Neue"/>
                <a:cs typeface="Helvetica Neue"/>
              </a:defRPr>
            </a:lvl5pPr>
            <a:lvl6pPr>
              <a:defRPr sz="2100" b="0">
                <a:solidFill>
                  <a:srgbClr val="172E32"/>
                </a:solidFill>
                <a:latin typeface="Helvetica Neue"/>
                <a:ea typeface="Helvetica Neue"/>
                <a:cs typeface="Helvetica Neue"/>
              </a:defRPr>
            </a:lvl6pPr>
            <a:lvl7pPr>
              <a:defRPr sz="2100" b="0">
                <a:solidFill>
                  <a:srgbClr val="172E32"/>
                </a:solidFill>
                <a:latin typeface="Helvetica Neue"/>
                <a:ea typeface="Helvetica Neue"/>
                <a:cs typeface="Helvetica Neue"/>
              </a:defRPr>
            </a:lvl7pPr>
            <a:lvl8pPr>
              <a:defRPr sz="2100" b="0">
                <a:solidFill>
                  <a:srgbClr val="172E32"/>
                </a:solidFill>
                <a:latin typeface="Helvetica Neue"/>
                <a:ea typeface="Helvetica Neue"/>
                <a:cs typeface="Helvetica Neue"/>
              </a:defRPr>
            </a:lvl8pPr>
            <a:lvl9pPr>
              <a:defRPr sz="2100" b="0">
                <a:solidFill>
                  <a:srgbClr val="172E32"/>
                </a:solidFill>
                <a:latin typeface="Helvetica Neue"/>
                <a:ea typeface="Helvetica Neue"/>
                <a:cs typeface="Helvetica Neue"/>
              </a:defRPr>
            </a:lvl9pPr>
          </a:lstStyle>
          <a:p xmlns:a="http://schemas.openxmlformats.org/drawingml/2006/main">
            <a:pPr>
              <a:defRPr sz="2100" b="0">
                <a:solidFill>
                  <a:srgbClr val="172E32"/>
                </a:solidFill>
                <a:latin typeface="Helvetica Neue"/>
                <a:ea typeface="Helvetica Neue"/>
                <a:cs typeface="Helvetica Neue"/>
              </a:defRPr>
            </a:pPr>
            <a:r>
              <a:rPr sz="2100" b="0">
                <a:solidFill>
                  <a:srgbClr val="172E32"/>
                </a:solidFill>
                <a:latin typeface="Helvetica Neue"/>
                <a:ea typeface="Helvetica Neue"/>
                <a:cs typeface="Helvetica Neue"/>
              </a:rPr>
              <a:t>Eight model requests per review</a:t>
            </a:r>
          </a:p>
          <a:p xmlns:a="http://schemas.openxmlformats.org/drawingml/2006/main">
            <a:pPr>
              <a:defRPr sz="2100" b="0">
                <a:solidFill>
                  <a:srgbClr val="172E32"/>
                </a:solidFill>
                <a:latin typeface="Helvetica Neue"/>
                <a:ea typeface="Helvetica Neue"/>
                <a:cs typeface="Helvetica Neue"/>
              </a:defRPr>
            </a:pPr>
            <a:r>
              <a:rPr sz="2100" b="0">
                <a:solidFill>
                  <a:srgbClr val="172E32"/>
                </a:solidFill>
                <a:latin typeface="Helvetica Neue"/>
                <a:ea typeface="Helvetica Neue"/>
                <a:cs typeface="Helvetica Neue"/>
              </a:rPr>
              <a:t>Read-only MCP tools</a:t>
            </a:r>
          </a:p>
          <a:p xmlns:a="http://schemas.openxmlformats.org/drawingml/2006/main">
            <a:pPr>
              <a:defRPr sz="2100" b="0">
                <a:solidFill>
                  <a:srgbClr val="172E32"/>
                </a:solidFill>
                <a:latin typeface="Helvetica Neue"/>
                <a:ea typeface="Helvetica Neue"/>
                <a:cs typeface="Helvetica Neue"/>
              </a:defRPr>
            </a:pPr>
            <a:r>
              <a:rPr sz="2100" b="0">
                <a:solidFill>
                  <a:srgbClr val="172E32"/>
                </a:solidFill>
                <a:latin typeface="Helvetica Neue"/>
                <a:ea typeface="Helvetica Neue"/>
                <a:cs typeface="Helvetica Neue"/>
              </a:rPr>
              <a:t>Human approval before a file save</a:t>
            </a:r>
          </a:p>
        </p:txBody>
      </p:sp>
      <p:sp>
        <p:nvSpPr>
          <p:cNvPr id="8" name="">
            <a:extLst xmlns:a="http://schemas.openxmlformats.org/drawingml/2006/main">
              <a:ext uri="{FF2B5EF4-FFF2-40B4-BE49-F238E27FC236}">
                <a16:creationId xmlns:a16="http://schemas.microsoft.com/office/drawing/2014/main" id="{938BE7B1-3E2F-4C98-BF58-7B9694F6054E}"/>
              </a:ext>
            </a:extLst>
          </p:cNvPr>
          <p:cNvSpPr>
            <a:spLocks xmlns:a="http://schemas.openxmlformats.org/drawingml/2006/main" noGrp="1"/>
          </p:cNvSpPr>
          <p:nvPr/>
        </p:nvSpPr>
        <p:spPr>
          <a:xfrm xmlns:a="http://schemas.openxmlformats.org/drawingml/2006/main">
            <a:off x="723900" y="5238750"/>
            <a:ext cx="10477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657574"/>
                </a:solidFill>
                <a:latin typeface="Helvetica Neue"/>
                <a:ea typeface="Helvetica Neue"/>
                <a:cs typeface="Helvetica Neue"/>
              </a:defRPr>
            </a:defPPr>
            <a:lvl1pPr>
              <a:defRPr sz="1875" b="0">
                <a:solidFill>
                  <a:srgbClr val="657574"/>
                </a:solidFill>
                <a:latin typeface="Helvetica Neue"/>
                <a:ea typeface="Helvetica Neue"/>
                <a:cs typeface="Helvetica Neue"/>
              </a:defRPr>
            </a:lvl1pPr>
            <a:lvl2pPr>
              <a:defRPr sz="1875" b="0">
                <a:solidFill>
                  <a:srgbClr val="657574"/>
                </a:solidFill>
                <a:latin typeface="Helvetica Neue"/>
                <a:ea typeface="Helvetica Neue"/>
                <a:cs typeface="Helvetica Neue"/>
              </a:defRPr>
            </a:lvl2pPr>
            <a:lvl3pPr>
              <a:defRPr sz="1875" b="0">
                <a:solidFill>
                  <a:srgbClr val="657574"/>
                </a:solidFill>
                <a:latin typeface="Helvetica Neue"/>
                <a:ea typeface="Helvetica Neue"/>
                <a:cs typeface="Helvetica Neue"/>
              </a:defRPr>
            </a:lvl3pPr>
            <a:lvl4pPr>
              <a:defRPr sz="1875" b="0">
                <a:solidFill>
                  <a:srgbClr val="657574"/>
                </a:solidFill>
                <a:latin typeface="Helvetica Neue"/>
                <a:ea typeface="Helvetica Neue"/>
                <a:cs typeface="Helvetica Neue"/>
              </a:defRPr>
            </a:lvl4pPr>
            <a:lvl5pPr>
              <a:defRPr sz="1875" b="0">
                <a:solidFill>
                  <a:srgbClr val="657574"/>
                </a:solidFill>
                <a:latin typeface="Helvetica Neue"/>
                <a:ea typeface="Helvetica Neue"/>
                <a:cs typeface="Helvetica Neue"/>
              </a:defRPr>
            </a:lvl5pPr>
            <a:lvl6pPr>
              <a:defRPr sz="1875" b="0">
                <a:solidFill>
                  <a:srgbClr val="657574"/>
                </a:solidFill>
                <a:latin typeface="Helvetica Neue"/>
                <a:ea typeface="Helvetica Neue"/>
                <a:cs typeface="Helvetica Neue"/>
              </a:defRPr>
            </a:lvl6pPr>
            <a:lvl7pPr>
              <a:defRPr sz="1875" b="0">
                <a:solidFill>
                  <a:srgbClr val="657574"/>
                </a:solidFill>
                <a:latin typeface="Helvetica Neue"/>
                <a:ea typeface="Helvetica Neue"/>
                <a:cs typeface="Helvetica Neue"/>
              </a:defRPr>
            </a:lvl7pPr>
            <a:lvl8pPr>
              <a:defRPr sz="1875" b="0">
                <a:solidFill>
                  <a:srgbClr val="657574"/>
                </a:solidFill>
                <a:latin typeface="Helvetica Neue"/>
                <a:ea typeface="Helvetica Neue"/>
                <a:cs typeface="Helvetica Neue"/>
              </a:defRPr>
            </a:lvl8pPr>
            <a:lvl9pPr>
              <a:defRPr sz="1875" b="0">
                <a:solidFill>
                  <a:srgbClr val="657574"/>
                </a:solidFill>
                <a:latin typeface="Helvetica Neue"/>
                <a:ea typeface="Helvetica Neue"/>
                <a:cs typeface="Helvetica Neue"/>
              </a:defRPr>
            </a:lvl9pPr>
          </a:lstStyle>
          <a:p xmlns:a="http://schemas.openxmlformats.org/drawingml/2006/main">
            <a:pPr>
              <a:defRPr sz="1875" b="0">
                <a:solidFill>
                  <a:srgbClr val="657574"/>
                </a:solidFill>
                <a:latin typeface="Helvetica Neue"/>
                <a:ea typeface="Helvetica Neue"/>
                <a:cs typeface="Helvetica Neue"/>
              </a:defRPr>
            </a:pPr>
            <a:r>
              <a:rPr sz="1875" b="0">
                <a:solidFill>
                  <a:srgbClr val="657574"/>
                </a:solidFill>
                <a:latin typeface="Helvetica Neue"/>
                <a:ea typeface="Helvetica Neue"/>
                <a:cs typeface="Helvetica Neue"/>
              </a:rPr>
              <a:t>The procedure loader exists, but model traces do not consistently invoke it.</a:t>
            </a:r>
          </a:p>
          <a:p xmlns:a="http://schemas.openxmlformats.org/drawingml/2006/main">
            <a:pPr>
              <a:defRPr sz="1875" b="0">
                <a:solidFill>
                  <a:srgbClr val="657574"/>
                </a:solidFill>
                <a:latin typeface="Helvetica Neue"/>
                <a:ea typeface="Helvetica Neue"/>
                <a:cs typeface="Helvetica Neue"/>
              </a:defRPr>
            </a:pPr>
            <a:r>
              <a:rPr sz="1875" b="0">
                <a:solidFill>
                  <a:srgbClr val="657574"/>
                </a:solidFill>
                <a:latin typeface="Helvetica Neue"/>
                <a:ea typeface="Helvetica Neue"/>
                <a:cs typeface="Helvetica Neue"/>
              </a:rPr>
              <a:t>That is a measured limitation of the current instruction strategy.</a:t>
            </a:r>
          </a:p>
        </p:txBody>
      </p:sp>
    </p:spTree>
    <p:extLst>
      <p:ext uri="{BB962C8B-B14F-4D97-AF65-F5344CB8AC3E}">
        <p14:creationId xmlns:p14="http://schemas.microsoft.com/office/powerpoint/2010/main" val="642350540"/>
      </p:ext>
    </p:extLst>
  </p:cSld>
</p:sld>
</file>

<file path=ppt/slides/slide5.xml><?xml version="1.0" encoding="utf-8"?>
<p:sld xmlns:p="http://schemas.openxmlformats.org/presentationml/2006/main">
  <p:cSld>
    <p:bg>
      <p:bgPr>
        <a:solidFill xmlns:a="http://schemas.openxmlformats.org/drawingml/2006/main">
          <a:srgbClr val="F5F6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A96930F-5D34-423B-9430-8DB58B5C4267}"/>
              </a:ext>
            </a:extLst>
          </p:cNvPr>
          <p:cNvSpPr>
            <a:spLocks xmlns:a="http://schemas.openxmlformats.org/drawingml/2006/main" noGrp="1"/>
          </p:cNvSpPr>
          <p:nvPr/>
        </p:nvSpPr>
        <p:spPr>
          <a:xfrm xmlns:a="http://schemas.openxmlformats.org/drawingml/2006/main">
            <a:off x="7239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1">
                <a:solidFill>
                  <a:srgbClr val="146B5F"/>
                </a:solidFill>
                <a:latin typeface="Helvetica Neue"/>
                <a:ea typeface="Helvetica Neue"/>
                <a:cs typeface="Helvetica Neue"/>
              </a:defRPr>
            </a:defPPr>
            <a:lvl1pPr>
              <a:defRPr sz="1125" b="1">
                <a:solidFill>
                  <a:srgbClr val="146B5F"/>
                </a:solidFill>
                <a:latin typeface="Helvetica Neue"/>
                <a:ea typeface="Helvetica Neue"/>
                <a:cs typeface="Helvetica Neue"/>
              </a:defRPr>
            </a:lvl1pPr>
            <a:lvl2pPr>
              <a:defRPr sz="1125" b="1">
                <a:solidFill>
                  <a:srgbClr val="146B5F"/>
                </a:solidFill>
                <a:latin typeface="Helvetica Neue"/>
                <a:ea typeface="Helvetica Neue"/>
                <a:cs typeface="Helvetica Neue"/>
              </a:defRPr>
            </a:lvl2pPr>
            <a:lvl3pPr>
              <a:defRPr sz="1125" b="1">
                <a:solidFill>
                  <a:srgbClr val="146B5F"/>
                </a:solidFill>
                <a:latin typeface="Helvetica Neue"/>
                <a:ea typeface="Helvetica Neue"/>
                <a:cs typeface="Helvetica Neue"/>
              </a:defRPr>
            </a:lvl3pPr>
            <a:lvl4pPr>
              <a:defRPr sz="1125" b="1">
                <a:solidFill>
                  <a:srgbClr val="146B5F"/>
                </a:solidFill>
                <a:latin typeface="Helvetica Neue"/>
                <a:ea typeface="Helvetica Neue"/>
                <a:cs typeface="Helvetica Neue"/>
              </a:defRPr>
            </a:lvl4pPr>
            <a:lvl5pPr>
              <a:defRPr sz="1125" b="1">
                <a:solidFill>
                  <a:srgbClr val="146B5F"/>
                </a:solidFill>
                <a:latin typeface="Helvetica Neue"/>
                <a:ea typeface="Helvetica Neue"/>
                <a:cs typeface="Helvetica Neue"/>
              </a:defRPr>
            </a:lvl5pPr>
            <a:lvl6pPr>
              <a:defRPr sz="1125" b="1">
                <a:solidFill>
                  <a:srgbClr val="146B5F"/>
                </a:solidFill>
                <a:latin typeface="Helvetica Neue"/>
                <a:ea typeface="Helvetica Neue"/>
                <a:cs typeface="Helvetica Neue"/>
              </a:defRPr>
            </a:lvl6pPr>
            <a:lvl7pPr>
              <a:defRPr sz="1125" b="1">
                <a:solidFill>
                  <a:srgbClr val="146B5F"/>
                </a:solidFill>
                <a:latin typeface="Helvetica Neue"/>
                <a:ea typeface="Helvetica Neue"/>
                <a:cs typeface="Helvetica Neue"/>
              </a:defRPr>
            </a:lvl7pPr>
            <a:lvl8pPr>
              <a:defRPr sz="1125" b="1">
                <a:solidFill>
                  <a:srgbClr val="146B5F"/>
                </a:solidFill>
                <a:latin typeface="Helvetica Neue"/>
                <a:ea typeface="Helvetica Neue"/>
                <a:cs typeface="Helvetica Neue"/>
              </a:defRPr>
            </a:lvl8pPr>
            <a:lvl9pPr>
              <a:defRPr sz="1125" b="1">
                <a:solidFill>
                  <a:srgbClr val="146B5F"/>
                </a:solidFill>
                <a:latin typeface="Helvetica Neue"/>
                <a:ea typeface="Helvetica Neue"/>
                <a:cs typeface="Helvetica Neue"/>
              </a:defRPr>
            </a:lvl9pPr>
          </a:lstStyle>
          <a:p xmlns:a="http://schemas.openxmlformats.org/drawingml/2006/main">
            <a:pPr>
              <a:defRPr sz="1125" b="1">
                <a:solidFill>
                  <a:srgbClr val="146B5F"/>
                </a:solidFill>
                <a:latin typeface="Helvetica Neue"/>
                <a:ea typeface="Helvetica Neue"/>
                <a:cs typeface="Helvetica Neue"/>
              </a:defRPr>
            </a:pPr>
            <a:r>
              <a:rPr sz="1125" b="1">
                <a:solidFill>
                  <a:srgbClr val="146B5F"/>
                </a:solidFill>
                <a:latin typeface="Helvetica Neue"/>
                <a:ea typeface="Helvetica Neue"/>
                <a:cs typeface="Helvetica Neue"/>
              </a:rPr>
              <a:t>MODELCHECK    /    SDAIA CAPSTONE</a:t>
            </a:r>
          </a:p>
        </p:txBody>
      </p:sp>
      <p:sp>
        <p:nvSpPr>
          <p:cNvPr id="2" name="">
            <a:extLst xmlns:a="http://schemas.openxmlformats.org/drawingml/2006/main">
              <a:ext uri="{FF2B5EF4-FFF2-40B4-BE49-F238E27FC236}">
                <a16:creationId xmlns:a16="http://schemas.microsoft.com/office/drawing/2014/main" id="{562166DF-9C0C-4DD5-938B-0D97EDB46F58}"/>
              </a:ext>
            </a:extLst>
          </p:cNvPr>
          <p:cNvSpPr>
            <a:spLocks xmlns:a="http://schemas.openxmlformats.org/drawingml/2006/main" noGrp="1"/>
          </p:cNvSpPr>
          <p:nvPr/>
        </p:nvSpPr>
        <p:spPr>
          <a:xfrm xmlns:a="http://schemas.openxmlformats.org/drawingml/2006/main">
            <a:off x="723900" y="990600"/>
            <a:ext cx="107442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825" b="0">
                <a:solidFill>
                  <a:srgbClr val="172E32"/>
                </a:solidFill>
                <a:latin typeface="Helvetica Neue"/>
                <a:ea typeface="Helvetica Neue"/>
                <a:cs typeface="Helvetica Neue"/>
              </a:defRPr>
            </a:defPPr>
            <a:lvl1pPr>
              <a:defRPr sz="3825" b="0">
                <a:solidFill>
                  <a:srgbClr val="172E32"/>
                </a:solidFill>
                <a:latin typeface="Helvetica Neue"/>
                <a:ea typeface="Helvetica Neue"/>
                <a:cs typeface="Helvetica Neue"/>
              </a:defRPr>
            </a:lvl1pPr>
            <a:lvl2pPr>
              <a:defRPr sz="3825" b="0">
                <a:solidFill>
                  <a:srgbClr val="172E32"/>
                </a:solidFill>
                <a:latin typeface="Helvetica Neue"/>
                <a:ea typeface="Helvetica Neue"/>
                <a:cs typeface="Helvetica Neue"/>
              </a:defRPr>
            </a:lvl2pPr>
            <a:lvl3pPr>
              <a:defRPr sz="3825" b="0">
                <a:solidFill>
                  <a:srgbClr val="172E32"/>
                </a:solidFill>
                <a:latin typeface="Helvetica Neue"/>
                <a:ea typeface="Helvetica Neue"/>
                <a:cs typeface="Helvetica Neue"/>
              </a:defRPr>
            </a:lvl3pPr>
            <a:lvl4pPr>
              <a:defRPr sz="3825" b="0">
                <a:solidFill>
                  <a:srgbClr val="172E32"/>
                </a:solidFill>
                <a:latin typeface="Helvetica Neue"/>
                <a:ea typeface="Helvetica Neue"/>
                <a:cs typeface="Helvetica Neue"/>
              </a:defRPr>
            </a:lvl4pPr>
            <a:lvl5pPr>
              <a:defRPr sz="3825" b="0">
                <a:solidFill>
                  <a:srgbClr val="172E32"/>
                </a:solidFill>
                <a:latin typeface="Helvetica Neue"/>
                <a:ea typeface="Helvetica Neue"/>
                <a:cs typeface="Helvetica Neue"/>
              </a:defRPr>
            </a:lvl5pPr>
            <a:lvl6pPr>
              <a:defRPr sz="3825" b="0">
                <a:solidFill>
                  <a:srgbClr val="172E32"/>
                </a:solidFill>
                <a:latin typeface="Helvetica Neue"/>
                <a:ea typeface="Helvetica Neue"/>
                <a:cs typeface="Helvetica Neue"/>
              </a:defRPr>
            </a:lvl6pPr>
            <a:lvl7pPr>
              <a:defRPr sz="3825" b="0">
                <a:solidFill>
                  <a:srgbClr val="172E32"/>
                </a:solidFill>
                <a:latin typeface="Helvetica Neue"/>
                <a:ea typeface="Helvetica Neue"/>
                <a:cs typeface="Helvetica Neue"/>
              </a:defRPr>
            </a:lvl7pPr>
            <a:lvl8pPr>
              <a:defRPr sz="3825" b="0">
                <a:solidFill>
                  <a:srgbClr val="172E32"/>
                </a:solidFill>
                <a:latin typeface="Helvetica Neue"/>
                <a:ea typeface="Helvetica Neue"/>
                <a:cs typeface="Helvetica Neue"/>
              </a:defRPr>
            </a:lvl8pPr>
            <a:lvl9pPr>
              <a:defRPr sz="3825" b="0">
                <a:solidFill>
                  <a:srgbClr val="172E32"/>
                </a:solidFill>
                <a:latin typeface="Helvetica Neue"/>
                <a:ea typeface="Helvetica Neue"/>
                <a:cs typeface="Helvetica Neue"/>
              </a:defRPr>
            </a:lvl9pPr>
          </a:lstStyle>
          <a:p xmlns:a="http://schemas.openxmlformats.org/drawingml/2006/main">
            <a:pPr>
              <a:defRPr sz="3825" b="0">
                <a:solidFill>
                  <a:srgbClr val="172E32"/>
                </a:solidFill>
                <a:latin typeface="Helvetica Neue"/>
                <a:ea typeface="Helvetica Neue"/>
                <a:cs typeface="Helvetica Neue"/>
              </a:defRPr>
            </a:pPr>
            <a:r>
              <a:rPr sz="3825" b="0">
                <a:solidFill>
                  <a:srgbClr val="172E32"/>
                </a:solidFill>
                <a:latin typeface="Helvetica Neue"/>
                <a:ea typeface="Helvetica Neue"/>
                <a:cs typeface="Helvetica Neue"/>
              </a:rPr>
              <a:t>A/B evidence remains incomplete</a:t>
            </a:r>
          </a:p>
        </p:txBody>
      </p:sp>
      <p:sp>
        <p:nvSpPr>
          <p:cNvPr id="3" name="">
            <a:extLst xmlns:a="http://schemas.openxmlformats.org/drawingml/2006/main">
              <a:ext uri="{FF2B5EF4-FFF2-40B4-BE49-F238E27FC236}">
                <a16:creationId xmlns:a16="http://schemas.microsoft.com/office/drawing/2014/main" id="{3A6E5A24-5B5A-444A-AAB0-7A393EBB8B90}"/>
              </a:ext>
            </a:extLst>
          </p:cNvPr>
          <p:cNvSpPr>
            <a:spLocks xmlns:a="http://schemas.openxmlformats.org/drawingml/2006/main" noGrp="1"/>
          </p:cNvSpPr>
          <p:nvPr/>
        </p:nvSpPr>
        <p:spPr>
          <a:xfrm xmlns:a="http://schemas.openxmlformats.org/drawingml/2006/main">
            <a:off x="11049000" y="6257925"/>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050" b="0">
                <a:solidFill>
                  <a:srgbClr val="657574"/>
                </a:solidFill>
                <a:latin typeface="Helvetica Neue"/>
                <a:ea typeface="Helvetica Neue"/>
                <a:cs typeface="Helvetica Neue"/>
              </a:defRPr>
            </a:defPPr>
            <a:lvl1pPr>
              <a:defRPr sz="1050" b="0">
                <a:solidFill>
                  <a:srgbClr val="657574"/>
                </a:solidFill>
                <a:latin typeface="Helvetica Neue"/>
                <a:ea typeface="Helvetica Neue"/>
                <a:cs typeface="Helvetica Neue"/>
              </a:defRPr>
            </a:lvl1pPr>
            <a:lvl2pPr>
              <a:defRPr sz="1050" b="0">
                <a:solidFill>
                  <a:srgbClr val="657574"/>
                </a:solidFill>
                <a:latin typeface="Helvetica Neue"/>
                <a:ea typeface="Helvetica Neue"/>
                <a:cs typeface="Helvetica Neue"/>
              </a:defRPr>
            </a:lvl2pPr>
            <a:lvl3pPr>
              <a:defRPr sz="1050" b="0">
                <a:solidFill>
                  <a:srgbClr val="657574"/>
                </a:solidFill>
                <a:latin typeface="Helvetica Neue"/>
                <a:ea typeface="Helvetica Neue"/>
                <a:cs typeface="Helvetica Neue"/>
              </a:defRPr>
            </a:lvl3pPr>
            <a:lvl4pPr>
              <a:defRPr sz="1050" b="0">
                <a:solidFill>
                  <a:srgbClr val="657574"/>
                </a:solidFill>
                <a:latin typeface="Helvetica Neue"/>
                <a:ea typeface="Helvetica Neue"/>
                <a:cs typeface="Helvetica Neue"/>
              </a:defRPr>
            </a:lvl4pPr>
            <a:lvl5pPr>
              <a:defRPr sz="1050" b="0">
                <a:solidFill>
                  <a:srgbClr val="657574"/>
                </a:solidFill>
                <a:latin typeface="Helvetica Neue"/>
                <a:ea typeface="Helvetica Neue"/>
                <a:cs typeface="Helvetica Neue"/>
              </a:defRPr>
            </a:lvl5pPr>
            <a:lvl6pPr>
              <a:defRPr sz="1050" b="0">
                <a:solidFill>
                  <a:srgbClr val="657574"/>
                </a:solidFill>
                <a:latin typeface="Helvetica Neue"/>
                <a:ea typeface="Helvetica Neue"/>
                <a:cs typeface="Helvetica Neue"/>
              </a:defRPr>
            </a:lvl6pPr>
            <a:lvl7pPr>
              <a:defRPr sz="1050" b="0">
                <a:solidFill>
                  <a:srgbClr val="657574"/>
                </a:solidFill>
                <a:latin typeface="Helvetica Neue"/>
                <a:ea typeface="Helvetica Neue"/>
                <a:cs typeface="Helvetica Neue"/>
              </a:defRPr>
            </a:lvl7pPr>
            <a:lvl8pPr>
              <a:defRPr sz="1050" b="0">
                <a:solidFill>
                  <a:srgbClr val="657574"/>
                </a:solidFill>
                <a:latin typeface="Helvetica Neue"/>
                <a:ea typeface="Helvetica Neue"/>
                <a:cs typeface="Helvetica Neue"/>
              </a:defRPr>
            </a:lvl8pPr>
            <a:lvl9pPr>
              <a:defRPr sz="1050" b="0">
                <a:solidFill>
                  <a:srgbClr val="657574"/>
                </a:solidFill>
                <a:latin typeface="Helvetica Neue"/>
                <a:ea typeface="Helvetica Neue"/>
                <a:cs typeface="Helvetica Neue"/>
              </a:defRPr>
            </a:lvl9pPr>
          </a:lstStyle>
          <a:p xmlns:a="http://schemas.openxmlformats.org/drawingml/2006/main">
            <a:pPr>
              <a:defRPr sz="1050" b="0">
                <a:solidFill>
                  <a:srgbClr val="657574"/>
                </a:solidFill>
                <a:latin typeface="Helvetica Neue"/>
                <a:ea typeface="Helvetica Neue"/>
                <a:cs typeface="Helvetica Neue"/>
              </a:defRPr>
            </a:pPr>
            <a:r>
              <a:rPr sz="1050" b="0">
                <a:solidFill>
                  <a:srgbClr val="657574"/>
                </a:solidFill>
                <a:latin typeface="Helvetica Neue"/>
                <a:ea typeface="Helvetica Neue"/>
                <a:cs typeface="Helvetica Neue"/>
              </a:rPr>
              <a:t>05</a:t>
            </a:r>
          </a:p>
        </p:txBody>
      </p:sp>
      <p:graphicFrame>
        <p:nvGraphicFramePr>
          <p:cNvPr id="4" name="">
            <a:extLst xmlns:a="http://schemas.openxmlformats.org/drawingml/2006/main">
              <a:ext uri="{FF2B5EF4-FFF2-40B4-BE49-F238E27FC236}">
                <a16:creationId xmlns:a16="http://schemas.microsoft.com/office/drawing/2014/main" id="{71D643EA-EF9E-4B64-90A4-E452A7E659D5}"/>
              </a:ext>
            </a:extLst>
          </p:cNvPr>
          <p:cNvGraphicFramePr/>
          <p:nvPr/>
        </p:nvGraphicFramePr>
        <p:xfrm>
          <a:off xmlns:a="http://schemas.openxmlformats.org/drawingml/2006/main" x="723900" y="2143125"/>
          <a:ext xmlns:a="http://schemas.openxmlformats.org/drawingml/2006/main" cx="10744200" cy="2095500"/>
        </p:xfrm>
        <a:graphic xmlns:a="http://schemas.openxmlformats.org/drawingml/2006/main">
          <a:graphicData uri="http://schemas.openxmlformats.org/drawingml/2006/table">
            <a:tbl>
              <a:tblPr/>
              <a:tblGrid>
                <a:gridCol w="4914900"/>
                <a:gridCol w="1943100"/>
                <a:gridCol w="1943100"/>
                <a:gridCol w="1943100"/>
              </a:tblGrid>
              <a:tr h="698500">
                <a:tc>
                  <a:txBody>
                    <a:bodyPr/>
                    <a:lstStyle/>
                    <a:p>
                      <a:r>
                        <a:rPr sz="1875" b="1">
                          <a:solidFill>
                            <a:srgbClr val="FFFFFF"/>
                          </a:solidFill>
                          <a:latin typeface="Helvetica Neue"/>
                          <a:ea typeface="Helvetica Neue"/>
                          <a:cs typeface="Helvetica Neue"/>
                        </a:rPr>
                        <a:t>Reviewer</a:t>
                      </a:r>
                    </a:p>
                  </a:txBody>
                  <a:tcPr marL="91440" marR="91440" marT="45720" marB="45720">
                    <a:lnL w="9525">
                      <a:solidFill>
                        <a:srgbClr val="DFE5DF"/>
                      </a:solidFill>
                      <a:prstDash val="solid"/>
                    </a:lnL>
                    <a:lnR w="9525">
                      <a:solidFill>
                        <a:srgbClr val="DFE5DF"/>
                      </a:solidFill>
                      <a:prstDash val="solid"/>
                    </a:lnR>
                    <a:lnT w="9525">
                      <a:solidFill>
                        <a:srgbClr val="DFE5DF"/>
                      </a:solidFill>
                      <a:prstDash val="solid"/>
                    </a:lnT>
                    <a:lnB w="9525">
                      <a:solidFill>
                        <a:srgbClr val="DFE5DF"/>
                      </a:solidFill>
                      <a:prstDash val="solid"/>
                    </a:lnB>
                    <a:solidFill>
                      <a:srgbClr val="146B5F"/>
                    </a:solidFill>
                  </a:tcPr>
                </a:tc>
                <a:tc>
                  <a:txBody>
                    <a:bodyPr/>
                    <a:lstStyle/>
                    <a:p>
                      <a:r>
                        <a:rPr sz="1875" b="1">
                          <a:solidFill>
                            <a:srgbClr val="FFFFFF"/>
                          </a:solidFill>
                          <a:latin typeface="Helvetica Neue"/>
                          <a:ea typeface="Helvetica Neue"/>
                          <a:cs typeface="Helvetica Neue"/>
                        </a:rPr>
                        <a:t>Executed</a:t>
                      </a:r>
                    </a:p>
                  </a:txBody>
                  <a:tcPr marL="91440" marR="91440" marT="45720" marB="45720">
                    <a:lnR w="9525">
                      <a:solidFill>
                        <a:srgbClr val="DFE5DF"/>
                      </a:solidFill>
                      <a:prstDash val="solid"/>
                    </a:lnR>
                    <a:lnT w="9525">
                      <a:solidFill>
                        <a:srgbClr val="DFE5DF"/>
                      </a:solidFill>
                      <a:prstDash val="solid"/>
                    </a:lnT>
                    <a:lnB w="9525">
                      <a:solidFill>
                        <a:srgbClr val="DFE5DF"/>
                      </a:solidFill>
                      <a:prstDash val="solid"/>
                    </a:lnB>
                    <a:solidFill>
                      <a:srgbClr val="146B5F"/>
                    </a:solidFill>
                  </a:tcPr>
                </a:tc>
                <a:tc>
                  <a:txBody>
                    <a:bodyPr/>
                    <a:lstStyle/>
                    <a:p>
                      <a:r>
                        <a:rPr sz="1875" b="1">
                          <a:solidFill>
                            <a:srgbClr val="FFFFFF"/>
                          </a:solidFill>
                          <a:latin typeface="Helvetica Neue"/>
                          <a:ea typeface="Helvetica Neue"/>
                          <a:cs typeface="Helvetica Neue"/>
                        </a:rPr>
                        <a:t>Passed</a:t>
                      </a:r>
                    </a:p>
                  </a:txBody>
                  <a:tcPr marL="91440" marR="91440" marT="45720" marB="45720">
                    <a:lnR w="9525">
                      <a:solidFill>
                        <a:srgbClr val="DFE5DF"/>
                      </a:solidFill>
                      <a:prstDash val="solid"/>
                    </a:lnR>
                    <a:lnT w="9525">
                      <a:solidFill>
                        <a:srgbClr val="DFE5DF"/>
                      </a:solidFill>
                      <a:prstDash val="solid"/>
                    </a:lnT>
                    <a:lnB w="9525">
                      <a:solidFill>
                        <a:srgbClr val="DFE5DF"/>
                      </a:solidFill>
                      <a:prstDash val="solid"/>
                    </a:lnB>
                    <a:solidFill>
                      <a:srgbClr val="146B5F"/>
                    </a:solidFill>
                  </a:tcPr>
                </a:tc>
                <a:tc>
                  <a:txBody>
                    <a:bodyPr/>
                    <a:lstStyle/>
                    <a:p>
                      <a:r>
                        <a:rPr sz="1875" b="1">
                          <a:solidFill>
                            <a:srgbClr val="FFFFFF"/>
                          </a:solidFill>
                          <a:latin typeface="Helvetica Neue"/>
                          <a:ea typeface="Helvetica Neue"/>
                          <a:cs typeface="Helvetica Neue"/>
                        </a:rPr>
                        <a:t>Pending</a:t>
                      </a:r>
                    </a:p>
                  </a:txBody>
                  <a:tcPr marL="91440" marR="91440" marT="45720" marB="45720">
                    <a:lnR w="9525">
                      <a:solidFill>
                        <a:srgbClr val="DFE5DF"/>
                      </a:solidFill>
                      <a:prstDash val="solid"/>
                    </a:lnR>
                    <a:lnT w="9525">
                      <a:solidFill>
                        <a:srgbClr val="DFE5DF"/>
                      </a:solidFill>
                      <a:prstDash val="solid"/>
                    </a:lnT>
                    <a:lnB w="9525">
                      <a:solidFill>
                        <a:srgbClr val="DFE5DF"/>
                      </a:solidFill>
                      <a:prstDash val="solid"/>
                    </a:lnB>
                    <a:solidFill>
                      <a:srgbClr val="146B5F"/>
                    </a:solidFill>
                  </a:tcPr>
                </a:tc>
              </a:tr>
              <a:tr h="698500">
                <a:tc>
                  <a:txBody>
                    <a:bodyPr/>
                    <a:lstStyle/>
                    <a:p>
                      <a:r>
                        <a:rPr sz="1875" b="0">
                          <a:solidFill>
                            <a:srgbClr val="172E32"/>
                          </a:solidFill>
                          <a:latin typeface="Helvetica Neue"/>
                          <a:ea typeface="Helvetica Neue"/>
                          <a:cs typeface="Helvetica Neue"/>
                        </a:rPr>
                        <a:t>A: base prompt</a:t>
                      </a:r>
                    </a:p>
                  </a:txBody>
                  <a:tcPr marL="91440" marR="91440" marT="45720" marB="45720">
                    <a:lnL w="9525">
                      <a:solidFill>
                        <a:srgbClr val="DFE5DF"/>
                      </a:solidFill>
                      <a:prstDash val="solid"/>
                    </a:lnL>
                    <a:lnR w="9525">
                      <a:solidFill>
                        <a:srgbClr val="DFE5DF"/>
                      </a:solidFill>
                      <a:prstDash val="solid"/>
                    </a:lnR>
                    <a:lnB w="9525">
                      <a:solidFill>
                        <a:srgbClr val="DFE5DF"/>
                      </a:solidFill>
                      <a:prstDash val="solid"/>
                    </a:lnB>
                    <a:solidFill>
                      <a:srgbClr val="FFFFFF"/>
                    </a:solidFill>
                  </a:tcPr>
                </a:tc>
                <a:tc>
                  <a:txBody>
                    <a:bodyPr/>
                    <a:lstStyle/>
                    <a:p>
                      <a:r>
                        <a:rPr sz="1875" b="0">
                          <a:solidFill>
                            <a:srgbClr val="172E32"/>
                          </a:solidFill>
                          <a:latin typeface="Helvetica Neue"/>
                          <a:ea typeface="Helvetica Neue"/>
                          <a:cs typeface="Helvetica Neue"/>
                        </a:rPr>
                        <a:t>6</a:t>
                      </a:r>
                    </a:p>
                  </a:txBody>
                  <a:tcPr marL="91440" marR="91440" marT="45720" marB="45720">
                    <a:lnR w="9525">
                      <a:solidFill>
                        <a:srgbClr val="DFE5DF"/>
                      </a:solidFill>
                      <a:prstDash val="solid"/>
                    </a:lnR>
                    <a:lnB w="9525">
                      <a:solidFill>
                        <a:srgbClr val="DFE5DF"/>
                      </a:solidFill>
                      <a:prstDash val="solid"/>
                    </a:lnB>
                    <a:solidFill>
                      <a:srgbClr val="FFFFFF"/>
                    </a:solidFill>
                  </a:tcPr>
                </a:tc>
                <a:tc>
                  <a:txBody>
                    <a:bodyPr/>
                    <a:lstStyle/>
                    <a:p>
                      <a:r>
                        <a:rPr sz="1875" b="0">
                          <a:solidFill>
                            <a:srgbClr val="172E32"/>
                          </a:solidFill>
                          <a:latin typeface="Helvetica Neue"/>
                          <a:ea typeface="Helvetica Neue"/>
                          <a:cs typeface="Helvetica Neue"/>
                        </a:rPr>
                        <a:t>6</a:t>
                      </a:r>
                    </a:p>
                  </a:txBody>
                  <a:tcPr marL="91440" marR="91440" marT="45720" marB="45720">
                    <a:lnR w="9525">
                      <a:solidFill>
                        <a:srgbClr val="DFE5DF"/>
                      </a:solidFill>
                      <a:prstDash val="solid"/>
                    </a:lnR>
                    <a:lnB w="9525">
                      <a:solidFill>
                        <a:srgbClr val="DFE5DF"/>
                      </a:solidFill>
                      <a:prstDash val="solid"/>
                    </a:lnB>
                    <a:solidFill>
                      <a:srgbClr val="FFFFFF"/>
                    </a:solidFill>
                  </a:tcPr>
                </a:tc>
                <a:tc>
                  <a:txBody>
                    <a:bodyPr/>
                    <a:lstStyle/>
                    <a:p>
                      <a:r>
                        <a:rPr sz="1875" b="0">
                          <a:solidFill>
                            <a:srgbClr val="172E32"/>
                          </a:solidFill>
                          <a:latin typeface="Helvetica Neue"/>
                          <a:ea typeface="Helvetica Neue"/>
                          <a:cs typeface="Helvetica Neue"/>
                        </a:rPr>
                        <a:t>12</a:t>
                      </a:r>
                    </a:p>
                  </a:txBody>
                  <a:tcPr marL="91440" marR="91440" marT="45720" marB="45720">
                    <a:lnR w="9525">
                      <a:solidFill>
                        <a:srgbClr val="DFE5DF"/>
                      </a:solidFill>
                      <a:prstDash val="solid"/>
                    </a:lnR>
                    <a:lnB w="9525">
                      <a:solidFill>
                        <a:srgbClr val="DFE5DF"/>
                      </a:solidFill>
                      <a:prstDash val="solid"/>
                    </a:lnB>
                    <a:solidFill>
                      <a:srgbClr val="FFFFFF"/>
                    </a:solidFill>
                  </a:tcPr>
                </a:tc>
              </a:tr>
              <a:tr h="698500">
                <a:tc>
                  <a:txBody>
                    <a:bodyPr/>
                    <a:lstStyle/>
                    <a:p>
                      <a:r>
                        <a:rPr sz="1875" b="0">
                          <a:solidFill>
                            <a:srgbClr val="172E32"/>
                          </a:solidFill>
                          <a:latin typeface="Helvetica Neue"/>
                          <a:ea typeface="Helvetica Neue"/>
                          <a:cs typeface="Helvetica Neue"/>
                        </a:rPr>
                        <a:t>B: procedure instruction</a:t>
                      </a:r>
                    </a:p>
                  </a:txBody>
                  <a:tcPr marL="91440" marR="91440" marT="45720" marB="45720">
                    <a:lnL w="9525">
                      <a:solidFill>
                        <a:srgbClr val="DFE5DF"/>
                      </a:solidFill>
                      <a:prstDash val="solid"/>
                    </a:lnL>
                    <a:lnR w="9525">
                      <a:solidFill>
                        <a:srgbClr val="DFE5DF"/>
                      </a:solidFill>
                      <a:prstDash val="solid"/>
                    </a:lnR>
                    <a:lnB w="9525">
                      <a:solidFill>
                        <a:srgbClr val="DFE5DF"/>
                      </a:solidFill>
                      <a:prstDash val="solid"/>
                    </a:lnB>
                    <a:solidFill>
                      <a:srgbClr val="F5F6F2"/>
                    </a:solidFill>
                  </a:tcPr>
                </a:tc>
                <a:tc>
                  <a:txBody>
                    <a:bodyPr/>
                    <a:lstStyle/>
                    <a:p>
                      <a:r>
                        <a:rPr sz="1875" b="0">
                          <a:solidFill>
                            <a:srgbClr val="172E32"/>
                          </a:solidFill>
                          <a:latin typeface="Helvetica Neue"/>
                          <a:ea typeface="Helvetica Neue"/>
                          <a:cs typeface="Helvetica Neue"/>
                        </a:rPr>
                        <a:t>6</a:t>
                      </a:r>
                    </a:p>
                  </a:txBody>
                  <a:tcPr marL="91440" marR="91440" marT="45720" marB="45720">
                    <a:lnR w="9525">
                      <a:solidFill>
                        <a:srgbClr val="DFE5DF"/>
                      </a:solidFill>
                      <a:prstDash val="solid"/>
                    </a:lnR>
                    <a:lnB w="9525">
                      <a:solidFill>
                        <a:srgbClr val="DFE5DF"/>
                      </a:solidFill>
                      <a:prstDash val="solid"/>
                    </a:lnB>
                    <a:solidFill>
                      <a:srgbClr val="F5F6F2"/>
                    </a:solidFill>
                  </a:tcPr>
                </a:tc>
                <a:tc>
                  <a:txBody>
                    <a:bodyPr/>
                    <a:lstStyle/>
                    <a:p>
                      <a:r>
                        <a:rPr sz="1875" b="0">
                          <a:solidFill>
                            <a:srgbClr val="172E32"/>
                          </a:solidFill>
                          <a:latin typeface="Helvetica Neue"/>
                          <a:ea typeface="Helvetica Neue"/>
                          <a:cs typeface="Helvetica Neue"/>
                        </a:rPr>
                        <a:t>5</a:t>
                      </a:r>
                    </a:p>
                  </a:txBody>
                  <a:tcPr marL="91440" marR="91440" marT="45720" marB="45720">
                    <a:lnR w="9525">
                      <a:solidFill>
                        <a:srgbClr val="DFE5DF"/>
                      </a:solidFill>
                      <a:prstDash val="solid"/>
                    </a:lnR>
                    <a:lnB w="9525">
                      <a:solidFill>
                        <a:srgbClr val="DFE5DF"/>
                      </a:solidFill>
                      <a:prstDash val="solid"/>
                    </a:lnB>
                    <a:solidFill>
                      <a:srgbClr val="F5F6F2"/>
                    </a:solidFill>
                  </a:tcPr>
                </a:tc>
                <a:tc>
                  <a:txBody>
                    <a:bodyPr/>
                    <a:lstStyle/>
                    <a:p>
                      <a:r>
                        <a:rPr sz="1875" b="0">
                          <a:solidFill>
                            <a:srgbClr val="172E32"/>
                          </a:solidFill>
                          <a:latin typeface="Helvetica Neue"/>
                          <a:ea typeface="Helvetica Neue"/>
                          <a:cs typeface="Helvetica Neue"/>
                        </a:rPr>
                        <a:t>12</a:t>
                      </a:r>
                    </a:p>
                  </a:txBody>
                  <a:tcPr marL="91440" marR="91440" marT="45720" marB="45720">
                    <a:lnR w="9525">
                      <a:solidFill>
                        <a:srgbClr val="DFE5DF"/>
                      </a:solidFill>
                      <a:prstDash val="solid"/>
                    </a:lnR>
                    <a:lnB w="9525">
                      <a:solidFill>
                        <a:srgbClr val="DFE5DF"/>
                      </a:solidFill>
                      <a:prstDash val="solid"/>
                    </a:lnB>
                    <a:solidFill>
                      <a:srgbClr val="F5F6F2"/>
                    </a:solidFill>
                  </a:tcPr>
                </a:tc>
              </a:tr>
            </a:tbl>
          </a:graphicData>
        </a:graphic>
      </p:graphicFrame>
      <p:sp>
        <p:nvSpPr>
          <p:cNvPr id="5" name="">
            <a:extLst xmlns:a="http://schemas.openxmlformats.org/drawingml/2006/main">
              <a:ext uri="{FF2B5EF4-FFF2-40B4-BE49-F238E27FC236}">
                <a16:creationId xmlns:a16="http://schemas.microsoft.com/office/drawing/2014/main" id="{E1AEF1BD-C21E-4A15-AB2D-CEC3DE49ACA1}"/>
              </a:ext>
            </a:extLst>
          </p:cNvPr>
          <p:cNvSpPr>
            <a:spLocks xmlns:a="http://schemas.openxmlformats.org/drawingml/2006/main" noGrp="1"/>
          </p:cNvSpPr>
          <p:nvPr/>
        </p:nvSpPr>
        <p:spPr>
          <a:xfrm xmlns:a="http://schemas.openxmlformats.org/drawingml/2006/main">
            <a:off x="723900" y="4619625"/>
            <a:ext cx="10477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657574"/>
                </a:solidFill>
                <a:latin typeface="Helvetica Neue"/>
                <a:ea typeface="Helvetica Neue"/>
                <a:cs typeface="Helvetica Neue"/>
              </a:defRPr>
            </a:defPPr>
            <a:lvl1pPr>
              <a:defRPr sz="2025" b="0">
                <a:solidFill>
                  <a:srgbClr val="657574"/>
                </a:solidFill>
                <a:latin typeface="Helvetica Neue"/>
                <a:ea typeface="Helvetica Neue"/>
                <a:cs typeface="Helvetica Neue"/>
              </a:defRPr>
            </a:lvl1pPr>
            <a:lvl2pPr>
              <a:defRPr sz="2025" b="0">
                <a:solidFill>
                  <a:srgbClr val="657574"/>
                </a:solidFill>
                <a:latin typeface="Helvetica Neue"/>
                <a:ea typeface="Helvetica Neue"/>
                <a:cs typeface="Helvetica Neue"/>
              </a:defRPr>
            </a:lvl2pPr>
            <a:lvl3pPr>
              <a:defRPr sz="2025" b="0">
                <a:solidFill>
                  <a:srgbClr val="657574"/>
                </a:solidFill>
                <a:latin typeface="Helvetica Neue"/>
                <a:ea typeface="Helvetica Neue"/>
                <a:cs typeface="Helvetica Neue"/>
              </a:defRPr>
            </a:lvl3pPr>
            <a:lvl4pPr>
              <a:defRPr sz="2025" b="0">
                <a:solidFill>
                  <a:srgbClr val="657574"/>
                </a:solidFill>
                <a:latin typeface="Helvetica Neue"/>
                <a:ea typeface="Helvetica Neue"/>
                <a:cs typeface="Helvetica Neue"/>
              </a:defRPr>
            </a:lvl4pPr>
            <a:lvl5pPr>
              <a:defRPr sz="2025" b="0">
                <a:solidFill>
                  <a:srgbClr val="657574"/>
                </a:solidFill>
                <a:latin typeface="Helvetica Neue"/>
                <a:ea typeface="Helvetica Neue"/>
                <a:cs typeface="Helvetica Neue"/>
              </a:defRPr>
            </a:lvl5pPr>
            <a:lvl6pPr>
              <a:defRPr sz="2025" b="0">
                <a:solidFill>
                  <a:srgbClr val="657574"/>
                </a:solidFill>
                <a:latin typeface="Helvetica Neue"/>
                <a:ea typeface="Helvetica Neue"/>
                <a:cs typeface="Helvetica Neue"/>
              </a:defRPr>
            </a:lvl6pPr>
            <a:lvl7pPr>
              <a:defRPr sz="2025" b="0">
                <a:solidFill>
                  <a:srgbClr val="657574"/>
                </a:solidFill>
                <a:latin typeface="Helvetica Neue"/>
                <a:ea typeface="Helvetica Neue"/>
                <a:cs typeface="Helvetica Neue"/>
              </a:defRPr>
            </a:lvl7pPr>
            <a:lvl8pPr>
              <a:defRPr sz="2025" b="0">
                <a:solidFill>
                  <a:srgbClr val="657574"/>
                </a:solidFill>
                <a:latin typeface="Helvetica Neue"/>
                <a:ea typeface="Helvetica Neue"/>
                <a:cs typeface="Helvetica Neue"/>
              </a:defRPr>
            </a:lvl8pPr>
            <a:lvl9pPr>
              <a:defRPr sz="2025" b="0">
                <a:solidFill>
                  <a:srgbClr val="657574"/>
                </a:solidFill>
                <a:latin typeface="Helvetica Neue"/>
                <a:ea typeface="Helvetica Neue"/>
                <a:cs typeface="Helvetica Neue"/>
              </a:defRPr>
            </a:lvl9pPr>
          </a:lstStyle>
          <a:p xmlns:a="http://schemas.openxmlformats.org/drawingml/2006/main">
            <a:pPr>
              <a:defRPr sz="2025" b="0">
                <a:solidFill>
                  <a:srgbClr val="657574"/>
                </a:solidFill>
                <a:latin typeface="Helvetica Neue"/>
                <a:ea typeface="Helvetica Neue"/>
                <a:cs typeface="Helvetica Neue"/>
              </a:defRPr>
            </a:pPr>
            <a:r>
              <a:rPr sz="2025" b="0">
                <a:solidFill>
                  <a:srgbClr val="657574"/>
                </a:solidFill>
                <a:latin typeface="Helvetica Neue"/>
                <a:ea typeface="Helvetica Neue"/>
                <a:cs typeface="Helvetica Neue"/>
              </a:rPr>
              <a:t>One fresh trial per task. 24 of 36 reviews remain pending under the</a:t>
            </a:r>
          </a:p>
          <a:p xmlns:a="http://schemas.openxmlformats.org/drawingml/2006/main">
            <a:pPr>
              <a:defRPr sz="2025" b="0">
                <a:solidFill>
                  <a:srgbClr val="657574"/>
                </a:solidFill>
                <a:latin typeface="Helvetica Neue"/>
                <a:ea typeface="Helvetica Neue"/>
                <a:cs typeface="Helvetica Neue"/>
              </a:defRPr>
            </a:pPr>
            <a:r>
              <a:rPr sz="2025" b="0">
                <a:solidFill>
                  <a:srgbClr val="657574"/>
                </a:solidFill>
                <a:latin typeface="Helvetica Neue"/>
                <a:ea typeface="Helvetica Neue"/>
                <a:cs typeface="Helvetica Neue"/>
              </a:rPr>
              <a:t>daily request quota. These are partial-suite counts.</a:t>
            </a:r>
          </a:p>
        </p:txBody>
      </p:sp>
      <p:sp>
        <p:nvSpPr>
          <p:cNvPr id="6" name="">
            <a:extLst xmlns:a="http://schemas.openxmlformats.org/drawingml/2006/main">
              <a:ext uri="{FF2B5EF4-FFF2-40B4-BE49-F238E27FC236}">
                <a16:creationId xmlns:a16="http://schemas.microsoft.com/office/drawing/2014/main" id="{97B26179-93E9-4291-B519-96F5A1FB0F59}"/>
              </a:ext>
            </a:extLst>
          </p:cNvPr>
          <p:cNvSpPr>
            <a:spLocks xmlns:a="http://schemas.openxmlformats.org/drawingml/2006/main" noGrp="1"/>
          </p:cNvSpPr>
          <p:nvPr/>
        </p:nvSpPr>
        <p:spPr>
          <a:xfrm xmlns:a="http://schemas.openxmlformats.org/drawingml/2006/main">
            <a:off x="723900" y="5619750"/>
            <a:ext cx="10477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172E32"/>
                </a:solidFill>
                <a:latin typeface="Helvetica Neue"/>
                <a:ea typeface="Helvetica Neue"/>
                <a:cs typeface="Helvetica Neue"/>
              </a:defRPr>
            </a:defPPr>
            <a:lvl1pPr>
              <a:defRPr sz="1800" b="0">
                <a:solidFill>
                  <a:srgbClr val="172E32"/>
                </a:solidFill>
                <a:latin typeface="Helvetica Neue"/>
                <a:ea typeface="Helvetica Neue"/>
                <a:cs typeface="Helvetica Neue"/>
              </a:defRPr>
            </a:lvl1pPr>
            <a:lvl2pPr>
              <a:defRPr sz="1800" b="0">
                <a:solidFill>
                  <a:srgbClr val="172E32"/>
                </a:solidFill>
                <a:latin typeface="Helvetica Neue"/>
                <a:ea typeface="Helvetica Neue"/>
                <a:cs typeface="Helvetica Neue"/>
              </a:defRPr>
            </a:lvl2pPr>
            <a:lvl3pPr>
              <a:defRPr sz="1800" b="0">
                <a:solidFill>
                  <a:srgbClr val="172E32"/>
                </a:solidFill>
                <a:latin typeface="Helvetica Neue"/>
                <a:ea typeface="Helvetica Neue"/>
                <a:cs typeface="Helvetica Neue"/>
              </a:defRPr>
            </a:lvl3pPr>
            <a:lvl4pPr>
              <a:defRPr sz="1800" b="0">
                <a:solidFill>
                  <a:srgbClr val="172E32"/>
                </a:solidFill>
                <a:latin typeface="Helvetica Neue"/>
                <a:ea typeface="Helvetica Neue"/>
                <a:cs typeface="Helvetica Neue"/>
              </a:defRPr>
            </a:lvl4pPr>
            <a:lvl5pPr>
              <a:defRPr sz="1800" b="0">
                <a:solidFill>
                  <a:srgbClr val="172E32"/>
                </a:solidFill>
                <a:latin typeface="Helvetica Neue"/>
                <a:ea typeface="Helvetica Neue"/>
                <a:cs typeface="Helvetica Neue"/>
              </a:defRPr>
            </a:lvl5pPr>
            <a:lvl6pPr>
              <a:defRPr sz="1800" b="0">
                <a:solidFill>
                  <a:srgbClr val="172E32"/>
                </a:solidFill>
                <a:latin typeface="Helvetica Neue"/>
                <a:ea typeface="Helvetica Neue"/>
                <a:cs typeface="Helvetica Neue"/>
              </a:defRPr>
            </a:lvl6pPr>
            <a:lvl7pPr>
              <a:defRPr sz="1800" b="0">
                <a:solidFill>
                  <a:srgbClr val="172E32"/>
                </a:solidFill>
                <a:latin typeface="Helvetica Neue"/>
                <a:ea typeface="Helvetica Neue"/>
                <a:cs typeface="Helvetica Neue"/>
              </a:defRPr>
            </a:lvl7pPr>
            <a:lvl8pPr>
              <a:defRPr sz="1800" b="0">
                <a:solidFill>
                  <a:srgbClr val="172E32"/>
                </a:solidFill>
                <a:latin typeface="Helvetica Neue"/>
                <a:ea typeface="Helvetica Neue"/>
                <a:cs typeface="Helvetica Neue"/>
              </a:defRPr>
            </a:lvl8pPr>
            <a:lvl9pPr>
              <a:defRPr sz="1800" b="0">
                <a:solidFill>
                  <a:srgbClr val="172E32"/>
                </a:solidFill>
                <a:latin typeface="Helvetica Neue"/>
                <a:ea typeface="Helvetica Neue"/>
                <a:cs typeface="Helvetica Neue"/>
              </a:defRPr>
            </a:lvl9pPr>
          </a:lstStyle>
          <a:p xmlns:a="http://schemas.openxmlformats.org/drawingml/2006/main">
            <a:pPr>
              <a:defRPr sz="1800" b="0">
                <a:solidFill>
                  <a:srgbClr val="172E32"/>
                </a:solidFill>
                <a:latin typeface="Helvetica Neue"/>
                <a:ea typeface="Helvetica Neue"/>
                <a:cs typeface="Helvetica Neue"/>
              </a:defRPr>
            </a:pPr>
            <a:r>
              <a:rPr sz="1800" b="0">
                <a:solidFill>
                  <a:srgbClr val="172E32"/>
                </a:solidFill>
                <a:latin typeface="Helvetica Neue"/>
                <a:ea typeface="Helvetica Neue"/>
                <a:cs typeface="Helvetica Neue"/>
              </a:rPr>
              <a:t>B omitted the required comparison tool in one case.</a:t>
            </a:r>
          </a:p>
          <a:p xmlns:a="http://schemas.openxmlformats.org/drawingml/2006/main">
            <a:pPr>
              <a:defRPr sz="1800" b="0">
                <a:solidFill>
                  <a:srgbClr val="172E32"/>
                </a:solidFill>
                <a:latin typeface="Helvetica Neue"/>
                <a:ea typeface="Helvetica Neue"/>
                <a:cs typeface="Helvetica Neue"/>
              </a:defRPr>
            </a:pPr>
            <a:r>
              <a:rPr sz="1800" b="0">
                <a:solidFill>
                  <a:srgbClr val="172E32"/>
                </a:solidFill>
                <a:latin typeface="Helvetica Neue"/>
                <a:ea typeface="Helvetica Neue"/>
                <a:cs typeface="Helvetica Neue"/>
              </a:rPr>
              <a:t>The numerical delta was correct. No general improvement is established.</a:t>
            </a:r>
          </a:p>
        </p:txBody>
      </p:sp>
    </p:spTree>
    <p:extLst>
      <p:ext uri="{BB962C8B-B14F-4D97-AF65-F5344CB8AC3E}">
        <p14:creationId xmlns:p14="http://schemas.microsoft.com/office/powerpoint/2010/main" val="1143506176"/>
      </p:ext>
    </p:extLst>
  </p:cSld>
</p:sld>
</file>

<file path=ppt/slides/slide6.xml><?xml version="1.0" encoding="utf-8"?>
<p:sld xmlns:p="http://schemas.openxmlformats.org/presentationml/2006/main">
  <p:cSld>
    <p:bg>
      <p:bgPr>
        <a:solidFill xmlns:a="http://schemas.openxmlformats.org/drawingml/2006/main">
          <a:srgbClr val="F5F6F2"/>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894E0C8-06CE-4C1E-A14F-4E62CB5167FC}"/>
              </a:ext>
            </a:extLst>
          </p:cNvPr>
          <p:cNvSpPr>
            <a:spLocks xmlns:a="http://schemas.openxmlformats.org/drawingml/2006/main" noGrp="1"/>
          </p:cNvSpPr>
          <p:nvPr/>
        </p:nvSpPr>
        <p:spPr>
          <a:xfrm xmlns:a="http://schemas.openxmlformats.org/drawingml/2006/main">
            <a:off x="7239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1">
                <a:solidFill>
                  <a:srgbClr val="146B5F"/>
                </a:solidFill>
                <a:latin typeface="Helvetica Neue"/>
                <a:ea typeface="Helvetica Neue"/>
                <a:cs typeface="Helvetica Neue"/>
              </a:defRPr>
            </a:defPPr>
            <a:lvl1pPr>
              <a:defRPr sz="1125" b="1">
                <a:solidFill>
                  <a:srgbClr val="146B5F"/>
                </a:solidFill>
                <a:latin typeface="Helvetica Neue"/>
                <a:ea typeface="Helvetica Neue"/>
                <a:cs typeface="Helvetica Neue"/>
              </a:defRPr>
            </a:lvl1pPr>
            <a:lvl2pPr>
              <a:defRPr sz="1125" b="1">
                <a:solidFill>
                  <a:srgbClr val="146B5F"/>
                </a:solidFill>
                <a:latin typeface="Helvetica Neue"/>
                <a:ea typeface="Helvetica Neue"/>
                <a:cs typeface="Helvetica Neue"/>
              </a:defRPr>
            </a:lvl2pPr>
            <a:lvl3pPr>
              <a:defRPr sz="1125" b="1">
                <a:solidFill>
                  <a:srgbClr val="146B5F"/>
                </a:solidFill>
                <a:latin typeface="Helvetica Neue"/>
                <a:ea typeface="Helvetica Neue"/>
                <a:cs typeface="Helvetica Neue"/>
              </a:defRPr>
            </a:lvl3pPr>
            <a:lvl4pPr>
              <a:defRPr sz="1125" b="1">
                <a:solidFill>
                  <a:srgbClr val="146B5F"/>
                </a:solidFill>
                <a:latin typeface="Helvetica Neue"/>
                <a:ea typeface="Helvetica Neue"/>
                <a:cs typeface="Helvetica Neue"/>
              </a:defRPr>
            </a:lvl4pPr>
            <a:lvl5pPr>
              <a:defRPr sz="1125" b="1">
                <a:solidFill>
                  <a:srgbClr val="146B5F"/>
                </a:solidFill>
                <a:latin typeface="Helvetica Neue"/>
                <a:ea typeface="Helvetica Neue"/>
                <a:cs typeface="Helvetica Neue"/>
              </a:defRPr>
            </a:lvl5pPr>
            <a:lvl6pPr>
              <a:defRPr sz="1125" b="1">
                <a:solidFill>
                  <a:srgbClr val="146B5F"/>
                </a:solidFill>
                <a:latin typeface="Helvetica Neue"/>
                <a:ea typeface="Helvetica Neue"/>
                <a:cs typeface="Helvetica Neue"/>
              </a:defRPr>
            </a:lvl6pPr>
            <a:lvl7pPr>
              <a:defRPr sz="1125" b="1">
                <a:solidFill>
                  <a:srgbClr val="146B5F"/>
                </a:solidFill>
                <a:latin typeface="Helvetica Neue"/>
                <a:ea typeface="Helvetica Neue"/>
                <a:cs typeface="Helvetica Neue"/>
              </a:defRPr>
            </a:lvl7pPr>
            <a:lvl8pPr>
              <a:defRPr sz="1125" b="1">
                <a:solidFill>
                  <a:srgbClr val="146B5F"/>
                </a:solidFill>
                <a:latin typeface="Helvetica Neue"/>
                <a:ea typeface="Helvetica Neue"/>
                <a:cs typeface="Helvetica Neue"/>
              </a:defRPr>
            </a:lvl8pPr>
            <a:lvl9pPr>
              <a:defRPr sz="1125" b="1">
                <a:solidFill>
                  <a:srgbClr val="146B5F"/>
                </a:solidFill>
                <a:latin typeface="Helvetica Neue"/>
                <a:ea typeface="Helvetica Neue"/>
                <a:cs typeface="Helvetica Neue"/>
              </a:defRPr>
            </a:lvl9pPr>
          </a:lstStyle>
          <a:p xmlns:a="http://schemas.openxmlformats.org/drawingml/2006/main">
            <a:pPr>
              <a:defRPr sz="1125" b="1">
                <a:solidFill>
                  <a:srgbClr val="146B5F"/>
                </a:solidFill>
                <a:latin typeface="Helvetica Neue"/>
                <a:ea typeface="Helvetica Neue"/>
                <a:cs typeface="Helvetica Neue"/>
              </a:defRPr>
            </a:pPr>
            <a:r>
              <a:rPr sz="1125" b="1">
                <a:solidFill>
                  <a:srgbClr val="146B5F"/>
                </a:solidFill>
                <a:latin typeface="Helvetica Neue"/>
                <a:ea typeface="Helvetica Neue"/>
                <a:cs typeface="Helvetica Neue"/>
              </a:rPr>
              <a:t>MODELCHECK    /    SDAIA CAPSTONE</a:t>
            </a:r>
          </a:p>
        </p:txBody>
      </p:sp>
      <p:sp>
        <p:nvSpPr>
          <p:cNvPr id="2" name="">
            <a:extLst xmlns:a="http://schemas.openxmlformats.org/drawingml/2006/main">
              <a:ext uri="{FF2B5EF4-FFF2-40B4-BE49-F238E27FC236}">
                <a16:creationId xmlns:a16="http://schemas.microsoft.com/office/drawing/2014/main" id="{6B4C4CF1-EB8D-4C1F-BCD8-3AB49D220EFF}"/>
              </a:ext>
            </a:extLst>
          </p:cNvPr>
          <p:cNvSpPr>
            <a:spLocks xmlns:a="http://schemas.openxmlformats.org/drawingml/2006/main" noGrp="1"/>
          </p:cNvSpPr>
          <p:nvPr/>
        </p:nvSpPr>
        <p:spPr>
          <a:xfrm xmlns:a="http://schemas.openxmlformats.org/drawingml/2006/main">
            <a:off x="723900" y="990600"/>
            <a:ext cx="107442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825" b="0">
                <a:solidFill>
                  <a:srgbClr val="172E32"/>
                </a:solidFill>
                <a:latin typeface="Helvetica Neue"/>
                <a:ea typeface="Helvetica Neue"/>
                <a:cs typeface="Helvetica Neue"/>
              </a:defRPr>
            </a:defPPr>
            <a:lvl1pPr>
              <a:defRPr sz="3825" b="0">
                <a:solidFill>
                  <a:srgbClr val="172E32"/>
                </a:solidFill>
                <a:latin typeface="Helvetica Neue"/>
                <a:ea typeface="Helvetica Neue"/>
                <a:cs typeface="Helvetica Neue"/>
              </a:defRPr>
            </a:lvl1pPr>
            <a:lvl2pPr>
              <a:defRPr sz="3825" b="0">
                <a:solidFill>
                  <a:srgbClr val="172E32"/>
                </a:solidFill>
                <a:latin typeface="Helvetica Neue"/>
                <a:ea typeface="Helvetica Neue"/>
                <a:cs typeface="Helvetica Neue"/>
              </a:defRPr>
            </a:lvl2pPr>
            <a:lvl3pPr>
              <a:defRPr sz="3825" b="0">
                <a:solidFill>
                  <a:srgbClr val="172E32"/>
                </a:solidFill>
                <a:latin typeface="Helvetica Neue"/>
                <a:ea typeface="Helvetica Neue"/>
                <a:cs typeface="Helvetica Neue"/>
              </a:defRPr>
            </a:lvl3pPr>
            <a:lvl4pPr>
              <a:defRPr sz="3825" b="0">
                <a:solidFill>
                  <a:srgbClr val="172E32"/>
                </a:solidFill>
                <a:latin typeface="Helvetica Neue"/>
                <a:ea typeface="Helvetica Neue"/>
                <a:cs typeface="Helvetica Neue"/>
              </a:defRPr>
            </a:lvl4pPr>
            <a:lvl5pPr>
              <a:defRPr sz="3825" b="0">
                <a:solidFill>
                  <a:srgbClr val="172E32"/>
                </a:solidFill>
                <a:latin typeface="Helvetica Neue"/>
                <a:ea typeface="Helvetica Neue"/>
                <a:cs typeface="Helvetica Neue"/>
              </a:defRPr>
            </a:lvl5pPr>
            <a:lvl6pPr>
              <a:defRPr sz="3825" b="0">
                <a:solidFill>
                  <a:srgbClr val="172E32"/>
                </a:solidFill>
                <a:latin typeface="Helvetica Neue"/>
                <a:ea typeface="Helvetica Neue"/>
                <a:cs typeface="Helvetica Neue"/>
              </a:defRPr>
            </a:lvl6pPr>
            <a:lvl7pPr>
              <a:defRPr sz="3825" b="0">
                <a:solidFill>
                  <a:srgbClr val="172E32"/>
                </a:solidFill>
                <a:latin typeface="Helvetica Neue"/>
                <a:ea typeface="Helvetica Neue"/>
                <a:cs typeface="Helvetica Neue"/>
              </a:defRPr>
            </a:lvl7pPr>
            <a:lvl8pPr>
              <a:defRPr sz="3825" b="0">
                <a:solidFill>
                  <a:srgbClr val="172E32"/>
                </a:solidFill>
                <a:latin typeface="Helvetica Neue"/>
                <a:ea typeface="Helvetica Neue"/>
                <a:cs typeface="Helvetica Neue"/>
              </a:defRPr>
            </a:lvl8pPr>
            <a:lvl9pPr>
              <a:defRPr sz="3825" b="0">
                <a:solidFill>
                  <a:srgbClr val="172E32"/>
                </a:solidFill>
                <a:latin typeface="Helvetica Neue"/>
                <a:ea typeface="Helvetica Neue"/>
                <a:cs typeface="Helvetica Neue"/>
              </a:defRPr>
            </a:lvl9pPr>
          </a:lstStyle>
          <a:p xmlns:a="http://schemas.openxmlformats.org/drawingml/2006/main">
            <a:pPr>
              <a:defRPr sz="3825" b="0">
                <a:solidFill>
                  <a:srgbClr val="172E32"/>
                </a:solidFill>
                <a:latin typeface="Helvetica Neue"/>
                <a:ea typeface="Helvetica Neue"/>
                <a:cs typeface="Helvetica Neue"/>
              </a:defRPr>
            </a:pPr>
            <a:r>
              <a:rPr sz="3825" b="0">
                <a:solidFill>
                  <a:srgbClr val="172E32"/>
                </a:solidFill>
                <a:latin typeface="Helvetica Neue"/>
                <a:ea typeface="Helvetica Neue"/>
                <a:cs typeface="Helvetica Neue"/>
              </a:rPr>
              <a:t>Security evidence and remaining work</a:t>
            </a:r>
          </a:p>
        </p:txBody>
      </p:sp>
      <p:sp>
        <p:nvSpPr>
          <p:cNvPr id="3" name="">
            <a:extLst xmlns:a="http://schemas.openxmlformats.org/drawingml/2006/main">
              <a:ext uri="{FF2B5EF4-FFF2-40B4-BE49-F238E27FC236}">
                <a16:creationId xmlns:a16="http://schemas.microsoft.com/office/drawing/2014/main" id="{A5286729-4AFE-4FEB-B098-15D922ECD501}"/>
              </a:ext>
            </a:extLst>
          </p:cNvPr>
          <p:cNvSpPr>
            <a:spLocks xmlns:a="http://schemas.openxmlformats.org/drawingml/2006/main" noGrp="1"/>
          </p:cNvSpPr>
          <p:nvPr/>
        </p:nvSpPr>
        <p:spPr>
          <a:xfrm xmlns:a="http://schemas.openxmlformats.org/drawingml/2006/main">
            <a:off x="11049000" y="6257925"/>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050" b="0">
                <a:solidFill>
                  <a:srgbClr val="657574"/>
                </a:solidFill>
                <a:latin typeface="Helvetica Neue"/>
                <a:ea typeface="Helvetica Neue"/>
                <a:cs typeface="Helvetica Neue"/>
              </a:defRPr>
            </a:defPPr>
            <a:lvl1pPr>
              <a:defRPr sz="1050" b="0">
                <a:solidFill>
                  <a:srgbClr val="657574"/>
                </a:solidFill>
                <a:latin typeface="Helvetica Neue"/>
                <a:ea typeface="Helvetica Neue"/>
                <a:cs typeface="Helvetica Neue"/>
              </a:defRPr>
            </a:lvl1pPr>
            <a:lvl2pPr>
              <a:defRPr sz="1050" b="0">
                <a:solidFill>
                  <a:srgbClr val="657574"/>
                </a:solidFill>
                <a:latin typeface="Helvetica Neue"/>
                <a:ea typeface="Helvetica Neue"/>
                <a:cs typeface="Helvetica Neue"/>
              </a:defRPr>
            </a:lvl2pPr>
            <a:lvl3pPr>
              <a:defRPr sz="1050" b="0">
                <a:solidFill>
                  <a:srgbClr val="657574"/>
                </a:solidFill>
                <a:latin typeface="Helvetica Neue"/>
                <a:ea typeface="Helvetica Neue"/>
                <a:cs typeface="Helvetica Neue"/>
              </a:defRPr>
            </a:lvl3pPr>
            <a:lvl4pPr>
              <a:defRPr sz="1050" b="0">
                <a:solidFill>
                  <a:srgbClr val="657574"/>
                </a:solidFill>
                <a:latin typeface="Helvetica Neue"/>
                <a:ea typeface="Helvetica Neue"/>
                <a:cs typeface="Helvetica Neue"/>
              </a:defRPr>
            </a:lvl4pPr>
            <a:lvl5pPr>
              <a:defRPr sz="1050" b="0">
                <a:solidFill>
                  <a:srgbClr val="657574"/>
                </a:solidFill>
                <a:latin typeface="Helvetica Neue"/>
                <a:ea typeface="Helvetica Neue"/>
                <a:cs typeface="Helvetica Neue"/>
              </a:defRPr>
            </a:lvl5pPr>
            <a:lvl6pPr>
              <a:defRPr sz="1050" b="0">
                <a:solidFill>
                  <a:srgbClr val="657574"/>
                </a:solidFill>
                <a:latin typeface="Helvetica Neue"/>
                <a:ea typeface="Helvetica Neue"/>
                <a:cs typeface="Helvetica Neue"/>
              </a:defRPr>
            </a:lvl6pPr>
            <a:lvl7pPr>
              <a:defRPr sz="1050" b="0">
                <a:solidFill>
                  <a:srgbClr val="657574"/>
                </a:solidFill>
                <a:latin typeface="Helvetica Neue"/>
                <a:ea typeface="Helvetica Neue"/>
                <a:cs typeface="Helvetica Neue"/>
              </a:defRPr>
            </a:lvl7pPr>
            <a:lvl8pPr>
              <a:defRPr sz="1050" b="0">
                <a:solidFill>
                  <a:srgbClr val="657574"/>
                </a:solidFill>
                <a:latin typeface="Helvetica Neue"/>
                <a:ea typeface="Helvetica Neue"/>
                <a:cs typeface="Helvetica Neue"/>
              </a:defRPr>
            </a:lvl8pPr>
            <a:lvl9pPr>
              <a:defRPr sz="1050" b="0">
                <a:solidFill>
                  <a:srgbClr val="657574"/>
                </a:solidFill>
                <a:latin typeface="Helvetica Neue"/>
                <a:ea typeface="Helvetica Neue"/>
                <a:cs typeface="Helvetica Neue"/>
              </a:defRPr>
            </a:lvl9pPr>
          </a:lstStyle>
          <a:p xmlns:a="http://schemas.openxmlformats.org/drawingml/2006/main">
            <a:pPr>
              <a:defRPr sz="1050" b="0">
                <a:solidFill>
                  <a:srgbClr val="657574"/>
                </a:solidFill>
                <a:latin typeface="Helvetica Neue"/>
                <a:ea typeface="Helvetica Neue"/>
                <a:cs typeface="Helvetica Neue"/>
              </a:defRPr>
            </a:pPr>
            <a:r>
              <a:rPr sz="1050" b="0">
                <a:solidFill>
                  <a:srgbClr val="657574"/>
                </a:solidFill>
                <a:latin typeface="Helvetica Neue"/>
                <a:ea typeface="Helvetica Neue"/>
                <a:cs typeface="Helvetica Neue"/>
              </a:rPr>
              <a:t>06</a:t>
            </a:r>
          </a:p>
        </p:txBody>
      </p:sp>
      <p:sp>
        <p:nvSpPr>
          <p:cNvPr id="4" name="">
            <a:extLst xmlns:a="http://schemas.openxmlformats.org/drawingml/2006/main">
              <a:ext uri="{FF2B5EF4-FFF2-40B4-BE49-F238E27FC236}">
                <a16:creationId xmlns:a16="http://schemas.microsoft.com/office/drawing/2014/main" id="{404AD047-CB35-44EC-9B4E-C65EF180D538}"/>
              </a:ext>
            </a:extLst>
          </p:cNvPr>
          <p:cNvSpPr>
            <a:spLocks xmlns:a="http://schemas.openxmlformats.org/drawingml/2006/main" noGrp="1"/>
          </p:cNvSpPr>
          <p:nvPr/>
        </p:nvSpPr>
        <p:spPr>
          <a:xfrm xmlns:a="http://schemas.openxmlformats.org/drawingml/2006/main">
            <a:off x="723900" y="2095500"/>
            <a:ext cx="9906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1">
                <a:solidFill>
                  <a:srgbClr val="146B5F"/>
                </a:solidFill>
                <a:latin typeface="Helvetica Neue"/>
                <a:ea typeface="Helvetica Neue"/>
                <a:cs typeface="Helvetica Neue"/>
              </a:defRPr>
            </a:defPPr>
            <a:lvl1pPr>
              <a:defRPr sz="2325" b="1">
                <a:solidFill>
                  <a:srgbClr val="146B5F"/>
                </a:solidFill>
                <a:latin typeface="Helvetica Neue"/>
                <a:ea typeface="Helvetica Neue"/>
                <a:cs typeface="Helvetica Neue"/>
              </a:defRPr>
            </a:lvl1pPr>
            <a:lvl2pPr>
              <a:defRPr sz="2325" b="1">
                <a:solidFill>
                  <a:srgbClr val="146B5F"/>
                </a:solidFill>
                <a:latin typeface="Helvetica Neue"/>
                <a:ea typeface="Helvetica Neue"/>
                <a:cs typeface="Helvetica Neue"/>
              </a:defRPr>
            </a:lvl2pPr>
            <a:lvl3pPr>
              <a:defRPr sz="2325" b="1">
                <a:solidFill>
                  <a:srgbClr val="146B5F"/>
                </a:solidFill>
                <a:latin typeface="Helvetica Neue"/>
                <a:ea typeface="Helvetica Neue"/>
                <a:cs typeface="Helvetica Neue"/>
              </a:defRPr>
            </a:lvl3pPr>
            <a:lvl4pPr>
              <a:defRPr sz="2325" b="1">
                <a:solidFill>
                  <a:srgbClr val="146B5F"/>
                </a:solidFill>
                <a:latin typeface="Helvetica Neue"/>
                <a:ea typeface="Helvetica Neue"/>
                <a:cs typeface="Helvetica Neue"/>
              </a:defRPr>
            </a:lvl4pPr>
            <a:lvl5pPr>
              <a:defRPr sz="2325" b="1">
                <a:solidFill>
                  <a:srgbClr val="146B5F"/>
                </a:solidFill>
                <a:latin typeface="Helvetica Neue"/>
                <a:ea typeface="Helvetica Neue"/>
                <a:cs typeface="Helvetica Neue"/>
              </a:defRPr>
            </a:lvl5pPr>
            <a:lvl6pPr>
              <a:defRPr sz="2325" b="1">
                <a:solidFill>
                  <a:srgbClr val="146B5F"/>
                </a:solidFill>
                <a:latin typeface="Helvetica Neue"/>
                <a:ea typeface="Helvetica Neue"/>
                <a:cs typeface="Helvetica Neue"/>
              </a:defRPr>
            </a:lvl6pPr>
            <a:lvl7pPr>
              <a:defRPr sz="2325" b="1">
                <a:solidFill>
                  <a:srgbClr val="146B5F"/>
                </a:solidFill>
                <a:latin typeface="Helvetica Neue"/>
                <a:ea typeface="Helvetica Neue"/>
                <a:cs typeface="Helvetica Neue"/>
              </a:defRPr>
            </a:lvl7pPr>
            <a:lvl8pPr>
              <a:defRPr sz="2325" b="1">
                <a:solidFill>
                  <a:srgbClr val="146B5F"/>
                </a:solidFill>
                <a:latin typeface="Helvetica Neue"/>
                <a:ea typeface="Helvetica Neue"/>
                <a:cs typeface="Helvetica Neue"/>
              </a:defRPr>
            </a:lvl8pPr>
            <a:lvl9pPr>
              <a:defRPr sz="2325" b="1">
                <a:solidFill>
                  <a:srgbClr val="146B5F"/>
                </a:solidFill>
                <a:latin typeface="Helvetica Neue"/>
                <a:ea typeface="Helvetica Neue"/>
                <a:cs typeface="Helvetica Neue"/>
              </a:defRPr>
            </a:lvl9pPr>
          </a:lstStyle>
          <a:p xmlns:a="http://schemas.openxmlformats.org/drawingml/2006/main">
            <a:pPr>
              <a:defRPr sz="2325" b="1">
                <a:solidFill>
                  <a:srgbClr val="146B5F"/>
                </a:solidFill>
                <a:latin typeface="Helvetica Neue"/>
                <a:ea typeface="Helvetica Neue"/>
                <a:cs typeface="Helvetica Neue"/>
              </a:defRPr>
            </a:pPr>
            <a:r>
              <a:rPr sz="2325" b="1">
                <a:solidFill>
                  <a:srgbClr val="146B5F"/>
                </a:solidFill>
                <a:latin typeface="Helvetica Neue"/>
                <a:ea typeface="Helvetica Neue"/>
                <a:cs typeface="Helvetica Neue"/>
              </a:rPr>
              <a:t>Observed live attack</a:t>
            </a:r>
          </a:p>
        </p:txBody>
      </p:sp>
      <p:sp>
        <p:nvSpPr>
          <p:cNvPr id="5" name="">
            <a:extLst xmlns:a="http://schemas.openxmlformats.org/drawingml/2006/main">
              <a:ext uri="{FF2B5EF4-FFF2-40B4-BE49-F238E27FC236}">
                <a16:creationId xmlns:a16="http://schemas.microsoft.com/office/drawing/2014/main" id="{BEB55FAD-90FE-4713-AF19-962E1EF972F4}"/>
              </a:ext>
            </a:extLst>
          </p:cNvPr>
          <p:cNvSpPr>
            <a:spLocks xmlns:a="http://schemas.openxmlformats.org/drawingml/2006/main" noGrp="1"/>
          </p:cNvSpPr>
          <p:nvPr/>
        </p:nvSpPr>
        <p:spPr>
          <a:xfrm xmlns:a="http://schemas.openxmlformats.org/drawingml/2006/main">
            <a:off x="723900" y="2667000"/>
            <a:ext cx="10668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72E32"/>
                </a:solidFill>
                <a:latin typeface="Helvetica Neue"/>
                <a:ea typeface="Helvetica Neue"/>
                <a:cs typeface="Helvetica Neue"/>
              </a:defRPr>
            </a:defPPr>
            <a:lvl1pPr>
              <a:defRPr sz="2175" b="0">
                <a:solidFill>
                  <a:srgbClr val="172E32"/>
                </a:solidFill>
                <a:latin typeface="Helvetica Neue"/>
                <a:ea typeface="Helvetica Neue"/>
                <a:cs typeface="Helvetica Neue"/>
              </a:defRPr>
            </a:lvl1pPr>
            <a:lvl2pPr>
              <a:defRPr sz="2175" b="0">
                <a:solidFill>
                  <a:srgbClr val="172E32"/>
                </a:solidFill>
                <a:latin typeface="Helvetica Neue"/>
                <a:ea typeface="Helvetica Neue"/>
                <a:cs typeface="Helvetica Neue"/>
              </a:defRPr>
            </a:lvl2pPr>
            <a:lvl3pPr>
              <a:defRPr sz="2175" b="0">
                <a:solidFill>
                  <a:srgbClr val="172E32"/>
                </a:solidFill>
                <a:latin typeface="Helvetica Neue"/>
                <a:ea typeface="Helvetica Neue"/>
                <a:cs typeface="Helvetica Neue"/>
              </a:defRPr>
            </a:lvl3pPr>
            <a:lvl4pPr>
              <a:defRPr sz="2175" b="0">
                <a:solidFill>
                  <a:srgbClr val="172E32"/>
                </a:solidFill>
                <a:latin typeface="Helvetica Neue"/>
                <a:ea typeface="Helvetica Neue"/>
                <a:cs typeface="Helvetica Neue"/>
              </a:defRPr>
            </a:lvl4pPr>
            <a:lvl5pPr>
              <a:defRPr sz="2175" b="0">
                <a:solidFill>
                  <a:srgbClr val="172E32"/>
                </a:solidFill>
                <a:latin typeface="Helvetica Neue"/>
                <a:ea typeface="Helvetica Neue"/>
                <a:cs typeface="Helvetica Neue"/>
              </a:defRPr>
            </a:lvl5pPr>
            <a:lvl6pPr>
              <a:defRPr sz="2175" b="0">
                <a:solidFill>
                  <a:srgbClr val="172E32"/>
                </a:solidFill>
                <a:latin typeface="Helvetica Neue"/>
                <a:ea typeface="Helvetica Neue"/>
                <a:cs typeface="Helvetica Neue"/>
              </a:defRPr>
            </a:lvl6pPr>
            <a:lvl7pPr>
              <a:defRPr sz="2175" b="0">
                <a:solidFill>
                  <a:srgbClr val="172E32"/>
                </a:solidFill>
                <a:latin typeface="Helvetica Neue"/>
                <a:ea typeface="Helvetica Neue"/>
                <a:cs typeface="Helvetica Neue"/>
              </a:defRPr>
            </a:lvl7pPr>
            <a:lvl8pPr>
              <a:defRPr sz="2175" b="0">
                <a:solidFill>
                  <a:srgbClr val="172E32"/>
                </a:solidFill>
                <a:latin typeface="Helvetica Neue"/>
                <a:ea typeface="Helvetica Neue"/>
                <a:cs typeface="Helvetica Neue"/>
              </a:defRPr>
            </a:lvl8pPr>
            <a:lvl9pPr>
              <a:defRPr sz="2175" b="0">
                <a:solidFill>
                  <a:srgbClr val="172E32"/>
                </a:solidFill>
                <a:latin typeface="Helvetica Neue"/>
                <a:ea typeface="Helvetica Neue"/>
                <a:cs typeface="Helvetica Neue"/>
              </a:defRPr>
            </a:lvl9pPr>
          </a:lstStyle>
          <a:p xmlns:a="http://schemas.openxmlformats.org/drawingml/2006/main">
            <a:pPr>
              <a:defRPr sz="2175" b="0">
                <a:solidFill>
                  <a:srgbClr val="172E32"/>
                </a:solidFill>
                <a:latin typeface="Helvetica Neue"/>
                <a:ea typeface="Helvetica Neue"/>
                <a:cs typeface="Helvetica Neue"/>
              </a:defRPr>
            </a:pPr>
            <a:r>
              <a:rPr sz="2175" b="0">
                <a:solidFill>
                  <a:srgbClr val="172E32"/>
                </a:solidFill>
                <a:latin typeface="Helvetica Neue"/>
                <a:ea typeface="Helvetica Neue"/>
                <a:cs typeface="Helvetica Neue"/>
              </a:rPr>
              <a:t>A run note requested an out-of-root save and bypassed approval.</a:t>
            </a:r>
          </a:p>
          <a:p xmlns:a="http://schemas.openxmlformats.org/drawingml/2006/main">
            <a:pPr>
              <a:defRPr sz="2175" b="0">
                <a:solidFill>
                  <a:srgbClr val="172E32"/>
                </a:solidFill>
                <a:latin typeface="Helvetica Neue"/>
                <a:ea typeface="Helvetica Neue"/>
                <a:cs typeface="Helvetica Neue"/>
              </a:defRPr>
            </a:pPr>
            <a:r>
              <a:rPr sz="2175" b="0">
                <a:solidFill>
                  <a:srgbClr val="172E32"/>
                </a:solidFill>
                <a:latin typeface="Helvetica Neue"/>
                <a:ea typeface="Helvetica Neue"/>
                <a:cs typeface="Helvetica Neue"/>
              </a:rPr>
              <a:t>The live reviewer reported it and created no action or file.</a:t>
            </a:r>
          </a:p>
        </p:txBody>
      </p:sp>
      <p:sp>
        <p:nvSpPr>
          <p:cNvPr id="6" name="">
            <a:extLst xmlns:a="http://schemas.openxmlformats.org/drawingml/2006/main">
              <a:ext uri="{FF2B5EF4-FFF2-40B4-BE49-F238E27FC236}">
                <a16:creationId xmlns:a16="http://schemas.microsoft.com/office/drawing/2014/main" id="{2740694C-2A75-42EA-A20E-97384109DD9F}"/>
              </a:ext>
            </a:extLst>
          </p:cNvPr>
          <p:cNvSpPr>
            <a:spLocks xmlns:a="http://schemas.openxmlformats.org/drawingml/2006/main" noGrp="1"/>
          </p:cNvSpPr>
          <p:nvPr/>
        </p:nvSpPr>
        <p:spPr>
          <a:xfrm xmlns:a="http://schemas.openxmlformats.org/drawingml/2006/main">
            <a:off x="723900" y="3905250"/>
            <a:ext cx="9906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1">
                <a:solidFill>
                  <a:srgbClr val="146B5F"/>
                </a:solidFill>
                <a:latin typeface="Helvetica Neue"/>
                <a:ea typeface="Helvetica Neue"/>
                <a:cs typeface="Helvetica Neue"/>
              </a:defRPr>
            </a:defPPr>
            <a:lvl1pPr>
              <a:defRPr sz="2325" b="1">
                <a:solidFill>
                  <a:srgbClr val="146B5F"/>
                </a:solidFill>
                <a:latin typeface="Helvetica Neue"/>
                <a:ea typeface="Helvetica Neue"/>
                <a:cs typeface="Helvetica Neue"/>
              </a:defRPr>
            </a:lvl1pPr>
            <a:lvl2pPr>
              <a:defRPr sz="2325" b="1">
                <a:solidFill>
                  <a:srgbClr val="146B5F"/>
                </a:solidFill>
                <a:latin typeface="Helvetica Neue"/>
                <a:ea typeface="Helvetica Neue"/>
                <a:cs typeface="Helvetica Neue"/>
              </a:defRPr>
            </a:lvl2pPr>
            <a:lvl3pPr>
              <a:defRPr sz="2325" b="1">
                <a:solidFill>
                  <a:srgbClr val="146B5F"/>
                </a:solidFill>
                <a:latin typeface="Helvetica Neue"/>
                <a:ea typeface="Helvetica Neue"/>
                <a:cs typeface="Helvetica Neue"/>
              </a:defRPr>
            </a:lvl3pPr>
            <a:lvl4pPr>
              <a:defRPr sz="2325" b="1">
                <a:solidFill>
                  <a:srgbClr val="146B5F"/>
                </a:solidFill>
                <a:latin typeface="Helvetica Neue"/>
                <a:ea typeface="Helvetica Neue"/>
                <a:cs typeface="Helvetica Neue"/>
              </a:defRPr>
            </a:lvl4pPr>
            <a:lvl5pPr>
              <a:defRPr sz="2325" b="1">
                <a:solidFill>
                  <a:srgbClr val="146B5F"/>
                </a:solidFill>
                <a:latin typeface="Helvetica Neue"/>
                <a:ea typeface="Helvetica Neue"/>
                <a:cs typeface="Helvetica Neue"/>
              </a:defRPr>
            </a:lvl5pPr>
            <a:lvl6pPr>
              <a:defRPr sz="2325" b="1">
                <a:solidFill>
                  <a:srgbClr val="146B5F"/>
                </a:solidFill>
                <a:latin typeface="Helvetica Neue"/>
                <a:ea typeface="Helvetica Neue"/>
                <a:cs typeface="Helvetica Neue"/>
              </a:defRPr>
            </a:lvl6pPr>
            <a:lvl7pPr>
              <a:defRPr sz="2325" b="1">
                <a:solidFill>
                  <a:srgbClr val="146B5F"/>
                </a:solidFill>
                <a:latin typeface="Helvetica Neue"/>
                <a:ea typeface="Helvetica Neue"/>
                <a:cs typeface="Helvetica Neue"/>
              </a:defRPr>
            </a:lvl7pPr>
            <a:lvl8pPr>
              <a:defRPr sz="2325" b="1">
                <a:solidFill>
                  <a:srgbClr val="146B5F"/>
                </a:solidFill>
                <a:latin typeface="Helvetica Neue"/>
                <a:ea typeface="Helvetica Neue"/>
                <a:cs typeface="Helvetica Neue"/>
              </a:defRPr>
            </a:lvl8pPr>
            <a:lvl9pPr>
              <a:defRPr sz="2325" b="1">
                <a:solidFill>
                  <a:srgbClr val="146B5F"/>
                </a:solidFill>
                <a:latin typeface="Helvetica Neue"/>
                <a:ea typeface="Helvetica Neue"/>
                <a:cs typeface="Helvetica Neue"/>
              </a:defRPr>
            </a:lvl9pPr>
          </a:lstStyle>
          <a:p xmlns:a="http://schemas.openxmlformats.org/drawingml/2006/main">
            <a:pPr>
              <a:defRPr sz="2325" b="1">
                <a:solidFill>
                  <a:srgbClr val="146B5F"/>
                </a:solidFill>
                <a:latin typeface="Helvetica Neue"/>
                <a:ea typeface="Helvetica Neue"/>
                <a:cs typeface="Helvetica Neue"/>
              </a:defRPr>
            </a:pPr>
            <a:r>
              <a:rPr sz="2325" b="1">
                <a:solidFill>
                  <a:srgbClr val="146B5F"/>
                </a:solidFill>
                <a:latin typeface="Helvetica Neue"/>
                <a:ea typeface="Helvetica Neue"/>
                <a:cs typeface="Helvetica Neue"/>
              </a:rPr>
              <a:t>Code-enforced boundary</a:t>
            </a:r>
          </a:p>
        </p:txBody>
      </p:sp>
      <p:sp>
        <p:nvSpPr>
          <p:cNvPr id="7" name="">
            <a:extLst xmlns:a="http://schemas.openxmlformats.org/drawingml/2006/main">
              <a:ext uri="{FF2B5EF4-FFF2-40B4-BE49-F238E27FC236}">
                <a16:creationId xmlns:a16="http://schemas.microsoft.com/office/drawing/2014/main" id="{223261A5-4F22-4786-B89D-5B5C61957AB6}"/>
              </a:ext>
            </a:extLst>
          </p:cNvPr>
          <p:cNvSpPr>
            <a:spLocks xmlns:a="http://schemas.openxmlformats.org/drawingml/2006/main" noGrp="1"/>
          </p:cNvSpPr>
          <p:nvPr/>
        </p:nvSpPr>
        <p:spPr>
          <a:xfrm xmlns:a="http://schemas.openxmlformats.org/drawingml/2006/main">
            <a:off x="723900" y="4476750"/>
            <a:ext cx="10668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72E32"/>
                </a:solidFill>
                <a:latin typeface="Helvetica Neue"/>
                <a:ea typeface="Helvetica Neue"/>
                <a:cs typeface="Helvetica Neue"/>
              </a:defRPr>
            </a:defPPr>
            <a:lvl1pPr>
              <a:defRPr sz="2100" b="0">
                <a:solidFill>
                  <a:srgbClr val="172E32"/>
                </a:solidFill>
                <a:latin typeface="Helvetica Neue"/>
                <a:ea typeface="Helvetica Neue"/>
                <a:cs typeface="Helvetica Neue"/>
              </a:defRPr>
            </a:lvl1pPr>
            <a:lvl2pPr>
              <a:defRPr sz="2100" b="0">
                <a:solidFill>
                  <a:srgbClr val="172E32"/>
                </a:solidFill>
                <a:latin typeface="Helvetica Neue"/>
                <a:ea typeface="Helvetica Neue"/>
                <a:cs typeface="Helvetica Neue"/>
              </a:defRPr>
            </a:lvl2pPr>
            <a:lvl3pPr>
              <a:defRPr sz="2100" b="0">
                <a:solidFill>
                  <a:srgbClr val="172E32"/>
                </a:solidFill>
                <a:latin typeface="Helvetica Neue"/>
                <a:ea typeface="Helvetica Neue"/>
                <a:cs typeface="Helvetica Neue"/>
              </a:defRPr>
            </a:lvl3pPr>
            <a:lvl4pPr>
              <a:defRPr sz="2100" b="0">
                <a:solidFill>
                  <a:srgbClr val="172E32"/>
                </a:solidFill>
                <a:latin typeface="Helvetica Neue"/>
                <a:ea typeface="Helvetica Neue"/>
                <a:cs typeface="Helvetica Neue"/>
              </a:defRPr>
            </a:lvl4pPr>
            <a:lvl5pPr>
              <a:defRPr sz="2100" b="0">
                <a:solidFill>
                  <a:srgbClr val="172E32"/>
                </a:solidFill>
                <a:latin typeface="Helvetica Neue"/>
                <a:ea typeface="Helvetica Neue"/>
                <a:cs typeface="Helvetica Neue"/>
              </a:defRPr>
            </a:lvl5pPr>
            <a:lvl6pPr>
              <a:defRPr sz="2100" b="0">
                <a:solidFill>
                  <a:srgbClr val="172E32"/>
                </a:solidFill>
                <a:latin typeface="Helvetica Neue"/>
                <a:ea typeface="Helvetica Neue"/>
                <a:cs typeface="Helvetica Neue"/>
              </a:defRPr>
            </a:lvl6pPr>
            <a:lvl7pPr>
              <a:defRPr sz="2100" b="0">
                <a:solidFill>
                  <a:srgbClr val="172E32"/>
                </a:solidFill>
                <a:latin typeface="Helvetica Neue"/>
                <a:ea typeface="Helvetica Neue"/>
                <a:cs typeface="Helvetica Neue"/>
              </a:defRPr>
            </a:lvl7pPr>
            <a:lvl8pPr>
              <a:defRPr sz="2100" b="0">
                <a:solidFill>
                  <a:srgbClr val="172E32"/>
                </a:solidFill>
                <a:latin typeface="Helvetica Neue"/>
                <a:ea typeface="Helvetica Neue"/>
                <a:cs typeface="Helvetica Neue"/>
              </a:defRPr>
            </a:lvl8pPr>
            <a:lvl9pPr>
              <a:defRPr sz="2100" b="0">
                <a:solidFill>
                  <a:srgbClr val="172E32"/>
                </a:solidFill>
                <a:latin typeface="Helvetica Neue"/>
                <a:ea typeface="Helvetica Neue"/>
                <a:cs typeface="Helvetica Neue"/>
              </a:defRPr>
            </a:lvl9pPr>
          </a:lstStyle>
          <a:p xmlns:a="http://schemas.openxmlformats.org/drawingml/2006/main">
            <a:pPr>
              <a:defRPr sz="2100" b="0">
                <a:solidFill>
                  <a:srgbClr val="172E32"/>
                </a:solidFill>
                <a:latin typeface="Helvetica Neue"/>
                <a:ea typeface="Helvetica Neue"/>
                <a:cs typeface="Helvetica Neue"/>
              </a:defRPr>
            </a:pPr>
            <a:r>
              <a:rPr sz="2100" b="0">
                <a:solidFill>
                  <a:srgbClr val="172E32"/>
                </a:solidFill>
                <a:latin typeface="Helvetica Neue"/>
                <a:ea typeface="Helvetica Neue"/>
                <a:cs typeface="Helvetica Neue"/>
              </a:rPr>
              <a:t>Handler tests reject path fields, changed digests and foreign sessions.</a:t>
            </a:r>
          </a:p>
          <a:p xmlns:a="http://schemas.openxmlformats.org/drawingml/2006/main">
            <a:pPr>
              <a:defRPr sz="2100" b="0">
                <a:solidFill>
                  <a:srgbClr val="172E32"/>
                </a:solidFill>
                <a:latin typeface="Helvetica Neue"/>
                <a:ea typeface="Helvetica Neue"/>
                <a:cs typeface="Helvetica Neue"/>
              </a:defRPr>
            </a:pPr>
            <a:r>
              <a:rPr sz="2100" b="0">
                <a:solidFill>
                  <a:srgbClr val="172E32"/>
                </a:solidFill>
                <a:latin typeface="Helvetica Neue"/>
                <a:ea typeface="Helvetica Neue"/>
                <a:cs typeface="Helvetica Neue"/>
              </a:rPr>
              <a:t>A valid approval saves exactly one reviewed specification.</a:t>
            </a:r>
          </a:p>
        </p:txBody>
      </p:sp>
      <p:sp>
        <p:nvSpPr>
          <p:cNvPr id="8" name="">
            <a:extLst xmlns:a="http://schemas.openxmlformats.org/drawingml/2006/main">
              <a:ext uri="{FF2B5EF4-FFF2-40B4-BE49-F238E27FC236}">
                <a16:creationId xmlns:a16="http://schemas.microsoft.com/office/drawing/2014/main" id="{7DE5F599-0750-424E-9A34-170EB8CB189A}"/>
              </a:ext>
            </a:extLst>
          </p:cNvPr>
          <p:cNvSpPr>
            <a:spLocks xmlns:a="http://schemas.openxmlformats.org/drawingml/2006/main" noGrp="1"/>
          </p:cNvSpPr>
          <p:nvPr/>
        </p:nvSpPr>
        <p:spPr>
          <a:xfrm xmlns:a="http://schemas.openxmlformats.org/drawingml/2006/main">
            <a:off x="723900" y="5810250"/>
            <a:ext cx="1047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657574"/>
                </a:solidFill>
                <a:latin typeface="Helvetica Neue"/>
                <a:ea typeface="Helvetica Neue"/>
                <a:cs typeface="Helvetica Neue"/>
              </a:defRPr>
            </a:defPPr>
            <a:lvl1pPr>
              <a:defRPr sz="1725" b="0">
                <a:solidFill>
                  <a:srgbClr val="657574"/>
                </a:solidFill>
                <a:latin typeface="Helvetica Neue"/>
                <a:ea typeface="Helvetica Neue"/>
                <a:cs typeface="Helvetica Neue"/>
              </a:defRPr>
            </a:lvl1pPr>
            <a:lvl2pPr>
              <a:defRPr sz="1725" b="0">
                <a:solidFill>
                  <a:srgbClr val="657574"/>
                </a:solidFill>
                <a:latin typeface="Helvetica Neue"/>
                <a:ea typeface="Helvetica Neue"/>
                <a:cs typeface="Helvetica Neue"/>
              </a:defRPr>
            </a:lvl2pPr>
            <a:lvl3pPr>
              <a:defRPr sz="1725" b="0">
                <a:solidFill>
                  <a:srgbClr val="657574"/>
                </a:solidFill>
                <a:latin typeface="Helvetica Neue"/>
                <a:ea typeface="Helvetica Neue"/>
                <a:cs typeface="Helvetica Neue"/>
              </a:defRPr>
            </a:lvl3pPr>
            <a:lvl4pPr>
              <a:defRPr sz="1725" b="0">
                <a:solidFill>
                  <a:srgbClr val="657574"/>
                </a:solidFill>
                <a:latin typeface="Helvetica Neue"/>
                <a:ea typeface="Helvetica Neue"/>
                <a:cs typeface="Helvetica Neue"/>
              </a:defRPr>
            </a:lvl4pPr>
            <a:lvl5pPr>
              <a:defRPr sz="1725" b="0">
                <a:solidFill>
                  <a:srgbClr val="657574"/>
                </a:solidFill>
                <a:latin typeface="Helvetica Neue"/>
                <a:ea typeface="Helvetica Neue"/>
                <a:cs typeface="Helvetica Neue"/>
              </a:defRPr>
            </a:lvl5pPr>
            <a:lvl6pPr>
              <a:defRPr sz="1725" b="0">
                <a:solidFill>
                  <a:srgbClr val="657574"/>
                </a:solidFill>
                <a:latin typeface="Helvetica Neue"/>
                <a:ea typeface="Helvetica Neue"/>
                <a:cs typeface="Helvetica Neue"/>
              </a:defRPr>
            </a:lvl6pPr>
            <a:lvl7pPr>
              <a:defRPr sz="1725" b="0">
                <a:solidFill>
                  <a:srgbClr val="657574"/>
                </a:solidFill>
                <a:latin typeface="Helvetica Neue"/>
                <a:ea typeface="Helvetica Neue"/>
                <a:cs typeface="Helvetica Neue"/>
              </a:defRPr>
            </a:lvl7pPr>
            <a:lvl8pPr>
              <a:defRPr sz="1725" b="0">
                <a:solidFill>
                  <a:srgbClr val="657574"/>
                </a:solidFill>
                <a:latin typeface="Helvetica Neue"/>
                <a:ea typeface="Helvetica Neue"/>
                <a:cs typeface="Helvetica Neue"/>
              </a:defRPr>
            </a:lvl8pPr>
            <a:lvl9pPr>
              <a:defRPr sz="1725" b="0">
                <a:solidFill>
                  <a:srgbClr val="657574"/>
                </a:solidFill>
                <a:latin typeface="Helvetica Neue"/>
                <a:ea typeface="Helvetica Neue"/>
                <a:cs typeface="Helvetica Neue"/>
              </a:defRPr>
            </a:lvl9pPr>
          </a:lstStyle>
          <a:p xmlns:a="http://schemas.openxmlformats.org/drawingml/2006/main">
            <a:pPr>
              <a:defRPr sz="1725" b="0">
                <a:solidFill>
                  <a:srgbClr val="657574"/>
                </a:solidFill>
                <a:latin typeface="Helvetica Neue"/>
                <a:ea typeface="Helvetica Neue"/>
                <a:cs typeface="Helvetica Neue"/>
              </a:defRPr>
            </a:pPr>
            <a:r>
              <a:rPr sz="1725" b="0">
                <a:solidFill>
                  <a:srgbClr val="657574"/>
                </a:solidFill>
                <a:latin typeface="Helvetica Neue"/>
                <a:ea typeface="Helvetica Neue"/>
                <a:cs typeface="Helvetica Neue"/>
              </a:rPr>
              <a:t>Next: finish pending live evaluations, strengthen procedure invocation,</a:t>
            </a:r>
          </a:p>
          <a:p xmlns:a="http://schemas.openxmlformats.org/drawingml/2006/main">
            <a:pPr>
              <a:defRPr sz="1725" b="0">
                <a:solidFill>
                  <a:srgbClr val="657574"/>
                </a:solidFill>
                <a:latin typeface="Helvetica Neue"/>
                <a:ea typeface="Helvetica Neue"/>
                <a:cs typeface="Helvetica Neue"/>
              </a:defRPr>
            </a:pPr>
            <a:r>
              <a:rPr sz="1725" b="0">
                <a:solidFill>
                  <a:srgbClr val="657574"/>
                </a:solidFill>
                <a:latin typeface="Helvetica Neue"/>
                <a:ea typeface="Helvetica Neue"/>
                <a:cs typeface="Helvetica Neue"/>
              </a:rPr>
              <a:t>and validate real experiment exports with traceable provenance.</a:t>
            </a:r>
          </a:p>
        </p:txBody>
      </p:sp>
    </p:spTree>
    <p:extLst>
      <p:ext uri="{BB962C8B-B14F-4D97-AF65-F5344CB8AC3E}">
        <p14:creationId xmlns:p14="http://schemas.microsoft.com/office/powerpoint/2010/main" val="193894121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ns0:Properties xmlns:ns0="http://schemas.openxmlformats.org/officeDocument/2006/extended-properties">
  <ns0:Slides>6</ns0:Slides>
  <ns0:Notes>6</ns0:Notes>
  <ns0:HiddenSlides>0</ns0:HiddenSlides>
  <ns0:SharedDoc>false</ns0:SharedDoc>
  <ns0:DocSecurity>0</ns0:DocSecurity>
</ns0:Properties>
</file>

<file path=docProps/core.xml><?xml version="1.0" encoding="utf-8"?>
<ns0:coreProperties xmlns:dc="http://purl.org/dc/elements/1.1/" xmlns:ns0="http://schemas.openxmlformats.org/package/2006/metadata/core-properties" xmlns:ns2="http://purl.org/dc/terms/" xmlns:xsi="http://www.w3.org/2001/XMLSchema-instance">
  <dc:title>ModelCheck Capstone</dc:title>
  <ns2:created xsi:type="dcterms:W3CDTF">2026-10-28T15:33:53.1030000Z</ns2:created>
  <ns2:modified xsi:type="dcterms:W3CDTF">2026-10-28T15:33:53.1030000Z</ns2:modified>
</ns0:coreProperties>
</file>